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2D4_8A3E491D.xml" ContentType="application/vnd.ms-powerpoint.comments+xml"/>
  <Override PartName="/ppt/comments/modernComment_2D8_A342CAF4.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2" r:id="rId1"/>
  </p:sldMasterIdLst>
  <p:notesMasterIdLst>
    <p:notesMasterId r:id="rId35"/>
  </p:notesMasterIdLst>
  <p:handoutMasterIdLst>
    <p:handoutMasterId r:id="rId36"/>
  </p:handoutMasterIdLst>
  <p:sldIdLst>
    <p:sldId id="722" r:id="rId2"/>
    <p:sldId id="769" r:id="rId3"/>
    <p:sldId id="724" r:id="rId4"/>
    <p:sldId id="728" r:id="rId5"/>
    <p:sldId id="727" r:id="rId6"/>
    <p:sldId id="749" r:id="rId7"/>
    <p:sldId id="750" r:id="rId8"/>
    <p:sldId id="732" r:id="rId9"/>
    <p:sldId id="717" r:id="rId10"/>
    <p:sldId id="751" r:id="rId11"/>
    <p:sldId id="735" r:id="rId12"/>
    <p:sldId id="739" r:id="rId13"/>
    <p:sldId id="753" r:id="rId14"/>
    <p:sldId id="754" r:id="rId15"/>
    <p:sldId id="755" r:id="rId16"/>
    <p:sldId id="756" r:id="rId17"/>
    <p:sldId id="757" r:id="rId18"/>
    <p:sldId id="758" r:id="rId19"/>
    <p:sldId id="772" r:id="rId20"/>
    <p:sldId id="737" r:id="rId21"/>
    <p:sldId id="759" r:id="rId22"/>
    <p:sldId id="760" r:id="rId23"/>
    <p:sldId id="761" r:id="rId24"/>
    <p:sldId id="771" r:id="rId25"/>
    <p:sldId id="762" r:id="rId26"/>
    <p:sldId id="765" r:id="rId27"/>
    <p:sldId id="764" r:id="rId28"/>
    <p:sldId id="763" r:id="rId29"/>
    <p:sldId id="770" r:id="rId30"/>
    <p:sldId id="766" r:id="rId31"/>
    <p:sldId id="767" r:id="rId32"/>
    <p:sldId id="768" r:id="rId33"/>
    <p:sldId id="336" r:id="rId34"/>
  </p:sldIdLst>
  <p:sldSz cx="12192000" cy="6858000"/>
  <p:notesSz cx="6797675" cy="9874250"/>
  <p:defaultTextStyle>
    <a:defPPr>
      <a:defRPr lang="en-US"/>
    </a:defPPr>
    <a:lvl1pPr algn="l" rtl="0" fontAlgn="base">
      <a:spcBef>
        <a:spcPct val="0"/>
      </a:spcBef>
      <a:spcAft>
        <a:spcPct val="0"/>
      </a:spcAft>
      <a:defRPr sz="2000" kern="1200">
        <a:solidFill>
          <a:schemeClr val="tx1"/>
        </a:solidFill>
        <a:latin typeface="Tahoma" pitchFamily="34" charset="0"/>
        <a:ea typeface="+mn-ea"/>
        <a:cs typeface="+mn-cs"/>
      </a:defRPr>
    </a:lvl1pPr>
    <a:lvl2pPr marL="457200" algn="l" rtl="0" fontAlgn="base">
      <a:spcBef>
        <a:spcPct val="0"/>
      </a:spcBef>
      <a:spcAft>
        <a:spcPct val="0"/>
      </a:spcAft>
      <a:defRPr sz="2000" kern="1200">
        <a:solidFill>
          <a:schemeClr val="tx1"/>
        </a:solidFill>
        <a:latin typeface="Tahoma" pitchFamily="34" charset="0"/>
        <a:ea typeface="+mn-ea"/>
        <a:cs typeface="+mn-cs"/>
      </a:defRPr>
    </a:lvl2pPr>
    <a:lvl3pPr marL="914400" algn="l" rtl="0" fontAlgn="base">
      <a:spcBef>
        <a:spcPct val="0"/>
      </a:spcBef>
      <a:spcAft>
        <a:spcPct val="0"/>
      </a:spcAft>
      <a:defRPr sz="2000" kern="1200">
        <a:solidFill>
          <a:schemeClr val="tx1"/>
        </a:solidFill>
        <a:latin typeface="Tahoma" pitchFamily="34" charset="0"/>
        <a:ea typeface="+mn-ea"/>
        <a:cs typeface="+mn-cs"/>
      </a:defRPr>
    </a:lvl3pPr>
    <a:lvl4pPr marL="1371600" algn="l" rtl="0" fontAlgn="base">
      <a:spcBef>
        <a:spcPct val="0"/>
      </a:spcBef>
      <a:spcAft>
        <a:spcPct val="0"/>
      </a:spcAft>
      <a:defRPr sz="2000" kern="1200">
        <a:solidFill>
          <a:schemeClr val="tx1"/>
        </a:solidFill>
        <a:latin typeface="Tahoma" pitchFamily="34" charset="0"/>
        <a:ea typeface="+mn-ea"/>
        <a:cs typeface="+mn-cs"/>
      </a:defRPr>
    </a:lvl4pPr>
    <a:lvl5pPr marL="1828800" algn="l" rtl="0" fontAlgn="base">
      <a:spcBef>
        <a:spcPct val="0"/>
      </a:spcBef>
      <a:spcAft>
        <a:spcPct val="0"/>
      </a:spcAft>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521415D9-36F7-43E2-AB2F-B90AF26B5E84}">
      <p14:sectionLst xmlns:p14="http://schemas.microsoft.com/office/powerpoint/2010/main">
        <p14:section name="Abschnitt ohne Titel" id="{1C8B2578-E857-4DF0-BFF7-1D0B9FE658BF}">
          <p14:sldIdLst>
            <p14:sldId id="722"/>
            <p14:sldId id="769"/>
          </p14:sldIdLst>
        </p14:section>
        <p14:section name="Untitled Section" id="{377A85BB-AAC6-4254-9958-53A2CFC62293}">
          <p14:sldIdLst>
            <p14:sldId id="724"/>
            <p14:sldId id="728"/>
            <p14:sldId id="727"/>
            <p14:sldId id="749"/>
            <p14:sldId id="750"/>
            <p14:sldId id="732"/>
            <p14:sldId id="717"/>
            <p14:sldId id="751"/>
            <p14:sldId id="735"/>
            <p14:sldId id="739"/>
            <p14:sldId id="753"/>
            <p14:sldId id="754"/>
            <p14:sldId id="755"/>
            <p14:sldId id="756"/>
            <p14:sldId id="757"/>
            <p14:sldId id="758"/>
            <p14:sldId id="772"/>
            <p14:sldId id="737"/>
            <p14:sldId id="759"/>
            <p14:sldId id="760"/>
            <p14:sldId id="761"/>
            <p14:sldId id="771"/>
            <p14:sldId id="762"/>
            <p14:sldId id="765"/>
            <p14:sldId id="764"/>
            <p14:sldId id="763"/>
            <p14:sldId id="770"/>
            <p14:sldId id="766"/>
            <p14:sldId id="767"/>
            <p14:sldId id="768"/>
            <p14:sldId id="336"/>
          </p14:sldIdLst>
        </p14:section>
      </p14:sectionLst>
    </p:ext>
    <p:ext uri="{EFAFB233-063F-42B5-8137-9DF3F51BA10A}">
      <p15:sldGuideLst xmlns:p15="http://schemas.microsoft.com/office/powerpoint/2012/main">
        <p15:guide id="2" orient="horz" pos="504" userDrawn="1">
          <p15:clr>
            <a:srgbClr val="A4A3A4"/>
          </p15:clr>
        </p15:guide>
        <p15:guide id="4" orient="horz" pos="4110" userDrawn="1">
          <p15:clr>
            <a:srgbClr val="A4A3A4"/>
          </p15:clr>
        </p15:guide>
        <p15:guide id="5" pos="7265" userDrawn="1">
          <p15:clr>
            <a:srgbClr val="A4A3A4"/>
          </p15:clr>
        </p15:guide>
        <p15:guide id="6" pos="438" userDrawn="1">
          <p15:clr>
            <a:srgbClr val="A4A3A4"/>
          </p15:clr>
        </p15:guide>
        <p15:guide id="7" pos="3840" userDrawn="1">
          <p15:clr>
            <a:srgbClr val="A4A3A4"/>
          </p15:clr>
        </p15:guide>
        <p15:guide id="8" orient="horz"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B86659-AB40-4B22-DCDB-360C615EC16A}" name="MdSaidul Islam" initials="MI" userId="S::MdSaidul.Islam@unikielde.onmicrosoft.com::745016f3-b661-4edb-a74a-b4b29643d81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Ulrich Stephani" initials="" lastIdx="1" clrIdx="0"/>
  <p:cmAuthor id="1" name="Nils Lukat" initials="NL" lastIdx="1" clrIdx="1"/>
  <p:cmAuthor id="2" name="MariadelosAngeles DelaCruzGarcia" initials="MD" lastIdx="2" clrIdx="2">
    <p:extLst>
      <p:ext uri="{19B8F6BF-5375-455C-9EA6-DF929625EA0E}">
        <p15:presenceInfo xmlns:p15="http://schemas.microsoft.com/office/powerpoint/2012/main" userId="MariadelosAngeles DelaCruzGarcia" providerId="None"/>
      </p:ext>
    </p:extLst>
  </p:cmAuthor>
  <p:cmAuthor id="3" name="Angeles De la Cruz" initials="ADlC" lastIdx="3" clrIdx="3">
    <p:extLst>
      <p:ext uri="{19B8F6BF-5375-455C-9EA6-DF929625EA0E}">
        <p15:presenceInfo xmlns:p15="http://schemas.microsoft.com/office/powerpoint/2012/main" userId="ea49db2701292c2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EE7612"/>
    <a:srgbClr val="0508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2838BEF-8BB2-4498-84A7-C5851F593DF1}" styleName="Mittlere Formatvorlage 4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ittlere Formatvorlage 4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28" autoAdjust="0"/>
    <p:restoredTop sz="93883" autoAdjust="0"/>
  </p:normalViewPr>
  <p:slideViewPr>
    <p:cSldViewPr snapToGrid="0">
      <p:cViewPr varScale="1">
        <p:scale>
          <a:sx n="125" d="100"/>
          <a:sy n="125" d="100"/>
        </p:scale>
        <p:origin x="89" y="446"/>
      </p:cViewPr>
      <p:guideLst>
        <p:guide orient="horz" pos="504"/>
        <p:guide orient="horz" pos="4110"/>
        <p:guide pos="7265"/>
        <p:guide pos="438"/>
        <p:guide pos="3840"/>
        <p:guide orient="horz" pos="2818"/>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sz="1600" dirty="0"/>
              <a:t>Correlation (%)</a:t>
            </a:r>
            <a:r>
              <a:rPr lang="en-US" sz="1600" baseline="0" dirty="0"/>
              <a:t> Summary</a:t>
            </a:r>
            <a:endParaRPr lang="en-US" sz="1600" dirty="0"/>
          </a:p>
        </c:rich>
      </c:tx>
      <c:layout>
        <c:manualLayout>
          <c:xMode val="edge"/>
          <c:yMode val="edge"/>
          <c:x val="0.11726249219605431"/>
          <c:y val="7.9979145499832441E-2"/>
        </c:manualLayout>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3883289387593538E-2"/>
          <c:y val="0.17849032349665542"/>
          <c:w val="0.96562499999999996"/>
          <c:h val="0.76931116084453977"/>
        </c:manualLayout>
      </c:layout>
      <c:barChart>
        <c:barDir val="col"/>
        <c:grouping val="clustered"/>
        <c:varyColors val="0"/>
        <c:ser>
          <c:idx val="0"/>
          <c:order val="0"/>
          <c:tx>
            <c:strRef>
              <c:f>Sheet1!$B$1</c:f>
              <c:strCache>
                <c:ptCount val="1"/>
                <c:pt idx="0">
                  <c:v>Voltage</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3"/>
                <c:pt idx="0">
                  <c:v>SINDy</c:v>
                </c:pt>
                <c:pt idx="1">
                  <c:v>LSTM</c:v>
                </c:pt>
                <c:pt idx="2">
                  <c:v>MLP</c:v>
                </c:pt>
              </c:strCache>
            </c:strRef>
          </c:cat>
          <c:val>
            <c:numRef>
              <c:f>Sheet1!$B$2:$B$5</c:f>
              <c:numCache>
                <c:formatCode>General</c:formatCode>
                <c:ptCount val="4"/>
                <c:pt idx="0">
                  <c:v>99.1</c:v>
                </c:pt>
                <c:pt idx="1">
                  <c:v>99.89</c:v>
                </c:pt>
                <c:pt idx="2">
                  <c:v>99.85</c:v>
                </c:pt>
              </c:numCache>
            </c:numRef>
          </c:val>
          <c:extLst>
            <c:ext xmlns:c16="http://schemas.microsoft.com/office/drawing/2014/chart" uri="{C3380CC4-5D6E-409C-BE32-E72D297353CC}">
              <c16:uniqueId val="{00000000-457C-4CBE-BC08-FB78FA18EBB4}"/>
            </c:ext>
          </c:extLst>
        </c:ser>
        <c:ser>
          <c:idx val="1"/>
          <c:order val="1"/>
          <c:tx>
            <c:strRef>
              <c:f>Sheet1!$C$1</c:f>
              <c:strCache>
                <c:ptCount val="1"/>
                <c:pt idx="0">
                  <c:v>Voltage/time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3"/>
                <c:pt idx="0">
                  <c:v>SINDy</c:v>
                </c:pt>
                <c:pt idx="1">
                  <c:v>LSTM</c:v>
                </c:pt>
                <c:pt idx="2">
                  <c:v>MLP</c:v>
                </c:pt>
              </c:strCache>
            </c:strRef>
          </c:cat>
          <c:val>
            <c:numRef>
              <c:f>Sheet1!$C$2:$C$5</c:f>
              <c:numCache>
                <c:formatCode>General</c:formatCode>
                <c:ptCount val="4"/>
                <c:pt idx="0">
                  <c:v>98.6</c:v>
                </c:pt>
              </c:numCache>
            </c:numRef>
          </c:val>
          <c:extLst>
            <c:ext xmlns:c16="http://schemas.microsoft.com/office/drawing/2014/chart" uri="{C3380CC4-5D6E-409C-BE32-E72D297353CC}">
              <c16:uniqueId val="{00000001-457C-4CBE-BC08-FB78FA18EBB4}"/>
            </c:ext>
          </c:extLst>
        </c:ser>
        <c:ser>
          <c:idx val="2"/>
          <c:order val="2"/>
          <c:tx>
            <c:strRef>
              <c:f>Sheet1!$D$1</c:f>
              <c:strCache>
                <c:ptCount val="1"/>
                <c:pt idx="0">
                  <c:v>Displacement</c:v>
                </c:pt>
              </c:strCache>
            </c:strRef>
          </c:tx>
          <c:spPr>
            <a:solidFill>
              <a:srgbClr val="00B05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3"/>
                <c:pt idx="0">
                  <c:v>SINDy</c:v>
                </c:pt>
                <c:pt idx="1">
                  <c:v>LSTM</c:v>
                </c:pt>
                <c:pt idx="2">
                  <c:v>MLP</c:v>
                </c:pt>
              </c:strCache>
            </c:strRef>
          </c:cat>
          <c:val>
            <c:numRef>
              <c:f>Sheet1!$D$2:$D$5</c:f>
              <c:numCache>
                <c:formatCode>General</c:formatCode>
                <c:ptCount val="4"/>
                <c:pt idx="0">
                  <c:v>100</c:v>
                </c:pt>
                <c:pt idx="1">
                  <c:v>100</c:v>
                </c:pt>
                <c:pt idx="2">
                  <c:v>100</c:v>
                </c:pt>
              </c:numCache>
            </c:numRef>
          </c:val>
          <c:extLst>
            <c:ext xmlns:c16="http://schemas.microsoft.com/office/drawing/2014/chart" uri="{C3380CC4-5D6E-409C-BE32-E72D297353CC}">
              <c16:uniqueId val="{00000002-457C-4CBE-BC08-FB78FA18EBB4}"/>
            </c:ext>
          </c:extLst>
        </c:ser>
        <c:ser>
          <c:idx val="3"/>
          <c:order val="3"/>
          <c:tx>
            <c:strRef>
              <c:f>Sheet1!$E$1</c:f>
              <c:strCache>
                <c:ptCount val="1"/>
                <c:pt idx="0">
                  <c:v>Velocity</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3"/>
                <c:pt idx="0">
                  <c:v>SINDy</c:v>
                </c:pt>
                <c:pt idx="1">
                  <c:v>LSTM</c:v>
                </c:pt>
                <c:pt idx="2">
                  <c:v>MLP</c:v>
                </c:pt>
              </c:strCache>
            </c:strRef>
          </c:cat>
          <c:val>
            <c:numRef>
              <c:f>Sheet1!$E$2:$E$5</c:f>
              <c:numCache>
                <c:formatCode>General</c:formatCode>
                <c:ptCount val="4"/>
                <c:pt idx="0">
                  <c:v>100</c:v>
                </c:pt>
              </c:numCache>
            </c:numRef>
          </c:val>
          <c:extLst>
            <c:ext xmlns:c16="http://schemas.microsoft.com/office/drawing/2014/chart" uri="{C3380CC4-5D6E-409C-BE32-E72D297353CC}">
              <c16:uniqueId val="{00000003-457C-4CBE-BC08-FB78FA18EBB4}"/>
            </c:ext>
          </c:extLst>
        </c:ser>
        <c:dLbls>
          <c:dLblPos val="outEnd"/>
          <c:showLegendKey val="0"/>
          <c:showVal val="1"/>
          <c:showCatName val="0"/>
          <c:showSerName val="0"/>
          <c:showPercent val="0"/>
          <c:showBubbleSize val="0"/>
        </c:dLbls>
        <c:gapWidth val="444"/>
        <c:overlap val="-90"/>
        <c:axId val="1573466847"/>
        <c:axId val="401403855"/>
      </c:barChart>
      <c:catAx>
        <c:axId val="157346684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401403855"/>
        <c:crosses val="autoZero"/>
        <c:auto val="1"/>
        <c:lblAlgn val="ctr"/>
        <c:lblOffset val="100"/>
        <c:noMultiLvlLbl val="0"/>
      </c:catAx>
      <c:valAx>
        <c:axId val="401403855"/>
        <c:scaling>
          <c:orientation val="minMax"/>
        </c:scaling>
        <c:delete val="1"/>
        <c:axPos val="l"/>
        <c:numFmt formatCode="General" sourceLinked="1"/>
        <c:majorTickMark val="none"/>
        <c:minorTickMark val="none"/>
        <c:tickLblPos val="nextTo"/>
        <c:crossAx val="1573466847"/>
        <c:crosses val="autoZero"/>
        <c:crossBetween val="between"/>
      </c:valAx>
      <c:spPr>
        <a:noFill/>
        <a:ln>
          <a:noFill/>
        </a:ln>
        <a:effectLst/>
      </c:spPr>
    </c:plotArea>
    <c:legend>
      <c:legendPos val="t"/>
      <c:layout>
        <c:manualLayout>
          <c:xMode val="edge"/>
          <c:yMode val="edge"/>
          <c:x val="0.10243351642999245"/>
          <c:y val="0.13163849807905015"/>
          <c:w val="0.49794859262108587"/>
          <c:h val="4.6393247783064341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omments/modernComment_2D4_8A3E491D.xml><?xml version="1.0" encoding="utf-8"?>
<p188:cmLst xmlns:a="http://schemas.openxmlformats.org/drawingml/2006/main" xmlns:r="http://schemas.openxmlformats.org/officeDocument/2006/relationships" xmlns:p188="http://schemas.microsoft.com/office/powerpoint/2018/8/main">
  <p188:cm id="{C33DFF37-B858-4C63-A4C6-BA3510DAEC9F}" authorId="{23B86659-AB40-4B22-DCDB-360C615EC16A}" created="2023-04-04T20:45:01.678">
    <pc:sldMkLst xmlns:pc="http://schemas.microsoft.com/office/powerpoint/2013/main/command">
      <pc:docMk/>
      <pc:sldMk cId="2319337757" sldId="724"/>
    </pc:sldMkLst>
    <p188:txBody>
      <a:bodyPr/>
      <a:lstStyle/>
      <a:p>
        <a:r>
          <a:rPr lang="en-US"/>
          <a:t>(a) Relationship between multiferroic and magnetoelectric materials. Illustrates the requirements to achieve both in a material
Schematic illustrating different types of coupling present in materials. Much attention has been given to materials
where electric and magnetic order is coupled. These materials are known as magnetoelectric materials.
</a:t>
        </a:r>
      </a:p>
    </p188:txBody>
  </p188:cm>
</p188:cmLst>
</file>

<file path=ppt/comments/modernComment_2D8_A342CAF4.xml><?xml version="1.0" encoding="utf-8"?>
<p188:cmLst xmlns:a="http://schemas.openxmlformats.org/drawingml/2006/main" xmlns:r="http://schemas.openxmlformats.org/officeDocument/2006/relationships" xmlns:p188="http://schemas.microsoft.com/office/powerpoint/2018/8/main">
  <p188:cm id="{8A98E3CB-7CD9-4D5C-9484-E1E4CDCE41B0}" authorId="{23B86659-AB40-4B22-DCDB-360C615EC16A}" created="2023-04-04T20:57:38.801">
    <ac:txMkLst xmlns:ac="http://schemas.microsoft.com/office/drawing/2013/main/command">
      <pc:docMk xmlns:pc="http://schemas.microsoft.com/office/powerpoint/2013/main/command"/>
      <pc:sldMk xmlns:pc="http://schemas.microsoft.com/office/powerpoint/2013/main/command" cId="1303210954" sldId="728"/>
      <ac:spMk id="7" creationId="{2D8C39B9-2F6F-45EF-808C-F6DA9E4893E5}"/>
      <ac:txMk cp="80" len="34">
        <ac:context len="152" hash="2041135035"/>
      </ac:txMk>
    </ac:txMkLst>
    <p188:txBody>
      <a:bodyPr/>
      <a:lstStyle/>
      <a:p>
        <a:r>
          <a:rPr lang="en-US"/>
          <a:t>Direct: measure magnetic fields whose frequencies are at the resonance frequency of the sensor. The signal becomes directly amplified by the resonator. Beneficial for the applications where magnetic field frequencies can be chosen arbitrarily.
the change of the effective elastic properties with magnetization due to magnetoelastic coupling.  This is expressed via a change in resonance frequency as the magnetostrictive material either stiffens or softens mechanically. For this detuning, side bands from around the carrier frequency arises which then can couple into the resonance of the sensor.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1" y="1"/>
            <a:ext cx="2945659" cy="492364"/>
          </a:xfrm>
          <a:prstGeom prst="rect">
            <a:avLst/>
          </a:prstGeom>
          <a:noFill/>
          <a:ln w="9525">
            <a:noFill/>
            <a:miter lim="800000"/>
            <a:headEnd/>
            <a:tailEnd/>
          </a:ln>
        </p:spPr>
        <p:txBody>
          <a:bodyPr vert="horz" wrap="square" lIns="92301" tIns="46150" rIns="92301" bIns="46150" numCol="1" anchor="t" anchorCtr="0" compatLnSpc="1">
            <a:prstTxWarp prst="textNoShape">
              <a:avLst/>
            </a:prstTxWarp>
          </a:bodyPr>
          <a:lstStyle>
            <a:lvl1pPr defTabSz="923825" eaLnBrk="0" hangingPunct="0">
              <a:defRPr sz="1200">
                <a:latin typeface="Times New Roman" pitchFamily="18" charset="0"/>
              </a:defRPr>
            </a:lvl1pPr>
          </a:lstStyle>
          <a:p>
            <a:pPr>
              <a:defRPr/>
            </a:pPr>
            <a:endParaRPr lang="de-DE"/>
          </a:p>
        </p:txBody>
      </p:sp>
      <p:sp>
        <p:nvSpPr>
          <p:cNvPr id="98307" name="Rectangle 3"/>
          <p:cNvSpPr>
            <a:spLocks noGrp="1" noChangeArrowheads="1"/>
          </p:cNvSpPr>
          <p:nvPr>
            <p:ph type="dt" sz="quarter" idx="1"/>
          </p:nvPr>
        </p:nvSpPr>
        <p:spPr bwMode="auto">
          <a:xfrm>
            <a:off x="3852017" y="1"/>
            <a:ext cx="2945659" cy="492364"/>
          </a:xfrm>
          <a:prstGeom prst="rect">
            <a:avLst/>
          </a:prstGeom>
          <a:noFill/>
          <a:ln w="9525">
            <a:noFill/>
            <a:miter lim="800000"/>
            <a:headEnd/>
            <a:tailEnd/>
          </a:ln>
        </p:spPr>
        <p:txBody>
          <a:bodyPr vert="horz" wrap="square" lIns="92301" tIns="46150" rIns="92301" bIns="46150" numCol="1" anchor="t" anchorCtr="0" compatLnSpc="1">
            <a:prstTxWarp prst="textNoShape">
              <a:avLst/>
            </a:prstTxWarp>
          </a:bodyPr>
          <a:lstStyle>
            <a:lvl1pPr algn="r" defTabSz="923825" eaLnBrk="0" hangingPunct="0">
              <a:defRPr sz="1200">
                <a:latin typeface="Times New Roman" pitchFamily="18" charset="0"/>
              </a:defRPr>
            </a:lvl1pPr>
          </a:lstStyle>
          <a:p>
            <a:pPr>
              <a:defRPr/>
            </a:pPr>
            <a:endParaRPr lang="de-DE"/>
          </a:p>
        </p:txBody>
      </p:sp>
      <p:sp>
        <p:nvSpPr>
          <p:cNvPr id="98308" name="Rectangle 4"/>
          <p:cNvSpPr>
            <a:spLocks noGrp="1" noChangeArrowheads="1"/>
          </p:cNvSpPr>
          <p:nvPr>
            <p:ph type="ftr" sz="quarter" idx="2"/>
          </p:nvPr>
        </p:nvSpPr>
        <p:spPr bwMode="auto">
          <a:xfrm>
            <a:off x="1" y="9381886"/>
            <a:ext cx="2945659" cy="492364"/>
          </a:xfrm>
          <a:prstGeom prst="rect">
            <a:avLst/>
          </a:prstGeom>
          <a:noFill/>
          <a:ln w="9525">
            <a:noFill/>
            <a:miter lim="800000"/>
            <a:headEnd/>
            <a:tailEnd/>
          </a:ln>
        </p:spPr>
        <p:txBody>
          <a:bodyPr vert="horz" wrap="square" lIns="92301" tIns="46150" rIns="92301" bIns="46150" numCol="1" anchor="b" anchorCtr="0" compatLnSpc="1">
            <a:prstTxWarp prst="textNoShape">
              <a:avLst/>
            </a:prstTxWarp>
          </a:bodyPr>
          <a:lstStyle>
            <a:lvl1pPr defTabSz="923825" eaLnBrk="0" hangingPunct="0">
              <a:defRPr sz="1200">
                <a:latin typeface="Times New Roman" pitchFamily="18" charset="0"/>
              </a:defRPr>
            </a:lvl1pPr>
          </a:lstStyle>
          <a:p>
            <a:pPr>
              <a:defRPr/>
            </a:pPr>
            <a:endParaRPr lang="de-DE"/>
          </a:p>
        </p:txBody>
      </p:sp>
      <p:sp>
        <p:nvSpPr>
          <p:cNvPr id="98309" name="Rectangle 5"/>
          <p:cNvSpPr>
            <a:spLocks noGrp="1" noChangeArrowheads="1"/>
          </p:cNvSpPr>
          <p:nvPr>
            <p:ph type="sldNum" sz="quarter" idx="3"/>
          </p:nvPr>
        </p:nvSpPr>
        <p:spPr bwMode="auto">
          <a:xfrm>
            <a:off x="3852017" y="9381886"/>
            <a:ext cx="2945659" cy="492364"/>
          </a:xfrm>
          <a:prstGeom prst="rect">
            <a:avLst/>
          </a:prstGeom>
          <a:noFill/>
          <a:ln w="9525">
            <a:noFill/>
            <a:miter lim="800000"/>
            <a:headEnd/>
            <a:tailEnd/>
          </a:ln>
        </p:spPr>
        <p:txBody>
          <a:bodyPr vert="horz" wrap="square" lIns="92301" tIns="46150" rIns="92301" bIns="46150" numCol="1" anchor="b" anchorCtr="0" compatLnSpc="1">
            <a:prstTxWarp prst="textNoShape">
              <a:avLst/>
            </a:prstTxWarp>
          </a:bodyPr>
          <a:lstStyle>
            <a:lvl1pPr algn="r" defTabSz="923825" eaLnBrk="0" hangingPunct="0">
              <a:defRPr sz="1200">
                <a:latin typeface="Times New Roman" pitchFamily="18" charset="0"/>
              </a:defRPr>
            </a:lvl1pPr>
          </a:lstStyle>
          <a:p>
            <a:pPr>
              <a:defRPr/>
            </a:pPr>
            <a:fld id="{31A95965-A25C-4ACC-8927-137572265593}" type="slidenum">
              <a:rPr lang="de-DE"/>
              <a:pPr>
                <a:defRPr/>
              </a:pPr>
              <a:t>‹#›</a:t>
            </a:fld>
            <a:endParaRPr lang="de-DE"/>
          </a:p>
        </p:txBody>
      </p:sp>
    </p:spTree>
    <p:extLst>
      <p:ext uri="{BB962C8B-B14F-4D97-AF65-F5344CB8AC3E}">
        <p14:creationId xmlns:p14="http://schemas.microsoft.com/office/powerpoint/2010/main" val="22609659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1"/>
            <a:ext cx="2945659" cy="492364"/>
          </a:xfrm>
          <a:prstGeom prst="rect">
            <a:avLst/>
          </a:prstGeom>
          <a:noFill/>
          <a:ln w="9525">
            <a:noFill/>
            <a:miter lim="800000"/>
            <a:headEnd/>
            <a:tailEnd/>
          </a:ln>
        </p:spPr>
        <p:txBody>
          <a:bodyPr vert="horz" wrap="square" lIns="92301" tIns="46150" rIns="92301" bIns="46150" numCol="1" anchor="t" anchorCtr="0" compatLnSpc="1">
            <a:prstTxWarp prst="textNoShape">
              <a:avLst/>
            </a:prstTxWarp>
          </a:bodyPr>
          <a:lstStyle>
            <a:lvl1pPr defTabSz="923825" eaLnBrk="0" hangingPunct="0">
              <a:defRPr sz="1200">
                <a:latin typeface="Times New Roman" pitchFamily="18" charset="0"/>
              </a:defRPr>
            </a:lvl1pPr>
          </a:lstStyle>
          <a:p>
            <a:pPr>
              <a:defRPr/>
            </a:pPr>
            <a:endParaRPr lang="de-DE"/>
          </a:p>
        </p:txBody>
      </p:sp>
      <p:sp>
        <p:nvSpPr>
          <p:cNvPr id="5123" name="Rectangle 3"/>
          <p:cNvSpPr>
            <a:spLocks noGrp="1" noChangeArrowheads="1"/>
          </p:cNvSpPr>
          <p:nvPr>
            <p:ph type="dt" idx="1"/>
          </p:nvPr>
        </p:nvSpPr>
        <p:spPr bwMode="auto">
          <a:xfrm>
            <a:off x="3852017" y="1"/>
            <a:ext cx="2945659" cy="492364"/>
          </a:xfrm>
          <a:prstGeom prst="rect">
            <a:avLst/>
          </a:prstGeom>
          <a:noFill/>
          <a:ln w="9525">
            <a:noFill/>
            <a:miter lim="800000"/>
            <a:headEnd/>
            <a:tailEnd/>
          </a:ln>
        </p:spPr>
        <p:txBody>
          <a:bodyPr vert="horz" wrap="square" lIns="92301" tIns="46150" rIns="92301" bIns="46150" numCol="1" anchor="t" anchorCtr="0" compatLnSpc="1">
            <a:prstTxWarp prst="textNoShape">
              <a:avLst/>
            </a:prstTxWarp>
          </a:bodyPr>
          <a:lstStyle>
            <a:lvl1pPr algn="r" defTabSz="923825" eaLnBrk="0" hangingPunct="0">
              <a:defRPr sz="1200">
                <a:latin typeface="Times New Roman" pitchFamily="18" charset="0"/>
              </a:defRPr>
            </a:lvl1pPr>
          </a:lstStyle>
          <a:p>
            <a:pPr>
              <a:defRPr/>
            </a:pPr>
            <a:endParaRPr lang="de-DE"/>
          </a:p>
        </p:txBody>
      </p:sp>
      <p:sp>
        <p:nvSpPr>
          <p:cNvPr id="15364" name="Rectangle 4"/>
          <p:cNvSpPr>
            <a:spLocks noGrp="1" noRot="1" noChangeAspect="1" noChangeArrowheads="1" noTextEdit="1"/>
          </p:cNvSpPr>
          <p:nvPr>
            <p:ph type="sldImg" idx="2"/>
          </p:nvPr>
        </p:nvSpPr>
        <p:spPr bwMode="auto">
          <a:xfrm>
            <a:off x="107950" y="741363"/>
            <a:ext cx="6581775" cy="3703637"/>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06357" y="4690944"/>
            <a:ext cx="4984962" cy="4441389"/>
          </a:xfrm>
          <a:prstGeom prst="rect">
            <a:avLst/>
          </a:prstGeom>
          <a:noFill/>
          <a:ln w="9525">
            <a:noFill/>
            <a:miter lim="800000"/>
            <a:headEnd/>
            <a:tailEnd/>
          </a:ln>
        </p:spPr>
        <p:txBody>
          <a:bodyPr vert="horz" wrap="square" lIns="92301" tIns="46150" rIns="92301" bIns="46150"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5126" name="Rectangle 6"/>
          <p:cNvSpPr>
            <a:spLocks noGrp="1" noChangeArrowheads="1"/>
          </p:cNvSpPr>
          <p:nvPr>
            <p:ph type="ftr" sz="quarter" idx="4"/>
          </p:nvPr>
        </p:nvSpPr>
        <p:spPr bwMode="auto">
          <a:xfrm>
            <a:off x="1" y="9381886"/>
            <a:ext cx="2945659" cy="492364"/>
          </a:xfrm>
          <a:prstGeom prst="rect">
            <a:avLst/>
          </a:prstGeom>
          <a:noFill/>
          <a:ln w="9525">
            <a:noFill/>
            <a:miter lim="800000"/>
            <a:headEnd/>
            <a:tailEnd/>
          </a:ln>
        </p:spPr>
        <p:txBody>
          <a:bodyPr vert="horz" wrap="square" lIns="92301" tIns="46150" rIns="92301" bIns="46150" numCol="1" anchor="b" anchorCtr="0" compatLnSpc="1">
            <a:prstTxWarp prst="textNoShape">
              <a:avLst/>
            </a:prstTxWarp>
          </a:bodyPr>
          <a:lstStyle>
            <a:lvl1pPr defTabSz="923825" eaLnBrk="0" hangingPunct="0">
              <a:defRPr sz="1200">
                <a:latin typeface="Times New Roman" pitchFamily="18" charset="0"/>
              </a:defRPr>
            </a:lvl1pPr>
          </a:lstStyle>
          <a:p>
            <a:pPr>
              <a:defRPr/>
            </a:pPr>
            <a:endParaRPr lang="de-DE"/>
          </a:p>
        </p:txBody>
      </p:sp>
      <p:sp>
        <p:nvSpPr>
          <p:cNvPr id="5127" name="Rectangle 7"/>
          <p:cNvSpPr>
            <a:spLocks noGrp="1" noChangeArrowheads="1"/>
          </p:cNvSpPr>
          <p:nvPr>
            <p:ph type="sldNum" sz="quarter" idx="5"/>
          </p:nvPr>
        </p:nvSpPr>
        <p:spPr bwMode="auto">
          <a:xfrm>
            <a:off x="3852017" y="9381886"/>
            <a:ext cx="2945659" cy="492364"/>
          </a:xfrm>
          <a:prstGeom prst="rect">
            <a:avLst/>
          </a:prstGeom>
          <a:noFill/>
          <a:ln w="9525">
            <a:noFill/>
            <a:miter lim="800000"/>
            <a:headEnd/>
            <a:tailEnd/>
          </a:ln>
        </p:spPr>
        <p:txBody>
          <a:bodyPr vert="horz" wrap="square" lIns="92301" tIns="46150" rIns="92301" bIns="46150" numCol="1" anchor="b" anchorCtr="0" compatLnSpc="1">
            <a:prstTxWarp prst="textNoShape">
              <a:avLst/>
            </a:prstTxWarp>
          </a:bodyPr>
          <a:lstStyle>
            <a:lvl1pPr algn="r" defTabSz="923825" eaLnBrk="0" hangingPunct="0">
              <a:defRPr sz="1200">
                <a:latin typeface="Times New Roman" pitchFamily="18" charset="0"/>
              </a:defRPr>
            </a:lvl1pPr>
          </a:lstStyle>
          <a:p>
            <a:pPr>
              <a:defRPr/>
            </a:pPr>
            <a:fld id="{0633DD74-51D8-4D25-B662-ACFAF4B2C54A}" type="slidenum">
              <a:rPr lang="de-DE"/>
              <a:pPr>
                <a:defRPr/>
              </a:pPr>
              <a:t>‹#›</a:t>
            </a:fld>
            <a:endParaRPr lang="de-DE"/>
          </a:p>
        </p:txBody>
      </p:sp>
    </p:spTree>
    <p:extLst>
      <p:ext uri="{BB962C8B-B14F-4D97-AF65-F5344CB8AC3E}">
        <p14:creationId xmlns:p14="http://schemas.microsoft.com/office/powerpoint/2010/main" val="154484248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35" charset="0"/>
        <a:ea typeface="MS PGothic" pitchFamily="34" charset="-128"/>
        <a:cs typeface="MS PGothic"/>
      </a:defRPr>
    </a:lvl1pPr>
    <a:lvl2pPr marL="457200" algn="l" rtl="0" eaLnBrk="0" fontAlgn="base" hangingPunct="0">
      <a:spcBef>
        <a:spcPct val="30000"/>
      </a:spcBef>
      <a:spcAft>
        <a:spcPct val="0"/>
      </a:spcAft>
      <a:defRPr sz="1200" kern="1200">
        <a:solidFill>
          <a:schemeClr val="tx1"/>
        </a:solidFill>
        <a:latin typeface="Times New Roman" pitchFamily="35" charset="0"/>
        <a:ea typeface="MS PGothic" pitchFamily="34" charset="-128"/>
        <a:cs typeface="MS PGothic"/>
      </a:defRPr>
    </a:lvl2pPr>
    <a:lvl3pPr marL="914400" algn="l" rtl="0" eaLnBrk="0" fontAlgn="base" hangingPunct="0">
      <a:spcBef>
        <a:spcPct val="30000"/>
      </a:spcBef>
      <a:spcAft>
        <a:spcPct val="0"/>
      </a:spcAft>
      <a:defRPr sz="1200" kern="1200">
        <a:solidFill>
          <a:schemeClr val="tx1"/>
        </a:solidFill>
        <a:latin typeface="Times New Roman" pitchFamily="35" charset="0"/>
        <a:ea typeface="MS PGothic" pitchFamily="34" charset="-128"/>
        <a:cs typeface="MS PGothic"/>
      </a:defRPr>
    </a:lvl3pPr>
    <a:lvl4pPr marL="1371600" algn="l" rtl="0" eaLnBrk="0" fontAlgn="base" hangingPunct="0">
      <a:spcBef>
        <a:spcPct val="30000"/>
      </a:spcBef>
      <a:spcAft>
        <a:spcPct val="0"/>
      </a:spcAft>
      <a:defRPr sz="1200" kern="1200">
        <a:solidFill>
          <a:schemeClr val="tx1"/>
        </a:solidFill>
        <a:latin typeface="Times New Roman" pitchFamily="35" charset="0"/>
        <a:ea typeface="MS PGothic" pitchFamily="34" charset="-128"/>
        <a:cs typeface="MS PGothic"/>
      </a:defRPr>
    </a:lvl4pPr>
    <a:lvl5pPr marL="1828800" algn="l" rtl="0" eaLnBrk="0" fontAlgn="base" hangingPunct="0">
      <a:spcBef>
        <a:spcPct val="30000"/>
      </a:spcBef>
      <a:spcAft>
        <a:spcPct val="0"/>
      </a:spcAft>
      <a:defRPr sz="1200" kern="1200">
        <a:solidFill>
          <a:schemeClr val="tx1"/>
        </a:solidFill>
        <a:latin typeface="Times New Roman" pitchFamily="35" charset="0"/>
        <a:ea typeface="MS PGothic" pitchFamily="34" charset="-128"/>
        <a:cs typeface="MS PGothic"/>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771D451-7DEA-41BB-96F3-4B1C84397E6B}" type="slidenum">
              <a:rPr lang="en-US" smtClean="0"/>
              <a:t>33</a:t>
            </a:fld>
            <a:endParaRPr lang="en-US"/>
          </a:p>
        </p:txBody>
      </p:sp>
    </p:spTree>
    <p:extLst>
      <p:ext uri="{BB962C8B-B14F-4D97-AF65-F5344CB8AC3E}">
        <p14:creationId xmlns:p14="http://schemas.microsoft.com/office/powerpoint/2010/main" val="7478487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Rectangle 11"/>
          <p:cNvSpPr>
            <a:spLocks noChangeArrowheads="1"/>
          </p:cNvSpPr>
          <p:nvPr userDrawn="1"/>
        </p:nvSpPr>
        <p:spPr bwMode="auto">
          <a:xfrm>
            <a:off x="0" y="0"/>
            <a:ext cx="12192000" cy="1079500"/>
          </a:xfrm>
          <a:prstGeom prst="rect">
            <a:avLst/>
          </a:prstGeom>
          <a:solidFill>
            <a:srgbClr val="3C5A9A"/>
          </a:solidFill>
          <a:ln w="9525">
            <a:noFill/>
            <a:miter lim="800000"/>
            <a:headEnd/>
            <a:tailEnd/>
          </a:ln>
          <a:effectLst/>
        </p:spPr>
        <p:txBody>
          <a:bodyPr wrap="none" anchor="ctr"/>
          <a:lstStyle/>
          <a:p>
            <a:pPr eaLnBrk="0" hangingPunct="0">
              <a:defRPr/>
            </a:pPr>
            <a:endParaRPr lang="en-US" sz="2000">
              <a:latin typeface="Tahoma" pitchFamily="35" charset="0"/>
            </a:endParaRPr>
          </a:p>
        </p:txBody>
      </p:sp>
      <p:sp>
        <p:nvSpPr>
          <p:cNvPr id="5" name="Rectangle 15"/>
          <p:cNvSpPr>
            <a:spLocks noChangeArrowheads="1"/>
          </p:cNvSpPr>
          <p:nvPr userDrawn="1"/>
        </p:nvSpPr>
        <p:spPr bwMode="auto">
          <a:xfrm>
            <a:off x="-4233" y="1071563"/>
            <a:ext cx="12196233" cy="1079500"/>
          </a:xfrm>
          <a:prstGeom prst="rect">
            <a:avLst/>
          </a:prstGeom>
          <a:solidFill>
            <a:srgbClr val="999999"/>
          </a:solidFill>
          <a:ln w="9525">
            <a:noFill/>
            <a:miter lim="800000"/>
            <a:headEnd/>
            <a:tailEnd/>
          </a:ln>
          <a:effectLst/>
        </p:spPr>
        <p:txBody>
          <a:bodyPr wrap="none" anchor="ctr"/>
          <a:lstStyle/>
          <a:p>
            <a:pPr algn="l" eaLnBrk="0" hangingPunct="0">
              <a:defRPr/>
            </a:pPr>
            <a:endParaRPr lang="en-US" sz="2000" dirty="0">
              <a:latin typeface="Tahoma" pitchFamily="35" charset="0"/>
            </a:endParaRPr>
          </a:p>
        </p:txBody>
      </p:sp>
      <p:sp>
        <p:nvSpPr>
          <p:cNvPr id="10" name="Textfeld 9"/>
          <p:cNvSpPr txBox="1"/>
          <p:nvPr userDrawn="1"/>
        </p:nvSpPr>
        <p:spPr>
          <a:xfrm>
            <a:off x="3" y="335732"/>
            <a:ext cx="8776895" cy="461665"/>
          </a:xfrm>
          <a:prstGeom prst="rect">
            <a:avLst/>
          </a:prstGeom>
          <a:noFill/>
        </p:spPr>
        <p:txBody>
          <a:bodyPr wrap="square" rtlCol="0">
            <a:spAutoFit/>
          </a:bodyPr>
          <a:lstStyle/>
          <a:p>
            <a:pPr algn="ctr"/>
            <a:r>
              <a:rPr lang="de-DE" sz="2400" dirty="0">
                <a:solidFill>
                  <a:schemeClr val="bg1"/>
                </a:solidFill>
                <a:latin typeface="Arial" panose="020B0604020202020204" pitchFamily="34" charset="0"/>
                <a:cs typeface="Arial" panose="020B0604020202020204" pitchFamily="34" charset="0"/>
              </a:rPr>
              <a:t>Christian-Albrechts-Universität</a:t>
            </a:r>
            <a:r>
              <a:rPr lang="de-DE" sz="2400" baseline="0" dirty="0">
                <a:solidFill>
                  <a:schemeClr val="bg1"/>
                </a:solidFill>
                <a:latin typeface="Arial" panose="020B0604020202020204" pitchFamily="34" charset="0"/>
                <a:cs typeface="Arial" panose="020B0604020202020204" pitchFamily="34" charset="0"/>
              </a:rPr>
              <a:t> zu Kiel</a:t>
            </a:r>
            <a:endParaRPr lang="de-DE" sz="2400" dirty="0">
              <a:solidFill>
                <a:schemeClr val="bg1"/>
              </a:solidFill>
              <a:latin typeface="Arial" panose="020B0604020202020204" pitchFamily="34" charset="0"/>
              <a:cs typeface="Arial" panose="020B0604020202020204" pitchFamily="34" charset="0"/>
            </a:endParaRPr>
          </a:p>
        </p:txBody>
      </p:sp>
      <p:sp>
        <p:nvSpPr>
          <p:cNvPr id="12" name="Textplatzhalter 11"/>
          <p:cNvSpPr>
            <a:spLocks noGrp="1"/>
          </p:cNvSpPr>
          <p:nvPr>
            <p:ph type="body" sz="quarter" idx="10"/>
          </p:nvPr>
        </p:nvSpPr>
        <p:spPr>
          <a:xfrm>
            <a:off x="99488" y="1189043"/>
            <a:ext cx="11993033" cy="833437"/>
          </a:xfrm>
        </p:spPr>
        <p:txBody>
          <a:bodyPr/>
          <a:lstStyle>
            <a:lvl1pPr algn="l">
              <a:defRPr sz="2400">
                <a:solidFill>
                  <a:schemeClr val="bg1"/>
                </a:solidFill>
                <a:latin typeface="Arial" panose="020B0604020202020204" pitchFamily="34" charset="0"/>
                <a:cs typeface="Arial" panose="020B0604020202020204" pitchFamily="34" charset="0"/>
              </a:defRPr>
            </a:lvl1pPr>
          </a:lstStyle>
          <a:p>
            <a:pPr lvl="0"/>
            <a:r>
              <a:rPr lang="de-DE" dirty="0"/>
              <a:t>Textmasterformat bearbeiten</a:t>
            </a:r>
          </a:p>
        </p:txBody>
      </p:sp>
      <p:sp>
        <p:nvSpPr>
          <p:cNvPr id="14" name="Textplatzhalter 13"/>
          <p:cNvSpPr>
            <a:spLocks noGrp="1"/>
          </p:cNvSpPr>
          <p:nvPr>
            <p:ph type="body" sz="quarter" idx="11"/>
          </p:nvPr>
        </p:nvSpPr>
        <p:spPr>
          <a:xfrm>
            <a:off x="99488" y="2173370"/>
            <a:ext cx="11993033" cy="1373187"/>
          </a:xfrm>
        </p:spPr>
        <p:txBody>
          <a:bodyPr/>
          <a:lstStyle/>
          <a:p>
            <a:pPr lvl="0"/>
            <a:r>
              <a:rPr lang="de-DE" dirty="0"/>
              <a:t>Textmasterformat bearbeiten</a:t>
            </a:r>
          </a:p>
        </p:txBody>
      </p:sp>
      <p:grpSp>
        <p:nvGrpSpPr>
          <p:cNvPr id="13" name="Gruppieren 12"/>
          <p:cNvGrpSpPr/>
          <p:nvPr userDrawn="1"/>
        </p:nvGrpSpPr>
        <p:grpSpPr>
          <a:xfrm>
            <a:off x="6878064" y="3059944"/>
            <a:ext cx="4964113" cy="3839856"/>
            <a:chOff x="4000502" y="3068638"/>
            <a:chExt cx="4964113" cy="3839856"/>
          </a:xfrm>
        </p:grpSpPr>
        <p:pic>
          <p:nvPicPr>
            <p:cNvPr id="15" name="Picture 12" descr="tine400a-75"/>
            <p:cNvPicPr>
              <a:picLocks noChangeAspect="1" noChangeArrowheads="1"/>
            </p:cNvPicPr>
            <p:nvPr userDrawn="1"/>
          </p:nvPicPr>
          <p:blipFill>
            <a:blip r:embed="rId2"/>
            <a:srcRect/>
            <a:stretch>
              <a:fillRect/>
            </a:stretch>
          </p:blipFill>
          <p:spPr bwMode="auto">
            <a:xfrm>
              <a:off x="4011613" y="3068638"/>
              <a:ext cx="4953000" cy="3802062"/>
            </a:xfrm>
            <a:prstGeom prst="rect">
              <a:avLst/>
            </a:prstGeom>
            <a:noFill/>
            <a:ln w="9525">
              <a:noFill/>
              <a:miter lim="800000"/>
              <a:headEnd/>
              <a:tailEnd/>
            </a:ln>
          </p:spPr>
        </p:pic>
        <p:sp>
          <p:nvSpPr>
            <p:cNvPr id="16" name="Rechteck 15"/>
            <p:cNvSpPr/>
            <p:nvPr userDrawn="1"/>
          </p:nvSpPr>
          <p:spPr bwMode="auto">
            <a:xfrm>
              <a:off x="4000502" y="3120265"/>
              <a:ext cx="4964113" cy="3788229"/>
            </a:xfrm>
            <a:prstGeom prst="rect">
              <a:avLst/>
            </a:prstGeom>
            <a:solidFill>
              <a:schemeClr val="bg1">
                <a:alpha val="54000"/>
              </a:schemeClr>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5" charset="0"/>
              </a:endParaRPr>
            </a:p>
          </p:txBody>
        </p:sp>
      </p:grpSp>
      <p:pic>
        <p:nvPicPr>
          <p:cNvPr id="8" name="Grafik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528075" y="103405"/>
            <a:ext cx="3224343" cy="831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accel="50000" decel="50000" fill="hold" nodeType="withEffect">
                                  <p:stCondLst>
                                    <p:cond delay="0"/>
                                  </p:stCondLst>
                                  <p:childTnLst>
                                    <p:animMotion origin="layout" path="M -0.03008 0.0669 C -0.01693 0.0669 -0.00573 0.07546 -0.00573 0.08634 C -0.00573 0.09722 -0.01693 0.10648 -0.03008 0.10648 C -0.04336 0.10648 -0.05365 0.09722 -0.05365 0.08634 C -0.05365 0.07546 -0.04336 0.0669 -0.03008 0.0669 Z " pathEditMode="relative" rAng="0" ptsTypes="AAAAA">
                                      <p:cBhvr>
                                        <p:cTn id="6" dur="40000" fill="hold"/>
                                        <p:tgtEl>
                                          <p:spTgt spid="13"/>
                                        </p:tgtEl>
                                        <p:attrNameLst>
                                          <p:attrName>ppt_x</p:attrName>
                                          <p:attrName>ppt_y</p:attrName>
                                        </p:attrNameLst>
                                      </p:cBhvr>
                                      <p:rCtr x="39" y="196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Mastertitelformat bearbeiten</a:t>
            </a:r>
            <a:endParaRPr lang="en-US" dirty="0"/>
          </a:p>
        </p:txBody>
      </p:sp>
      <p:sp>
        <p:nvSpPr>
          <p:cNvPr id="3" name="Inhaltsplatzhalter 2"/>
          <p:cNvSpPr>
            <a:spLocks noGrp="1"/>
          </p:cNvSpPr>
          <p:nvPr>
            <p:ph idx="1"/>
          </p:nvPr>
        </p:nvSpPr>
        <p:spPr/>
        <p:txBody>
          <a:bodyPr/>
          <a:lstStyle>
            <a:lvl1pPr>
              <a:defRPr sz="1800"/>
            </a:lvl1pPr>
            <a:lvl2pPr>
              <a:defRPr sz="1800"/>
            </a:lvl2pPr>
            <a:lvl3pPr>
              <a:defRPr sz="1800"/>
            </a:lvl3pPr>
            <a:lvl4pPr>
              <a:defRPr sz="1800"/>
            </a:lvl4pPr>
            <a:lvl5pPr>
              <a:defRPr sz="18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Rectangle 29"/>
          <p:cNvSpPr>
            <a:spLocks noGrp="1" noChangeArrowheads="1"/>
          </p:cNvSpPr>
          <p:nvPr>
            <p:ph type="ftr" sz="quarter" idx="10"/>
          </p:nvPr>
        </p:nvSpPr>
        <p:spPr>
          <a:ln/>
        </p:spPr>
        <p:txBody>
          <a:bodyPr/>
          <a:lstStyle>
            <a:lvl1pPr>
              <a:defRPr/>
            </a:lvl1pPr>
          </a:lstStyle>
          <a:p>
            <a:endParaRPr lang="en-US"/>
          </a:p>
        </p:txBody>
      </p:sp>
      <p:sp>
        <p:nvSpPr>
          <p:cNvPr id="5" name="Rectangle 30"/>
          <p:cNvSpPr>
            <a:spLocks noGrp="1" noChangeArrowheads="1"/>
          </p:cNvSpPr>
          <p:nvPr>
            <p:ph type="sldNum" sz="quarter" idx="11"/>
          </p:nvPr>
        </p:nvSpPr>
        <p:spPr>
          <a:ln/>
        </p:spPr>
        <p:txBody>
          <a:bodyPr/>
          <a:lstStyle>
            <a:lvl1pPr>
              <a:defRPr/>
            </a:lvl1pPr>
          </a:lstStyle>
          <a:p>
            <a:pPr>
              <a:defRPr/>
            </a:pPr>
            <a:fld id="{A5688BE1-D60F-4485-A647-B991092B43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5"/>
            <a:ext cx="10363200" cy="1362075"/>
          </a:xfrm>
        </p:spPr>
        <p:txBody>
          <a:bodyPr anchor="t"/>
          <a:lstStyle>
            <a:lvl1pPr algn="l">
              <a:defRPr sz="4000" b="1" cap="all"/>
            </a:lvl1pPr>
          </a:lstStyle>
          <a:p>
            <a:r>
              <a:rPr lang="de-DE"/>
              <a:t>Mastertitelformat bearbeiten</a:t>
            </a:r>
            <a:endParaRPr lang="en-US"/>
          </a:p>
        </p:txBody>
      </p:sp>
      <p:sp>
        <p:nvSpPr>
          <p:cNvPr id="3" name="Textplatzhalt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dirty="0"/>
              <a:t>Mastertextformat bearbeiten</a:t>
            </a:r>
          </a:p>
        </p:txBody>
      </p:sp>
      <p:sp>
        <p:nvSpPr>
          <p:cNvPr id="4" name="Rectangle 29"/>
          <p:cNvSpPr>
            <a:spLocks noGrp="1" noChangeArrowheads="1"/>
          </p:cNvSpPr>
          <p:nvPr>
            <p:ph type="ftr" sz="quarter" idx="10"/>
          </p:nvPr>
        </p:nvSpPr>
        <p:spPr>
          <a:ln/>
        </p:spPr>
        <p:txBody>
          <a:bodyPr/>
          <a:lstStyle>
            <a:lvl1pPr>
              <a:defRPr/>
            </a:lvl1pPr>
          </a:lstStyle>
          <a:p>
            <a:endParaRPr lang="en-US"/>
          </a:p>
        </p:txBody>
      </p:sp>
      <p:sp>
        <p:nvSpPr>
          <p:cNvPr id="5" name="Rectangle 30"/>
          <p:cNvSpPr>
            <a:spLocks noGrp="1" noChangeArrowheads="1"/>
          </p:cNvSpPr>
          <p:nvPr>
            <p:ph type="sldNum" sz="quarter" idx="11"/>
          </p:nvPr>
        </p:nvSpPr>
        <p:spPr>
          <a:ln/>
        </p:spPr>
        <p:txBody>
          <a:bodyPr/>
          <a:lstStyle>
            <a:lvl1pPr>
              <a:defRPr/>
            </a:lvl1pPr>
          </a:lstStyle>
          <a:p>
            <a:pPr>
              <a:defRPr/>
            </a:pPr>
            <a:fld id="{29E30139-16F5-4682-A293-CA9CBDAD745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en-US"/>
          </a:p>
        </p:txBody>
      </p:sp>
      <p:sp>
        <p:nvSpPr>
          <p:cNvPr id="3" name="Inhaltsplatzhalter 2"/>
          <p:cNvSpPr>
            <a:spLocks noGrp="1"/>
          </p:cNvSpPr>
          <p:nvPr>
            <p:ph sz="half" idx="1"/>
          </p:nvPr>
        </p:nvSpPr>
        <p:spPr>
          <a:xfrm>
            <a:off x="0" y="677863"/>
            <a:ext cx="5994400" cy="5846762"/>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Inhaltsplatzhalter 3"/>
          <p:cNvSpPr>
            <a:spLocks noGrp="1"/>
          </p:cNvSpPr>
          <p:nvPr>
            <p:ph sz="half" idx="2"/>
          </p:nvPr>
        </p:nvSpPr>
        <p:spPr>
          <a:xfrm>
            <a:off x="6197600" y="677863"/>
            <a:ext cx="5994400" cy="5846762"/>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Rectangle 29"/>
          <p:cNvSpPr>
            <a:spLocks noGrp="1" noChangeArrowheads="1"/>
          </p:cNvSpPr>
          <p:nvPr>
            <p:ph type="ftr" sz="quarter" idx="10"/>
          </p:nvPr>
        </p:nvSpPr>
        <p:spPr>
          <a:ln/>
        </p:spPr>
        <p:txBody>
          <a:bodyPr/>
          <a:lstStyle>
            <a:lvl1pPr>
              <a:defRPr/>
            </a:lvl1pPr>
          </a:lstStyle>
          <a:p>
            <a:endParaRPr lang="en-US"/>
          </a:p>
        </p:txBody>
      </p:sp>
      <p:sp>
        <p:nvSpPr>
          <p:cNvPr id="6" name="Rectangle 30"/>
          <p:cNvSpPr>
            <a:spLocks noGrp="1" noChangeArrowheads="1"/>
          </p:cNvSpPr>
          <p:nvPr>
            <p:ph type="sldNum" sz="quarter" idx="11"/>
          </p:nvPr>
        </p:nvSpPr>
        <p:spPr>
          <a:ln/>
        </p:spPr>
        <p:txBody>
          <a:bodyPr/>
          <a:lstStyle>
            <a:lvl1pPr>
              <a:defRPr/>
            </a:lvl1pPr>
          </a:lstStyle>
          <a:p>
            <a:pPr>
              <a:defRPr/>
            </a:pPr>
            <a:fld id="{C801FC23-F330-4F59-9E68-5F49F23668E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09600" y="274638"/>
            <a:ext cx="10972800" cy="1143000"/>
          </a:xfrm>
        </p:spPr>
        <p:txBody>
          <a:bodyPr/>
          <a:lstStyle>
            <a:lvl1pPr>
              <a:defRPr/>
            </a:lvl1pPr>
          </a:lstStyle>
          <a:p>
            <a:r>
              <a:rPr lang="de-DE"/>
              <a:t>Mastertitelformat bearbeiten</a:t>
            </a:r>
            <a:endParaRPr lang="en-US"/>
          </a:p>
        </p:txBody>
      </p:sp>
      <p:sp>
        <p:nvSpPr>
          <p:cNvPr id="3" name="Textplatzhalt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4" name="Inhaltsplatzhalt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Rectangle 29"/>
          <p:cNvSpPr>
            <a:spLocks noGrp="1" noChangeArrowheads="1"/>
          </p:cNvSpPr>
          <p:nvPr>
            <p:ph type="ftr" sz="quarter" idx="10"/>
          </p:nvPr>
        </p:nvSpPr>
        <p:spPr>
          <a:ln/>
        </p:spPr>
        <p:txBody>
          <a:bodyPr/>
          <a:lstStyle>
            <a:lvl1pPr>
              <a:defRPr/>
            </a:lvl1pPr>
          </a:lstStyle>
          <a:p>
            <a:endParaRPr lang="en-US"/>
          </a:p>
        </p:txBody>
      </p:sp>
      <p:sp>
        <p:nvSpPr>
          <p:cNvPr id="8" name="Rectangle 30"/>
          <p:cNvSpPr>
            <a:spLocks noGrp="1" noChangeArrowheads="1"/>
          </p:cNvSpPr>
          <p:nvPr>
            <p:ph type="sldNum" sz="quarter" idx="11"/>
          </p:nvPr>
        </p:nvSpPr>
        <p:spPr>
          <a:ln/>
        </p:spPr>
        <p:txBody>
          <a:bodyPr/>
          <a:lstStyle>
            <a:lvl1pPr>
              <a:defRPr/>
            </a:lvl1pPr>
          </a:lstStyle>
          <a:p>
            <a:pPr>
              <a:defRPr/>
            </a:pPr>
            <a:fld id="{88854AAB-03A3-4C7F-AEE4-14235F65599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en-US"/>
          </a:p>
        </p:txBody>
      </p:sp>
      <p:sp>
        <p:nvSpPr>
          <p:cNvPr id="3" name="Rectangle 29"/>
          <p:cNvSpPr>
            <a:spLocks noGrp="1" noChangeArrowheads="1"/>
          </p:cNvSpPr>
          <p:nvPr>
            <p:ph type="ftr" sz="quarter" idx="10"/>
          </p:nvPr>
        </p:nvSpPr>
        <p:spPr>
          <a:ln/>
        </p:spPr>
        <p:txBody>
          <a:bodyPr/>
          <a:lstStyle>
            <a:lvl1pPr>
              <a:defRPr/>
            </a:lvl1pPr>
          </a:lstStyle>
          <a:p>
            <a:endParaRPr lang="en-US"/>
          </a:p>
        </p:txBody>
      </p:sp>
      <p:sp>
        <p:nvSpPr>
          <p:cNvPr id="4" name="Rectangle 30"/>
          <p:cNvSpPr>
            <a:spLocks noGrp="1" noChangeArrowheads="1"/>
          </p:cNvSpPr>
          <p:nvPr>
            <p:ph type="sldNum" sz="quarter" idx="11"/>
          </p:nvPr>
        </p:nvSpPr>
        <p:spPr>
          <a:ln/>
        </p:spPr>
        <p:txBody>
          <a:bodyPr/>
          <a:lstStyle>
            <a:lvl1pPr>
              <a:defRPr/>
            </a:lvl1pPr>
          </a:lstStyle>
          <a:p>
            <a:pPr>
              <a:defRPr/>
            </a:pPr>
            <a:fld id="{200D24AF-8A01-4892-BC58-9A1596747B6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Rectangle 29"/>
          <p:cNvSpPr>
            <a:spLocks noGrp="1" noChangeArrowheads="1"/>
          </p:cNvSpPr>
          <p:nvPr>
            <p:ph type="ftr" sz="quarter" idx="10"/>
          </p:nvPr>
        </p:nvSpPr>
        <p:spPr>
          <a:ln/>
        </p:spPr>
        <p:txBody>
          <a:bodyPr/>
          <a:lstStyle>
            <a:lvl1pPr>
              <a:defRPr/>
            </a:lvl1pPr>
          </a:lstStyle>
          <a:p>
            <a:endParaRPr lang="en-US"/>
          </a:p>
        </p:txBody>
      </p:sp>
      <p:sp>
        <p:nvSpPr>
          <p:cNvPr id="3" name="Rectangle 30"/>
          <p:cNvSpPr>
            <a:spLocks noGrp="1" noChangeArrowheads="1"/>
          </p:cNvSpPr>
          <p:nvPr>
            <p:ph type="sldNum" sz="quarter" idx="11"/>
          </p:nvPr>
        </p:nvSpPr>
        <p:spPr>
          <a:ln/>
        </p:spPr>
        <p:txBody>
          <a:bodyPr/>
          <a:lstStyle>
            <a:lvl1pPr>
              <a:defRPr/>
            </a:lvl1pPr>
          </a:lstStyle>
          <a:p>
            <a:pPr>
              <a:defRPr/>
            </a:pPr>
            <a:fld id="{D05320F0-FA3B-4108-9092-9E7A337270C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609603" y="273050"/>
            <a:ext cx="4011084" cy="1162050"/>
          </a:xfrm>
        </p:spPr>
        <p:txBody>
          <a:bodyPr anchor="b"/>
          <a:lstStyle>
            <a:lvl1pPr algn="l">
              <a:defRPr sz="2000" b="1"/>
            </a:lvl1pPr>
          </a:lstStyle>
          <a:p>
            <a:r>
              <a:rPr lang="de-DE"/>
              <a:t>Mastertitelformat bearbeiten</a:t>
            </a:r>
            <a:endParaRPr lang="en-US"/>
          </a:p>
        </p:txBody>
      </p:sp>
      <p:sp>
        <p:nvSpPr>
          <p:cNvPr id="3" name="Inhaltsplatzhalt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29"/>
          <p:cNvSpPr>
            <a:spLocks noGrp="1" noChangeArrowheads="1"/>
          </p:cNvSpPr>
          <p:nvPr>
            <p:ph type="ftr" sz="quarter" idx="10"/>
          </p:nvPr>
        </p:nvSpPr>
        <p:spPr>
          <a:ln/>
        </p:spPr>
        <p:txBody>
          <a:bodyPr/>
          <a:lstStyle>
            <a:lvl1pPr>
              <a:defRPr/>
            </a:lvl1pPr>
          </a:lstStyle>
          <a:p>
            <a:endParaRPr lang="en-US"/>
          </a:p>
        </p:txBody>
      </p:sp>
      <p:sp>
        <p:nvSpPr>
          <p:cNvPr id="6" name="Rectangle 30"/>
          <p:cNvSpPr>
            <a:spLocks noGrp="1" noChangeArrowheads="1"/>
          </p:cNvSpPr>
          <p:nvPr>
            <p:ph type="sldNum" sz="quarter" idx="11"/>
          </p:nvPr>
        </p:nvSpPr>
        <p:spPr>
          <a:ln/>
        </p:spPr>
        <p:txBody>
          <a:bodyPr/>
          <a:lstStyle>
            <a:lvl1pPr>
              <a:defRPr/>
            </a:lvl1pPr>
          </a:lstStyle>
          <a:p>
            <a:pPr>
              <a:defRPr/>
            </a:pPr>
            <a:fld id="{77538D25-4517-4CFD-84FF-6AFE122AE447}"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nchor="b"/>
          <a:lstStyle>
            <a:lvl1pPr algn="l">
              <a:defRPr sz="2000" b="1"/>
            </a:lvl1pPr>
          </a:lstStyle>
          <a:p>
            <a:r>
              <a:rPr lang="de-DE"/>
              <a:t>Mastertitelformat bearbeiten</a:t>
            </a:r>
            <a:endParaRPr lang="en-US"/>
          </a:p>
        </p:txBody>
      </p:sp>
      <p:sp>
        <p:nvSpPr>
          <p:cNvPr id="3" name="Bildplatzhalt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platzhalt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29"/>
          <p:cNvSpPr>
            <a:spLocks noGrp="1" noChangeArrowheads="1"/>
          </p:cNvSpPr>
          <p:nvPr>
            <p:ph type="ftr" sz="quarter" idx="10"/>
          </p:nvPr>
        </p:nvSpPr>
        <p:spPr>
          <a:ln/>
        </p:spPr>
        <p:txBody>
          <a:bodyPr/>
          <a:lstStyle>
            <a:lvl1pPr>
              <a:defRPr/>
            </a:lvl1pPr>
          </a:lstStyle>
          <a:p>
            <a:endParaRPr lang="en-US"/>
          </a:p>
        </p:txBody>
      </p:sp>
      <p:sp>
        <p:nvSpPr>
          <p:cNvPr id="6" name="Rectangle 30"/>
          <p:cNvSpPr>
            <a:spLocks noGrp="1" noChangeArrowheads="1"/>
          </p:cNvSpPr>
          <p:nvPr>
            <p:ph type="sldNum" sz="quarter" idx="11"/>
          </p:nvPr>
        </p:nvSpPr>
        <p:spPr>
          <a:ln/>
        </p:spPr>
        <p:txBody>
          <a:bodyPr/>
          <a:lstStyle>
            <a:lvl1pPr>
              <a:defRPr/>
            </a:lvl1pPr>
          </a:lstStyle>
          <a:p>
            <a:pPr>
              <a:defRPr/>
            </a:pPr>
            <a:fld id="{534C37D1-8429-46D0-9072-AA4DD6E12D6A}"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Rectangle 29"/>
          <p:cNvSpPr>
            <a:spLocks noGrp="1" noChangeArrowheads="1"/>
          </p:cNvSpPr>
          <p:nvPr>
            <p:ph type="ftr" sz="quarter" idx="10"/>
          </p:nvPr>
        </p:nvSpPr>
        <p:spPr>
          <a:ln/>
        </p:spPr>
        <p:txBody>
          <a:bodyPr/>
          <a:lstStyle>
            <a:lvl1pPr>
              <a:defRPr/>
            </a:lvl1pPr>
          </a:lstStyle>
          <a:p>
            <a:endParaRPr lang="en-US"/>
          </a:p>
        </p:txBody>
      </p:sp>
      <p:sp>
        <p:nvSpPr>
          <p:cNvPr id="5" name="Rectangle 30"/>
          <p:cNvSpPr>
            <a:spLocks noGrp="1" noChangeArrowheads="1"/>
          </p:cNvSpPr>
          <p:nvPr>
            <p:ph type="sldNum" sz="quarter" idx="11"/>
          </p:nvPr>
        </p:nvSpPr>
        <p:spPr>
          <a:ln/>
        </p:spPr>
        <p:txBody>
          <a:bodyPr/>
          <a:lstStyle>
            <a:lvl1pPr>
              <a:defRPr/>
            </a:lvl1pPr>
          </a:lstStyle>
          <a:p>
            <a:pPr>
              <a:defRPr/>
            </a:pPr>
            <a:fld id="{028B577E-A628-402D-B1C0-1A1AB13124C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9144000" y="5"/>
            <a:ext cx="3048000" cy="6524625"/>
          </a:xfrm>
        </p:spPr>
        <p:txBody>
          <a:bodyPr vert="eaVert"/>
          <a:lstStyle/>
          <a:p>
            <a:r>
              <a:rPr lang="de-DE"/>
              <a:t>Mastertitelformat bearbeiten</a:t>
            </a:r>
            <a:endParaRPr lang="en-US"/>
          </a:p>
        </p:txBody>
      </p:sp>
      <p:sp>
        <p:nvSpPr>
          <p:cNvPr id="3" name="Vertikaler Textplatzhalter 2"/>
          <p:cNvSpPr>
            <a:spLocks noGrp="1"/>
          </p:cNvSpPr>
          <p:nvPr>
            <p:ph type="body" orient="vert" idx="1"/>
          </p:nvPr>
        </p:nvSpPr>
        <p:spPr>
          <a:xfrm>
            <a:off x="0" y="5"/>
            <a:ext cx="8940800" cy="652462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Rectangle 29"/>
          <p:cNvSpPr>
            <a:spLocks noGrp="1" noChangeArrowheads="1"/>
          </p:cNvSpPr>
          <p:nvPr>
            <p:ph type="ftr" sz="quarter" idx="10"/>
          </p:nvPr>
        </p:nvSpPr>
        <p:spPr>
          <a:ln/>
        </p:spPr>
        <p:txBody>
          <a:bodyPr/>
          <a:lstStyle>
            <a:lvl1pPr>
              <a:defRPr/>
            </a:lvl1pPr>
          </a:lstStyle>
          <a:p>
            <a:endParaRPr lang="en-US"/>
          </a:p>
        </p:txBody>
      </p:sp>
      <p:sp>
        <p:nvSpPr>
          <p:cNvPr id="5" name="Rectangle 30"/>
          <p:cNvSpPr>
            <a:spLocks noGrp="1" noChangeArrowheads="1"/>
          </p:cNvSpPr>
          <p:nvPr>
            <p:ph type="sldNum" sz="quarter" idx="11"/>
          </p:nvPr>
        </p:nvSpPr>
        <p:spPr>
          <a:ln/>
        </p:spPr>
        <p:txBody>
          <a:bodyPr/>
          <a:lstStyle>
            <a:lvl1pPr>
              <a:defRPr/>
            </a:lvl1pPr>
          </a:lstStyle>
          <a:p>
            <a:pPr>
              <a:defRPr/>
            </a:pPr>
            <a:fld id="{64964CAC-9011-4446-AD96-3C33492057F8}"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 y="5"/>
            <a:ext cx="10223500" cy="677863"/>
          </a:xfrm>
        </p:spPr>
        <p:txBody>
          <a:bodyPr/>
          <a:lstStyle/>
          <a:p>
            <a:r>
              <a:rPr lang="en-US"/>
              <a:t>Click to edit Master title style</a:t>
            </a:r>
          </a:p>
        </p:txBody>
      </p:sp>
      <p:sp>
        <p:nvSpPr>
          <p:cNvPr id="3" name="Content Placeholder 2"/>
          <p:cNvSpPr>
            <a:spLocks noGrp="1"/>
          </p:cNvSpPr>
          <p:nvPr>
            <p:ph sz="quarter" idx="1"/>
          </p:nvPr>
        </p:nvSpPr>
        <p:spPr>
          <a:xfrm>
            <a:off x="0" y="1268413"/>
            <a:ext cx="5994400" cy="2551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268413"/>
            <a:ext cx="5994400" cy="2551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0" y="3971925"/>
            <a:ext cx="5994400" cy="2552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71925"/>
            <a:ext cx="5994400" cy="2552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9"/>
          <p:cNvSpPr>
            <a:spLocks noGrp="1" noChangeArrowheads="1"/>
          </p:cNvSpPr>
          <p:nvPr>
            <p:ph type="ftr" sz="quarter" idx="10"/>
          </p:nvPr>
        </p:nvSpPr>
        <p:spPr>
          <a:ln/>
        </p:spPr>
        <p:txBody>
          <a:bodyPr/>
          <a:lstStyle>
            <a:lvl1pPr>
              <a:defRPr/>
            </a:lvl1pPr>
          </a:lstStyle>
          <a:p>
            <a:endParaRPr lang="en-US"/>
          </a:p>
        </p:txBody>
      </p:sp>
      <p:sp>
        <p:nvSpPr>
          <p:cNvPr id="8" name="Rectangle 30"/>
          <p:cNvSpPr>
            <a:spLocks noGrp="1" noChangeArrowheads="1"/>
          </p:cNvSpPr>
          <p:nvPr>
            <p:ph type="sldNum" sz="quarter" idx="11"/>
          </p:nvPr>
        </p:nvSpPr>
        <p:spPr>
          <a:ln/>
        </p:spPr>
        <p:txBody>
          <a:bodyPr/>
          <a:lstStyle>
            <a:lvl1pPr>
              <a:defRPr/>
            </a:lvl1pPr>
          </a:lstStyle>
          <a:p>
            <a:pPr>
              <a:defRPr/>
            </a:pPr>
            <a:fld id="{F6517531-E00B-4217-B8B6-C92C558D46EE}"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29"/>
          <p:cNvSpPr>
            <a:spLocks noGrp="1" noChangeArrowheads="1"/>
          </p:cNvSpPr>
          <p:nvPr>
            <p:ph type="ftr" sz="quarter" idx="10"/>
          </p:nvPr>
        </p:nvSpPr>
        <p:spPr>
          <a:ln/>
        </p:spPr>
        <p:txBody>
          <a:bodyPr/>
          <a:lstStyle>
            <a:lvl1pPr>
              <a:defRPr/>
            </a:lvl1pPr>
          </a:lstStyle>
          <a:p>
            <a:endParaRPr lang="en-US"/>
          </a:p>
        </p:txBody>
      </p:sp>
      <p:sp>
        <p:nvSpPr>
          <p:cNvPr id="5" name="Rectangle 30"/>
          <p:cNvSpPr>
            <a:spLocks noGrp="1" noChangeArrowheads="1"/>
          </p:cNvSpPr>
          <p:nvPr>
            <p:ph type="sldNum" sz="quarter" idx="11"/>
          </p:nvPr>
        </p:nvSpPr>
        <p:spPr>
          <a:ln/>
        </p:spPr>
        <p:txBody>
          <a:bodyPr/>
          <a:lstStyle>
            <a:lvl1pPr>
              <a:defRPr/>
            </a:lvl1pPr>
          </a:lstStyle>
          <a:p>
            <a:pPr>
              <a:defRPr/>
            </a:pPr>
            <a:fld id="{5F403BB7-FB0E-42F4-853B-C30323DD7E47}"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Titelmasterformat durch Klicken bearbeiten</a:t>
            </a:r>
          </a:p>
        </p:txBody>
      </p:sp>
      <p:sp>
        <p:nvSpPr>
          <p:cNvPr id="3" name="Fußzeilenplatzhalter 2"/>
          <p:cNvSpPr>
            <a:spLocks noGrp="1"/>
          </p:cNvSpPr>
          <p:nvPr>
            <p:ph type="ftr" sz="quarter" idx="10"/>
          </p:nvPr>
        </p:nvSpPr>
        <p:spPr/>
        <p:txBody>
          <a:bodyPr/>
          <a:lstStyle/>
          <a:p>
            <a:endParaRPr lang="en-US" dirty="0"/>
          </a:p>
        </p:txBody>
      </p:sp>
      <p:sp>
        <p:nvSpPr>
          <p:cNvPr id="4" name="Foliennummernplatzhalter 3"/>
          <p:cNvSpPr>
            <a:spLocks noGrp="1"/>
          </p:cNvSpPr>
          <p:nvPr>
            <p:ph type="sldNum" sz="quarter" idx="11"/>
          </p:nvPr>
        </p:nvSpPr>
        <p:spPr/>
        <p:txBody>
          <a:bodyPr/>
          <a:lstStyle/>
          <a:p>
            <a:pPr>
              <a:defRPr/>
            </a:pPr>
            <a:fld id="{9D860B0C-BA58-45E3-B879-5BE12F2CEADE}" type="slidenum">
              <a:rPr lang="en-US" smtClean="0"/>
              <a:pPr>
                <a:defRPr/>
              </a:pPr>
              <a:t>‹#›</a:t>
            </a:fld>
            <a:endParaRPr lang="en-US" dirty="0"/>
          </a:p>
        </p:txBody>
      </p:sp>
      <p:pic>
        <p:nvPicPr>
          <p:cNvPr id="1028" name="Picture 4" descr="http://www.sfb1261.de/images/sensor_chart_0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3547" y="1683882"/>
            <a:ext cx="1964500" cy="1973041"/>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echteck 4"/>
          <p:cNvSpPr/>
          <p:nvPr userDrawn="1"/>
        </p:nvSpPr>
        <p:spPr>
          <a:xfrm>
            <a:off x="2894241" y="1630302"/>
            <a:ext cx="8547888" cy="954107"/>
          </a:xfrm>
          <a:prstGeom prst="rect">
            <a:avLst/>
          </a:prstGeom>
        </p:spPr>
        <p:txBody>
          <a:bodyPr wrap="square">
            <a:spAutoFit/>
          </a:bodyPr>
          <a:lstStyle/>
          <a:p>
            <a:pPr algn="l"/>
            <a:r>
              <a:rPr lang="en-US" sz="2800" b="0" i="0">
                <a:solidFill>
                  <a:srgbClr val="153983"/>
                </a:solidFill>
                <a:effectLst/>
                <a:latin typeface="Arial" panose="020B0604020202020204" pitchFamily="34" charset="0"/>
                <a:cs typeface="Arial" panose="020B0604020202020204" pitchFamily="34" charset="0"/>
              </a:rPr>
              <a:t>CRC 1261</a:t>
            </a:r>
            <a:r>
              <a:rPr lang="en-US" sz="2800" b="0" i="0" baseline="0">
                <a:solidFill>
                  <a:srgbClr val="153983"/>
                </a:solidFill>
                <a:effectLst/>
                <a:latin typeface="Arial" panose="020B0604020202020204" pitchFamily="34" charset="0"/>
                <a:cs typeface="Arial" panose="020B0604020202020204" pitchFamily="34" charset="0"/>
              </a:rPr>
              <a:t> </a:t>
            </a:r>
            <a:r>
              <a:rPr lang="en-US" sz="2800" b="0" i="0" baseline="0" dirty="0">
                <a:solidFill>
                  <a:srgbClr val="153983"/>
                </a:solidFill>
                <a:effectLst/>
                <a:latin typeface="Arial" panose="020B0604020202020204" pitchFamily="34" charset="0"/>
                <a:cs typeface="Arial" panose="020B0604020202020204" pitchFamily="34" charset="0"/>
              </a:rPr>
              <a:t>– </a:t>
            </a:r>
            <a:r>
              <a:rPr lang="en-US" sz="2800" b="0" i="0" dirty="0">
                <a:solidFill>
                  <a:srgbClr val="153983"/>
                </a:solidFill>
                <a:effectLst/>
                <a:latin typeface="Arial" panose="020B0604020202020204" pitchFamily="34" charset="0"/>
                <a:cs typeface="Arial" panose="020B0604020202020204" pitchFamily="34" charset="0"/>
              </a:rPr>
              <a:t>Magnetoelectric Sensors: From Composite Materials to </a:t>
            </a:r>
            <a:r>
              <a:rPr lang="en-US" sz="2800" b="0" i="0" dirty="0" err="1">
                <a:solidFill>
                  <a:srgbClr val="153983"/>
                </a:solidFill>
                <a:effectLst/>
                <a:latin typeface="Arial" panose="020B0604020202020204" pitchFamily="34" charset="0"/>
                <a:cs typeface="Arial" panose="020B0604020202020204" pitchFamily="34" charset="0"/>
              </a:rPr>
              <a:t>Biomagnetic</a:t>
            </a:r>
            <a:r>
              <a:rPr lang="en-US" sz="2800" b="0" i="0" dirty="0">
                <a:solidFill>
                  <a:srgbClr val="153983"/>
                </a:solidFill>
                <a:effectLst/>
                <a:latin typeface="Arial" panose="020B0604020202020204" pitchFamily="34" charset="0"/>
                <a:cs typeface="Arial" panose="020B0604020202020204" pitchFamily="34" charset="0"/>
              </a:rPr>
              <a:t> Diagnostics</a:t>
            </a:r>
          </a:p>
        </p:txBody>
      </p:sp>
      <p:sp>
        <p:nvSpPr>
          <p:cNvPr id="6" name="Rechteck 5"/>
          <p:cNvSpPr/>
          <p:nvPr userDrawn="1"/>
        </p:nvSpPr>
        <p:spPr>
          <a:xfrm>
            <a:off x="2894241" y="2782601"/>
            <a:ext cx="5596404" cy="369332"/>
          </a:xfrm>
          <a:prstGeom prst="rect">
            <a:avLst/>
          </a:prstGeom>
        </p:spPr>
        <p:txBody>
          <a:bodyPr wrap="none">
            <a:spAutoFit/>
          </a:bodyPr>
          <a:lstStyle/>
          <a:p>
            <a:r>
              <a:rPr lang="en-US" sz="1800" b="0" i="0" kern="1200" dirty="0">
                <a:solidFill>
                  <a:srgbClr val="153983"/>
                </a:solidFill>
                <a:effectLst/>
                <a:latin typeface="Arial" panose="020B0604020202020204" pitchFamily="34" charset="0"/>
                <a:ea typeface="+mn-ea"/>
                <a:cs typeface="Arial" panose="020B0604020202020204" pitchFamily="34" charset="0"/>
              </a:rPr>
              <a:t>Funded by the German Research Foundation (DFG).</a:t>
            </a:r>
            <a:endParaRPr lang="de-DE" sz="1800" b="0" i="0" kern="1200" dirty="0">
              <a:solidFill>
                <a:srgbClr val="153983"/>
              </a:solidFill>
              <a:effectLst/>
              <a:latin typeface="Arial" panose="020B0604020202020204" pitchFamily="34" charset="0"/>
              <a:ea typeface="+mn-ea"/>
              <a:cs typeface="Arial" panose="020B0604020202020204" pitchFamily="34" charset="0"/>
            </a:endParaRPr>
          </a:p>
        </p:txBody>
      </p:sp>
      <p:pic>
        <p:nvPicPr>
          <p:cNvPr id="1032" name="Picture 8" descr="http://www.sfb1261.de/images/caunormrgb0720.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60129" y="5442593"/>
            <a:ext cx="1823352" cy="603986"/>
          </a:xfrm>
          <a:prstGeom prst="rect">
            <a:avLst/>
          </a:prstGeom>
          <a:noFill/>
          <a:extLst>
            <a:ext uri="{909E8E84-426E-40dd-AFC4-6F175D3DCCD1}">
              <a14:hiddenFill xmlns="" xmlns:a14="http://schemas.microsoft.com/office/drawing/2010/main">
                <a:solidFill>
                  <a:srgbClr val="FFFFFF"/>
                </a:solidFill>
              </a14:hiddenFill>
            </a:ext>
          </a:extLst>
        </p:spPr>
      </p:pic>
      <p:pic>
        <p:nvPicPr>
          <p:cNvPr id="1034" name="Picture 10"/>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3370208" y="5531812"/>
            <a:ext cx="2166160" cy="541540"/>
          </a:xfrm>
          <a:prstGeom prst="rect">
            <a:avLst/>
          </a:prstGeom>
          <a:noFill/>
          <a:extLst>
            <a:ext uri="{909E8E84-426E-40dd-AFC4-6F175D3DCCD1}">
              <a14:hiddenFill xmlns="" xmlns:a14="http://schemas.microsoft.com/office/drawing/2010/main">
                <a:solidFill>
                  <a:srgbClr val="FFFFFF"/>
                </a:solidFill>
              </a14:hiddenFill>
            </a:ext>
          </a:extLst>
        </p:spPr>
      </p:pic>
      <p:pic>
        <p:nvPicPr>
          <p:cNvPr id="1036" name="Picture 12"/>
          <p:cNvPicPr>
            <a:picLocks noChangeAspect="1" noChangeArrowheads="1"/>
          </p:cNvPicPr>
          <p:nvPr userDrawn="1"/>
        </p:nvPicPr>
        <p:blipFill>
          <a:blip r:embed="rId5">
            <a:extLst>
              <a:ext uri="{28A0092B-C50C-407E-A947-70E740481C1C}">
                <a14:useLocalDpi xmlns:a14="http://schemas.microsoft.com/office/drawing/2010/main" val="0"/>
              </a:ext>
            </a:extLst>
          </a:blip>
          <a:stretch>
            <a:fillRect/>
          </a:stretch>
        </p:blipFill>
        <p:spPr bwMode="auto">
          <a:xfrm>
            <a:off x="6055712" y="5213033"/>
            <a:ext cx="1904617" cy="1240622"/>
          </a:xfrm>
          <a:prstGeom prst="rect">
            <a:avLst/>
          </a:prstGeom>
          <a:noFill/>
          <a:extLst>
            <a:ext uri="{909E8E84-426E-40dd-AFC4-6F175D3DCCD1}">
              <a14:hiddenFill xmlns="" xmlns:a14="http://schemas.microsoft.com/office/drawing/2010/main">
                <a:solidFill>
                  <a:srgbClr val="FFFFFF"/>
                </a:solidFill>
              </a14:hiddenFill>
            </a:ext>
          </a:extLst>
        </p:spPr>
      </p:pic>
      <p:pic>
        <p:nvPicPr>
          <p:cNvPr id="1038" name="Picture 14"/>
          <p:cNvPicPr>
            <a:picLocks noChangeAspect="1" noChangeArrowheads="1"/>
          </p:cNvPicPr>
          <p:nvPr userDrawn="1"/>
        </p:nvPicPr>
        <p:blipFill>
          <a:blip r:embed="rId6">
            <a:extLst>
              <a:ext uri="{28A0092B-C50C-407E-A947-70E740481C1C}">
                <a14:useLocalDpi xmlns:a14="http://schemas.microsoft.com/office/drawing/2010/main" val="0"/>
              </a:ext>
            </a:extLst>
          </a:blip>
          <a:stretch>
            <a:fillRect/>
          </a:stretch>
        </p:blipFill>
        <p:spPr bwMode="auto">
          <a:xfrm>
            <a:off x="8527373" y="5497621"/>
            <a:ext cx="1781420" cy="521662"/>
          </a:xfrm>
          <a:prstGeom prst="rect">
            <a:avLst/>
          </a:prstGeom>
          <a:noFill/>
          <a:extLst>
            <a:ext uri="{909E8E84-426E-40dd-AFC4-6F175D3DCCD1}">
              <a14:hiddenFill xmlns="" xmlns:a14="http://schemas.microsoft.com/office/drawing/2010/main">
                <a:solidFill>
                  <a:srgbClr val="FFFFFF"/>
                </a:solidFill>
              </a14:hiddenFill>
            </a:ext>
          </a:extLst>
        </p:spPr>
      </p:pic>
      <p:sp>
        <p:nvSpPr>
          <p:cNvPr id="14" name="Rechteck 13"/>
          <p:cNvSpPr/>
          <p:nvPr userDrawn="1"/>
        </p:nvSpPr>
        <p:spPr>
          <a:xfrm>
            <a:off x="2895175" y="3350125"/>
            <a:ext cx="1877502" cy="369332"/>
          </a:xfrm>
          <a:prstGeom prst="rect">
            <a:avLst/>
          </a:prstGeom>
        </p:spPr>
        <p:txBody>
          <a:bodyPr wrap="none">
            <a:spAutoFit/>
          </a:bodyPr>
          <a:lstStyle/>
          <a:p>
            <a:r>
              <a:rPr lang="en-US" sz="1800" b="0" i="0" kern="1200" dirty="0">
                <a:solidFill>
                  <a:srgbClr val="153983"/>
                </a:solidFill>
                <a:effectLst/>
                <a:latin typeface="Arial" panose="020B0604020202020204" pitchFamily="34" charset="0"/>
                <a:ea typeface="+mn-ea"/>
                <a:cs typeface="Arial" panose="020B0604020202020204" pitchFamily="34" charset="0"/>
              </a:rPr>
              <a:t>www</a:t>
            </a:r>
            <a:r>
              <a:rPr lang="en-US" sz="1800" b="0" i="0" kern="1200">
                <a:solidFill>
                  <a:srgbClr val="153983"/>
                </a:solidFill>
                <a:effectLst/>
                <a:latin typeface="Arial" panose="020B0604020202020204" pitchFamily="34" charset="0"/>
                <a:ea typeface="+mn-ea"/>
                <a:cs typeface="Arial" panose="020B0604020202020204" pitchFamily="34" charset="0"/>
              </a:rPr>
              <a:t>.sfb1261.</a:t>
            </a:r>
            <a:r>
              <a:rPr lang="en-US" sz="1800" b="0" i="0" kern="1200" dirty="0">
                <a:solidFill>
                  <a:srgbClr val="153983"/>
                </a:solidFill>
                <a:effectLst/>
                <a:latin typeface="Arial" panose="020B0604020202020204" pitchFamily="34" charset="0"/>
                <a:ea typeface="+mn-ea"/>
                <a:cs typeface="Arial" panose="020B0604020202020204" pitchFamily="34" charset="0"/>
              </a:rPr>
              <a:t>de</a:t>
            </a:r>
            <a:endParaRPr lang="de-DE" sz="1800" b="0" i="0" kern="1200" dirty="0">
              <a:solidFill>
                <a:srgbClr val="153983"/>
              </a:solidFill>
              <a:effectLst/>
              <a:latin typeface="Arial" panose="020B0604020202020204" pitchFamily="34" charset="0"/>
              <a:ea typeface="+mn-ea"/>
              <a:cs typeface="Arial" panose="020B0604020202020204" pitchFamily="34" charset="0"/>
            </a:endParaRPr>
          </a:p>
        </p:txBody>
      </p:sp>
      <p:sp>
        <p:nvSpPr>
          <p:cNvPr id="7" name="AutoShape 16" descr="Bildergebnis für ipn kiel"/>
          <p:cNvSpPr>
            <a:spLocks noChangeAspect="1" noChangeArrowheads="1"/>
          </p:cNvSpPr>
          <p:nvPr userDrawn="1"/>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Tree>
    <p:extLst>
      <p:ext uri="{BB962C8B-B14F-4D97-AF65-F5344CB8AC3E}">
        <p14:creationId xmlns:p14="http://schemas.microsoft.com/office/powerpoint/2010/main" val="3421571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1000"/>
                                        <p:tgtEl>
                                          <p:spTgt spid="1028"/>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032"/>
                                        </p:tgtEl>
                                        <p:attrNameLst>
                                          <p:attrName>style.visibility</p:attrName>
                                        </p:attrNameLst>
                                      </p:cBhvr>
                                      <p:to>
                                        <p:strVal val="visible"/>
                                      </p:to>
                                    </p:set>
                                    <p:animEffect transition="in" filter="fade">
                                      <p:cBhvr>
                                        <p:cTn id="23" dur="1000"/>
                                        <p:tgtEl>
                                          <p:spTgt spid="1032"/>
                                        </p:tgtEl>
                                      </p:cBhvr>
                                    </p:animEffect>
                                  </p:childTnLst>
                                </p:cTn>
                              </p:par>
                            </p:childTnLst>
                          </p:cTn>
                        </p:par>
                        <p:par>
                          <p:cTn id="24" fill="hold">
                            <p:stCondLst>
                              <p:cond delay="5000"/>
                            </p:stCondLst>
                            <p:childTnLst>
                              <p:par>
                                <p:cTn id="25" presetID="10" presetClass="entr" presetSubtype="0" fill="hold" nodeType="afterEffect">
                                  <p:stCondLst>
                                    <p:cond delay="0"/>
                                  </p:stCondLst>
                                  <p:childTnLst>
                                    <p:set>
                                      <p:cBhvr>
                                        <p:cTn id="26" dur="1" fill="hold">
                                          <p:stCondLst>
                                            <p:cond delay="0"/>
                                          </p:stCondLst>
                                        </p:cTn>
                                        <p:tgtEl>
                                          <p:spTgt spid="1034"/>
                                        </p:tgtEl>
                                        <p:attrNameLst>
                                          <p:attrName>style.visibility</p:attrName>
                                        </p:attrNameLst>
                                      </p:cBhvr>
                                      <p:to>
                                        <p:strVal val="visible"/>
                                      </p:to>
                                    </p:set>
                                    <p:animEffect transition="in" filter="fade">
                                      <p:cBhvr>
                                        <p:cTn id="27" dur="1000"/>
                                        <p:tgtEl>
                                          <p:spTgt spid="1034"/>
                                        </p:tgtEl>
                                      </p:cBhvr>
                                    </p:animEffect>
                                  </p:childTnLst>
                                </p:cTn>
                              </p:par>
                            </p:childTnLst>
                          </p:cTn>
                        </p:par>
                        <p:par>
                          <p:cTn id="28" fill="hold">
                            <p:stCondLst>
                              <p:cond delay="6000"/>
                            </p:stCondLst>
                            <p:childTnLst>
                              <p:par>
                                <p:cTn id="29" presetID="10" presetClass="entr" presetSubtype="0" fill="hold" nodeType="afterEffect">
                                  <p:stCondLst>
                                    <p:cond delay="0"/>
                                  </p:stCondLst>
                                  <p:childTnLst>
                                    <p:set>
                                      <p:cBhvr>
                                        <p:cTn id="30" dur="1" fill="hold">
                                          <p:stCondLst>
                                            <p:cond delay="0"/>
                                          </p:stCondLst>
                                        </p:cTn>
                                        <p:tgtEl>
                                          <p:spTgt spid="1036"/>
                                        </p:tgtEl>
                                        <p:attrNameLst>
                                          <p:attrName>style.visibility</p:attrName>
                                        </p:attrNameLst>
                                      </p:cBhvr>
                                      <p:to>
                                        <p:strVal val="visible"/>
                                      </p:to>
                                    </p:set>
                                    <p:animEffect transition="in" filter="fade">
                                      <p:cBhvr>
                                        <p:cTn id="31" dur="1000"/>
                                        <p:tgtEl>
                                          <p:spTgt spid="1036"/>
                                        </p:tgtEl>
                                      </p:cBhvr>
                                    </p:animEffect>
                                  </p:childTnLst>
                                </p:cTn>
                              </p:par>
                            </p:childTnLst>
                          </p:cTn>
                        </p:par>
                        <p:par>
                          <p:cTn id="32" fill="hold">
                            <p:stCondLst>
                              <p:cond delay="7000"/>
                            </p:stCondLst>
                            <p:childTnLst>
                              <p:par>
                                <p:cTn id="33" presetID="10" presetClass="entr" presetSubtype="0" fill="hold" nodeType="afterEffect">
                                  <p:stCondLst>
                                    <p:cond delay="0"/>
                                  </p:stCondLst>
                                  <p:childTnLst>
                                    <p:set>
                                      <p:cBhvr>
                                        <p:cTn id="34" dur="1" fill="hold">
                                          <p:stCondLst>
                                            <p:cond delay="0"/>
                                          </p:stCondLst>
                                        </p:cTn>
                                        <p:tgtEl>
                                          <p:spTgt spid="1038"/>
                                        </p:tgtEl>
                                        <p:attrNameLst>
                                          <p:attrName>style.visibility</p:attrName>
                                        </p:attrNameLst>
                                      </p:cBhvr>
                                      <p:to>
                                        <p:strVal val="visible"/>
                                      </p:to>
                                    </p:set>
                                    <p:animEffect transition="in" filter="fade">
                                      <p:cBhvr>
                                        <p:cTn id="35" dur="1000"/>
                                        <p:tgtEl>
                                          <p:spTgt spid="1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4"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t="-1000" b="-1000"/>
          </a:stretch>
        </a:blipFill>
        <a:effectLst/>
      </p:bgPr>
    </p:bg>
    <p:spTree>
      <p:nvGrpSpPr>
        <p:cNvPr id="1" name=""/>
        <p:cNvGrpSpPr/>
        <p:nvPr/>
      </p:nvGrpSpPr>
      <p:grpSpPr>
        <a:xfrm>
          <a:off x="0" y="0"/>
          <a:ext cx="0" cy="0"/>
          <a:chOff x="0" y="0"/>
          <a:chExt cx="0" cy="0"/>
        </a:xfrm>
      </p:grpSpPr>
      <p:sp>
        <p:nvSpPr>
          <p:cNvPr id="171026" name="Rectangle 18"/>
          <p:cNvSpPr>
            <a:spLocks noChangeArrowheads="1"/>
          </p:cNvSpPr>
          <p:nvPr userDrawn="1"/>
        </p:nvSpPr>
        <p:spPr bwMode="auto">
          <a:xfrm>
            <a:off x="0" y="5"/>
            <a:ext cx="12192000" cy="684213"/>
          </a:xfrm>
          <a:prstGeom prst="rect">
            <a:avLst/>
          </a:prstGeom>
          <a:solidFill>
            <a:srgbClr val="3C5A9A"/>
          </a:solidFill>
          <a:ln w="9525">
            <a:noFill/>
            <a:miter lim="800000"/>
            <a:headEnd/>
            <a:tailEnd/>
          </a:ln>
          <a:effectLst/>
        </p:spPr>
        <p:txBody>
          <a:bodyPr wrap="none" anchor="ctr"/>
          <a:lstStyle/>
          <a:p>
            <a:pPr eaLnBrk="0" hangingPunct="0">
              <a:defRPr/>
            </a:pPr>
            <a:endParaRPr lang="en-US" sz="2000">
              <a:latin typeface="Tahoma" pitchFamily="35" charset="0"/>
            </a:endParaRPr>
          </a:p>
        </p:txBody>
      </p:sp>
      <p:sp>
        <p:nvSpPr>
          <p:cNvPr id="1030" name="Rectangle 26"/>
          <p:cNvSpPr>
            <a:spLocks noGrp="1" noChangeArrowheads="1"/>
          </p:cNvSpPr>
          <p:nvPr>
            <p:ph type="title"/>
          </p:nvPr>
        </p:nvSpPr>
        <p:spPr bwMode="auto">
          <a:xfrm>
            <a:off x="1" y="5"/>
            <a:ext cx="9698656" cy="6778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err="1"/>
              <a:t>Hier</a:t>
            </a:r>
            <a:r>
              <a:rPr lang="en-US" dirty="0"/>
              <a:t> </a:t>
            </a:r>
            <a:r>
              <a:rPr lang="en-US" dirty="0" err="1"/>
              <a:t>klicken</a:t>
            </a:r>
            <a:r>
              <a:rPr lang="en-US" dirty="0"/>
              <a:t>, um Master-</a:t>
            </a:r>
            <a:r>
              <a:rPr lang="en-US" dirty="0" err="1"/>
              <a:t>Titelformat</a:t>
            </a:r>
            <a:r>
              <a:rPr lang="en-US" dirty="0"/>
              <a:t> </a:t>
            </a:r>
            <a:r>
              <a:rPr lang="en-US" dirty="0" err="1"/>
              <a:t>zu</a:t>
            </a:r>
            <a:r>
              <a:rPr lang="en-US" dirty="0"/>
              <a:t> </a:t>
            </a:r>
            <a:r>
              <a:rPr lang="en-US" dirty="0" err="1"/>
              <a:t>bearbeiten</a:t>
            </a:r>
            <a:r>
              <a:rPr lang="en-US" dirty="0"/>
              <a:t>.</a:t>
            </a:r>
          </a:p>
        </p:txBody>
      </p:sp>
      <p:sp>
        <p:nvSpPr>
          <p:cNvPr id="1031" name="Rectangle 27"/>
          <p:cNvSpPr>
            <a:spLocks noGrp="1" noChangeArrowheads="1"/>
          </p:cNvSpPr>
          <p:nvPr>
            <p:ph type="body" idx="1"/>
          </p:nvPr>
        </p:nvSpPr>
        <p:spPr bwMode="auto">
          <a:xfrm>
            <a:off x="0" y="1268413"/>
            <a:ext cx="12192000" cy="5256212"/>
          </a:xfrm>
          <a:prstGeom prst="rect">
            <a:avLst/>
          </a:prstGeom>
          <a:noFill/>
          <a:ln w="9525">
            <a:noFill/>
            <a:miter lim="800000"/>
            <a:headEnd/>
            <a:tailEnd/>
          </a:ln>
        </p:spPr>
        <p:txBody>
          <a:bodyPr vert="horz" wrap="square" lIns="360000" tIns="45720" rIns="360000" bIns="45720" numCol="1" anchor="t" anchorCtr="0" compatLnSpc="1">
            <a:prstTxWarp prst="textNoShape">
              <a:avLst/>
            </a:prstTxWarp>
          </a:bodyPr>
          <a:lstStyle/>
          <a:p>
            <a:pPr lvl="0"/>
            <a:r>
              <a:rPr lang="en-US" dirty="0" err="1"/>
              <a:t>Hier</a:t>
            </a:r>
            <a:r>
              <a:rPr lang="en-US" dirty="0"/>
              <a:t> </a:t>
            </a:r>
            <a:r>
              <a:rPr lang="en-US" dirty="0" err="1"/>
              <a:t>klicken</a:t>
            </a:r>
            <a:r>
              <a:rPr lang="en-US" dirty="0"/>
              <a:t>, um Master-</a:t>
            </a:r>
            <a:r>
              <a:rPr lang="en-US" dirty="0" err="1"/>
              <a:t>Textformat</a:t>
            </a:r>
            <a:r>
              <a:rPr lang="en-US" dirty="0"/>
              <a:t> </a:t>
            </a:r>
            <a:r>
              <a:rPr lang="en-US" dirty="0" err="1"/>
              <a:t>zu</a:t>
            </a:r>
            <a:r>
              <a:rPr lang="en-US" dirty="0"/>
              <a:t> </a:t>
            </a:r>
            <a:r>
              <a:rPr lang="en-US" dirty="0" err="1"/>
              <a:t>bearbeiten</a:t>
            </a:r>
            <a:r>
              <a:rPr lang="en-US" dirty="0"/>
              <a:t>.</a:t>
            </a:r>
          </a:p>
        </p:txBody>
      </p:sp>
      <p:sp>
        <p:nvSpPr>
          <p:cNvPr id="171037" name="Rectangle 29"/>
          <p:cNvSpPr>
            <a:spLocks noGrp="1" noChangeArrowheads="1"/>
          </p:cNvSpPr>
          <p:nvPr>
            <p:ph type="ftr" sz="quarter" idx="3"/>
          </p:nvPr>
        </p:nvSpPr>
        <p:spPr bwMode="auto">
          <a:xfrm>
            <a:off x="3" y="6524630"/>
            <a:ext cx="10223500" cy="333375"/>
          </a:xfrm>
          <a:prstGeom prst="rect">
            <a:avLst/>
          </a:prstGeom>
          <a:noFill/>
          <a:ln w="9525">
            <a:noFill/>
            <a:miter lim="800000"/>
            <a:headEnd/>
            <a:tailEnd/>
          </a:ln>
          <a:effectLst/>
        </p:spPr>
        <p:txBody>
          <a:bodyPr vert="horz" wrap="square" lIns="540000" tIns="45720" rIns="360000" bIns="45720" numCol="1" anchor="ctr" anchorCtr="0" compatLnSpc="1">
            <a:prstTxWarp prst="textNoShape">
              <a:avLst/>
            </a:prstTxWarp>
          </a:bodyPr>
          <a:lstStyle>
            <a:lvl1pPr>
              <a:defRPr sz="1400">
                <a:solidFill>
                  <a:schemeClr val="tx1"/>
                </a:solidFill>
              </a:defRPr>
            </a:lvl1pPr>
          </a:lstStyle>
          <a:p>
            <a:endParaRPr lang="en-US" dirty="0"/>
          </a:p>
        </p:txBody>
      </p:sp>
      <p:sp>
        <p:nvSpPr>
          <p:cNvPr id="171038" name="Rectangle 30"/>
          <p:cNvSpPr>
            <a:spLocks noGrp="1" noChangeArrowheads="1"/>
          </p:cNvSpPr>
          <p:nvPr>
            <p:ph type="sldNum" sz="quarter" idx="4"/>
          </p:nvPr>
        </p:nvSpPr>
        <p:spPr bwMode="auto">
          <a:xfrm>
            <a:off x="11567587" y="6524630"/>
            <a:ext cx="673100" cy="333375"/>
          </a:xfrm>
          <a:prstGeom prst="rect">
            <a:avLst/>
          </a:prstGeom>
          <a:noFill/>
          <a:ln w="9525">
            <a:noFill/>
            <a:miter lim="800000"/>
            <a:headEnd/>
            <a:tailEnd/>
          </a:ln>
          <a:effectLst/>
        </p:spPr>
        <p:txBody>
          <a:bodyPr vert="horz" wrap="square" lIns="0" tIns="0" rIns="0" bIns="0" numCol="1" anchor="ctr" anchorCtr="1" compatLnSpc="1">
            <a:prstTxWarp prst="textNoShape">
              <a:avLst/>
            </a:prstTxWarp>
          </a:bodyPr>
          <a:lstStyle>
            <a:lvl1pPr algn="ctr" eaLnBrk="1" hangingPunct="1">
              <a:defRPr sz="1400">
                <a:solidFill>
                  <a:schemeClr val="tx1"/>
                </a:solidFill>
                <a:latin typeface="Arial" panose="020B0604020202020204" pitchFamily="34" charset="0"/>
                <a:cs typeface="Arial" panose="020B0604020202020204" pitchFamily="34" charset="0"/>
              </a:defRPr>
            </a:lvl1pPr>
          </a:lstStyle>
          <a:p>
            <a:pPr>
              <a:defRPr/>
            </a:pPr>
            <a:fld id="{9D860B0C-BA58-45E3-B879-5BE12F2CEADE}" type="slidenum">
              <a:rPr lang="en-US" smtClean="0"/>
              <a:pPr>
                <a:defRPr/>
              </a:pPr>
              <a:t>‹#›</a:t>
            </a:fld>
            <a:endParaRPr lang="en-US" dirty="0"/>
          </a:p>
        </p:txBody>
      </p:sp>
      <p:pic>
        <p:nvPicPr>
          <p:cNvPr id="8" name="Grafik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9847552" y="55984"/>
            <a:ext cx="2195552" cy="565904"/>
          </a:xfrm>
          <a:prstGeom prst="rect">
            <a:avLst/>
          </a:prstGeom>
        </p:spPr>
      </p:pic>
    </p:spTree>
  </p:cSld>
  <p:clrMap bg1="lt1" tx1="dk1" bg2="lt2" tx2="dk2" accent1="accent1" accent2="accent2" accent3="accent3" accent4="accent4" accent5="accent5" accent6="accent6" hlink="hlink" folHlink="folHlink"/>
  <p:sldLayoutIdLst>
    <p:sldLayoutId id="2147483666" r:id="rId1"/>
    <p:sldLayoutId id="2147483665" r:id="rId2"/>
    <p:sldLayoutId id="2147483664" r:id="rId3"/>
    <p:sldLayoutId id="2147483663" r:id="rId4"/>
    <p:sldLayoutId id="2147483662" r:id="rId5"/>
    <p:sldLayoutId id="2147483661" r:id="rId6"/>
    <p:sldLayoutId id="2147483660" r:id="rId7"/>
    <p:sldLayoutId id="2147483659" r:id="rId8"/>
    <p:sldLayoutId id="2147483658" r:id="rId9"/>
    <p:sldLayoutId id="2147483657" r:id="rId10"/>
    <p:sldLayoutId id="2147483656" r:id="rId11"/>
    <p:sldLayoutId id="2147483655" r:id="rId12"/>
    <p:sldLayoutId id="2147483654" r:id="rId13"/>
    <p:sldLayoutId id="2147483667" r:id="rId14"/>
  </p:sldLayoutIdLst>
  <p:hf hdr="0" ftr="0" dt="0"/>
  <p:txStyles>
    <p:titleStyle>
      <a:lvl1pPr algn="ctr" rtl="0" eaLnBrk="0" fontAlgn="base" hangingPunct="0">
        <a:spcBef>
          <a:spcPct val="0"/>
        </a:spcBef>
        <a:spcAft>
          <a:spcPct val="0"/>
        </a:spcAft>
        <a:defRPr sz="2400">
          <a:solidFill>
            <a:schemeClr val="bg1"/>
          </a:solidFill>
          <a:latin typeface="Arial" panose="020B0604020202020204" pitchFamily="34" charset="0"/>
          <a:ea typeface="MS PGothic" pitchFamily="34" charset="-128"/>
          <a:cs typeface="Arial" panose="020B0604020202020204" pitchFamily="34" charset="0"/>
        </a:defRPr>
      </a:lvl1pPr>
      <a:lvl2pPr algn="ctr" rtl="0" eaLnBrk="0" fontAlgn="base" hangingPunct="0">
        <a:spcBef>
          <a:spcPct val="0"/>
        </a:spcBef>
        <a:spcAft>
          <a:spcPct val="0"/>
        </a:spcAft>
        <a:defRPr sz="2400">
          <a:solidFill>
            <a:schemeClr val="bg1"/>
          </a:solidFill>
          <a:latin typeface="Tahoma" pitchFamily="35" charset="0"/>
          <a:ea typeface="MS PGothic" pitchFamily="34" charset="-128"/>
          <a:cs typeface="MS PGothic"/>
        </a:defRPr>
      </a:lvl2pPr>
      <a:lvl3pPr algn="ctr" rtl="0" eaLnBrk="0" fontAlgn="base" hangingPunct="0">
        <a:spcBef>
          <a:spcPct val="0"/>
        </a:spcBef>
        <a:spcAft>
          <a:spcPct val="0"/>
        </a:spcAft>
        <a:defRPr sz="2400">
          <a:solidFill>
            <a:schemeClr val="bg1"/>
          </a:solidFill>
          <a:latin typeface="Tahoma" pitchFamily="35" charset="0"/>
          <a:ea typeface="MS PGothic" pitchFamily="34" charset="-128"/>
          <a:cs typeface="MS PGothic"/>
        </a:defRPr>
      </a:lvl3pPr>
      <a:lvl4pPr algn="ctr" rtl="0" eaLnBrk="0" fontAlgn="base" hangingPunct="0">
        <a:spcBef>
          <a:spcPct val="0"/>
        </a:spcBef>
        <a:spcAft>
          <a:spcPct val="0"/>
        </a:spcAft>
        <a:defRPr sz="2400">
          <a:solidFill>
            <a:schemeClr val="bg1"/>
          </a:solidFill>
          <a:latin typeface="Tahoma" pitchFamily="35" charset="0"/>
          <a:ea typeface="MS PGothic" pitchFamily="34" charset="-128"/>
          <a:cs typeface="MS PGothic"/>
        </a:defRPr>
      </a:lvl4pPr>
      <a:lvl5pPr algn="ctr" rtl="0" eaLnBrk="0" fontAlgn="base" hangingPunct="0">
        <a:spcBef>
          <a:spcPct val="0"/>
        </a:spcBef>
        <a:spcAft>
          <a:spcPct val="0"/>
        </a:spcAft>
        <a:defRPr sz="2400">
          <a:solidFill>
            <a:schemeClr val="bg1"/>
          </a:solidFill>
          <a:latin typeface="Tahoma" pitchFamily="35" charset="0"/>
          <a:ea typeface="MS PGothic" pitchFamily="34" charset="-128"/>
          <a:cs typeface="MS PGothic"/>
        </a:defRPr>
      </a:lvl5pPr>
      <a:lvl6pPr marL="457200" algn="ctr" rtl="0" fontAlgn="base">
        <a:spcBef>
          <a:spcPct val="0"/>
        </a:spcBef>
        <a:spcAft>
          <a:spcPct val="0"/>
        </a:spcAft>
        <a:defRPr sz="2400">
          <a:solidFill>
            <a:schemeClr val="bg1"/>
          </a:solidFill>
          <a:latin typeface="Tahoma" pitchFamily="35" charset="0"/>
        </a:defRPr>
      </a:lvl6pPr>
      <a:lvl7pPr marL="914400" algn="ctr" rtl="0" fontAlgn="base">
        <a:spcBef>
          <a:spcPct val="0"/>
        </a:spcBef>
        <a:spcAft>
          <a:spcPct val="0"/>
        </a:spcAft>
        <a:defRPr sz="2400">
          <a:solidFill>
            <a:schemeClr val="bg1"/>
          </a:solidFill>
          <a:latin typeface="Tahoma" pitchFamily="35" charset="0"/>
        </a:defRPr>
      </a:lvl7pPr>
      <a:lvl8pPr marL="1371600" algn="ctr" rtl="0" fontAlgn="base">
        <a:spcBef>
          <a:spcPct val="0"/>
        </a:spcBef>
        <a:spcAft>
          <a:spcPct val="0"/>
        </a:spcAft>
        <a:defRPr sz="2400">
          <a:solidFill>
            <a:schemeClr val="bg1"/>
          </a:solidFill>
          <a:latin typeface="Tahoma" pitchFamily="35" charset="0"/>
        </a:defRPr>
      </a:lvl8pPr>
      <a:lvl9pPr marL="1828800" algn="ctr" rtl="0" fontAlgn="base">
        <a:spcBef>
          <a:spcPct val="0"/>
        </a:spcBef>
        <a:spcAft>
          <a:spcPct val="0"/>
        </a:spcAft>
        <a:defRPr sz="2400">
          <a:solidFill>
            <a:schemeClr val="bg1"/>
          </a:solidFill>
          <a:latin typeface="Tahoma" pitchFamily="35" charset="0"/>
        </a:defRPr>
      </a:lvl9pPr>
    </p:titleStyle>
    <p:bodyStyle>
      <a:lvl1pPr marL="342900" indent="-342900" algn="l" rtl="0" eaLnBrk="0" fontAlgn="base" hangingPunct="0">
        <a:spcBef>
          <a:spcPct val="20000"/>
        </a:spcBef>
        <a:spcAft>
          <a:spcPct val="0"/>
        </a:spcAft>
        <a:defRPr sz="2000">
          <a:solidFill>
            <a:schemeClr val="tx1"/>
          </a:solidFill>
          <a:latin typeface="Arial" panose="020B0604020202020204" pitchFamily="34" charset="0"/>
          <a:ea typeface="MS PGothic" pitchFamily="34" charset="-128"/>
          <a:cs typeface="Arial" panose="020B0604020202020204" pitchFamily="34" charset="0"/>
        </a:defRPr>
      </a:lvl1pPr>
      <a:lvl2pPr marL="742950" indent="-285750" algn="l" rtl="0" eaLnBrk="0" fontAlgn="base" hangingPunct="0">
        <a:spcBef>
          <a:spcPct val="20000"/>
        </a:spcBef>
        <a:spcAft>
          <a:spcPct val="0"/>
        </a:spcAft>
        <a:buChar char="–"/>
        <a:defRPr sz="2800">
          <a:solidFill>
            <a:schemeClr val="tx1"/>
          </a:solidFill>
          <a:latin typeface="Arial" pitchFamily="35" charset="0"/>
          <a:ea typeface="MS PGothic" pitchFamily="34" charset="-128"/>
          <a:cs typeface="MS PGothic"/>
        </a:defRPr>
      </a:lvl2pPr>
      <a:lvl3pPr marL="1143000" indent="-228600" algn="l" rtl="0" eaLnBrk="0" fontAlgn="base" hangingPunct="0">
        <a:spcBef>
          <a:spcPct val="20000"/>
        </a:spcBef>
        <a:spcAft>
          <a:spcPct val="0"/>
        </a:spcAft>
        <a:buChar char="•"/>
        <a:defRPr sz="2400">
          <a:solidFill>
            <a:schemeClr val="tx1"/>
          </a:solidFill>
          <a:latin typeface="Arial" pitchFamily="35" charset="0"/>
          <a:ea typeface="MS PGothic" pitchFamily="34" charset="-128"/>
          <a:cs typeface="MS PGothic"/>
        </a:defRPr>
      </a:lvl3pPr>
      <a:lvl4pPr marL="1600200" indent="-228600" algn="l" rtl="0" eaLnBrk="0" fontAlgn="base" hangingPunct="0">
        <a:spcBef>
          <a:spcPct val="20000"/>
        </a:spcBef>
        <a:spcAft>
          <a:spcPct val="0"/>
        </a:spcAft>
        <a:buChar char="–"/>
        <a:defRPr sz="2000">
          <a:solidFill>
            <a:schemeClr val="tx1"/>
          </a:solidFill>
          <a:latin typeface="Arial" pitchFamily="35" charset="0"/>
          <a:ea typeface="MS PGothic" pitchFamily="34" charset="-128"/>
          <a:cs typeface="MS PGothic"/>
        </a:defRPr>
      </a:lvl4pPr>
      <a:lvl5pPr marL="2057400" indent="-228600" algn="l" rtl="0" eaLnBrk="0" fontAlgn="base" hangingPunct="0">
        <a:spcBef>
          <a:spcPct val="20000"/>
        </a:spcBef>
        <a:spcAft>
          <a:spcPct val="0"/>
        </a:spcAft>
        <a:buChar char="»"/>
        <a:defRPr sz="2000">
          <a:solidFill>
            <a:schemeClr val="tx1"/>
          </a:solidFill>
          <a:latin typeface="Arial" pitchFamily="35" charset="0"/>
          <a:ea typeface="MS PGothic" pitchFamily="34" charset="-128"/>
          <a:cs typeface="MS PGothic"/>
        </a:defRPr>
      </a:lvl5pPr>
      <a:lvl6pPr marL="2514600" indent="-228600" algn="l" rtl="0" fontAlgn="base">
        <a:spcBef>
          <a:spcPct val="20000"/>
        </a:spcBef>
        <a:spcAft>
          <a:spcPct val="0"/>
        </a:spcAft>
        <a:buChar char="»"/>
        <a:defRPr sz="2000">
          <a:solidFill>
            <a:schemeClr val="tx1"/>
          </a:solidFill>
          <a:latin typeface="Arial" pitchFamily="35" charset="0"/>
          <a:ea typeface="ＭＳ Ｐゴシック" pitchFamily="35" charset="-128"/>
        </a:defRPr>
      </a:lvl6pPr>
      <a:lvl7pPr marL="2971800" indent="-228600" algn="l" rtl="0" fontAlgn="base">
        <a:spcBef>
          <a:spcPct val="20000"/>
        </a:spcBef>
        <a:spcAft>
          <a:spcPct val="0"/>
        </a:spcAft>
        <a:buChar char="»"/>
        <a:defRPr sz="2000">
          <a:solidFill>
            <a:schemeClr val="tx1"/>
          </a:solidFill>
          <a:latin typeface="Arial" pitchFamily="35" charset="0"/>
          <a:ea typeface="ＭＳ Ｐゴシック" pitchFamily="35" charset="-128"/>
        </a:defRPr>
      </a:lvl7pPr>
      <a:lvl8pPr marL="3429000" indent="-228600" algn="l" rtl="0" fontAlgn="base">
        <a:spcBef>
          <a:spcPct val="20000"/>
        </a:spcBef>
        <a:spcAft>
          <a:spcPct val="0"/>
        </a:spcAft>
        <a:buChar char="»"/>
        <a:defRPr sz="2000">
          <a:solidFill>
            <a:schemeClr val="tx1"/>
          </a:solidFill>
          <a:latin typeface="Arial" pitchFamily="35" charset="0"/>
          <a:ea typeface="ＭＳ Ｐゴシック" pitchFamily="35" charset="-128"/>
        </a:defRPr>
      </a:lvl8pPr>
      <a:lvl9pPr marL="3886200" indent="-228600" algn="l" rtl="0" fontAlgn="base">
        <a:spcBef>
          <a:spcPct val="20000"/>
        </a:spcBef>
        <a:spcAft>
          <a:spcPct val="0"/>
        </a:spcAft>
        <a:buChar char="»"/>
        <a:defRPr sz="2000">
          <a:solidFill>
            <a:schemeClr val="tx1"/>
          </a:solidFill>
          <a:latin typeface="Arial" pitchFamily="35" charset="0"/>
          <a:ea typeface="ＭＳ Ｐゴシック" pitchFamily="35" charset="-128"/>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0.webp"/><Relationship Id="rId2" Type="http://schemas.openxmlformats.org/officeDocument/2006/relationships/hyperlink" Target="https://doi.org/10.3390/nano10102072" TargetMode="Externa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1.gif"/><Relationship Id="rId2" Type="http://schemas.microsoft.com/office/2018/10/relationships/comments" Target="../comments/modernComment_2D4_8A3E491D.xml"/><Relationship Id="rId1" Type="http://schemas.openxmlformats.org/officeDocument/2006/relationships/slideLayout" Target="../slideLayouts/slideLayout13.xml"/><Relationship Id="rId4" Type="http://schemas.openxmlformats.org/officeDocument/2006/relationships/image" Target="../media/image12.gif"/></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2D8_A342CAF4.xml"/><Relationship Id="rId1" Type="http://schemas.openxmlformats.org/officeDocument/2006/relationships/slideLayout" Target="../slideLayouts/slideLayout13.xml"/><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0.png"/><Relationship Id="rId1" Type="http://schemas.openxmlformats.org/officeDocument/2006/relationships/slideLayout" Target="../slideLayouts/slideLayout13.xml"/><Relationship Id="rId6" Type="http://schemas.openxmlformats.org/officeDocument/2006/relationships/hyperlink" Target="http://dx.doi.org/10.1002/9780470977859.ch2" TargetMode="External"/><Relationship Id="rId5" Type="http://schemas.openxmlformats.org/officeDocument/2006/relationships/image" Target="../media/image50.jpg"/><Relationship Id="rId4" Type="http://schemas.openxmlformats.org/officeDocument/2006/relationships/image" Target="../media/image49.jpg"/></Relationships>
</file>

<file path=ppt/slides/_rels/slide26.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hyperlink" Target="http://dx.doi.org/10.1002/9780470977859.ch2" TargetMode="Externa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dx.doi.org/10.1002/9780470977859.ch2" TargetMode="External"/><Relationship Id="rId2" Type="http://schemas.openxmlformats.org/officeDocument/2006/relationships/image" Target="../media/image470.png"/><Relationship Id="rId1" Type="http://schemas.openxmlformats.org/officeDocument/2006/relationships/slideLayout" Target="../slideLayouts/slideLayout13.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002/9780470977859.ch3" TargetMode="External"/><Relationship Id="rId7" Type="http://schemas.openxmlformats.org/officeDocument/2006/relationships/image" Target="../media/image57.png"/><Relationship Id="rId2" Type="http://schemas.openxmlformats.org/officeDocument/2006/relationships/image" Target="../media/image50.png"/><Relationship Id="rId1" Type="http://schemas.openxmlformats.org/officeDocument/2006/relationships/slideLayout" Target="../slideLayouts/slideLayout13.xml"/><Relationship Id="rId6" Type="http://schemas.openxmlformats.org/officeDocument/2006/relationships/image" Target="../media/image57.jpg"/><Relationship Id="rId5" Type="http://schemas.openxmlformats.org/officeDocument/2006/relationships/image" Target="../media/image56.jpg"/><Relationship Id="rId4" Type="http://schemas.openxmlformats.org/officeDocument/2006/relationships/image" Target="../media/image55.jpg"/></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02/9780470977859.ch3" TargetMode="External"/><Relationship Id="rId2" Type="http://schemas.openxmlformats.org/officeDocument/2006/relationships/image" Target="../media/image58.png"/><Relationship Id="rId1" Type="http://schemas.openxmlformats.org/officeDocument/2006/relationships/slideLayout" Target="../slideLayouts/slideLayout13.xml"/><Relationship Id="rId6" Type="http://schemas.openxmlformats.org/officeDocument/2006/relationships/image" Target="../media/image60.png"/><Relationship Id="rId5" Type="http://schemas.openxmlformats.org/officeDocument/2006/relationships/image" Target="../media/image59.jpg"/><Relationship Id="rId4" Type="http://schemas.openxmlformats.org/officeDocument/2006/relationships/image" Target="../media/image58.jpg"/></Relationships>
</file>

<file path=ppt/slides/_rels/slide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1F076F-E790-4131-B531-8D667B4183CE}"/>
              </a:ext>
            </a:extLst>
          </p:cNvPr>
          <p:cNvSpPr/>
          <p:nvPr/>
        </p:nvSpPr>
        <p:spPr>
          <a:xfrm>
            <a:off x="221470" y="-156597"/>
            <a:ext cx="11970530" cy="6617196"/>
          </a:xfrm>
          <a:prstGeom prst="rect">
            <a:avLst/>
          </a:prstGeom>
        </p:spPr>
        <p:txBody>
          <a:bodyPr wrap="square">
            <a:spAutoFit/>
          </a:bodyPr>
          <a:lstStyle/>
          <a:p>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1" dirty="0">
                <a:solidFill>
                  <a:srgbClr val="05088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Title:</a:t>
            </a:r>
            <a:br>
              <a:rPr lang="en-US" dirty="0">
                <a:latin typeface="Times New Roman" panose="02020603050405020304" pitchFamily="18" charset="0"/>
                <a:cs typeface="Times New Roman" panose="02020603050405020304" pitchFamily="18" charset="0"/>
              </a:rPr>
            </a:b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Application of Sparse Identification of Non-linear Dynamics (SINDy) and Artificial Neural Network (ANN) algorithm, for Magnetoelectric Sensor/Actuator Modelling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1" dirty="0">
                <a:solidFill>
                  <a:srgbClr val="05088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Author</a:t>
            </a:r>
          </a:p>
          <a:p>
            <a:r>
              <a:rPr lang="en-US" dirty="0">
                <a:latin typeface="Times New Roman" panose="02020603050405020304" pitchFamily="18" charset="0"/>
                <a:cs typeface="Times New Roman" panose="02020603050405020304" pitchFamily="18" charset="0"/>
              </a:rPr>
              <a:t>MD SAIDUL ISLAM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p>
          <a:p>
            <a:r>
              <a:rPr lang="en-US" b="1" dirty="0">
                <a:solidFill>
                  <a:srgbClr val="05088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Supervisor</a:t>
            </a:r>
            <a:endParaRPr lang="en-US" sz="2400" b="1" dirty="0">
              <a:solidFill>
                <a:srgbClr val="05088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Dr. Mohammad Sadeghi</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1" dirty="0">
                <a:solidFill>
                  <a:srgbClr val="05088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Examiners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Prof. Dr. </a:t>
            </a:r>
            <a:r>
              <a:rPr lang="en-US" dirty="0" err="1">
                <a:latin typeface="Times New Roman" panose="02020603050405020304" pitchFamily="18" charset="0"/>
                <a:cs typeface="Times New Roman" panose="02020603050405020304" pitchFamily="18" charset="0"/>
              </a:rPr>
              <a:t>rer</a:t>
            </a:r>
            <a:r>
              <a:rPr lang="en-US" dirty="0">
                <a:latin typeface="Times New Roman" panose="02020603050405020304" pitchFamily="18" charset="0"/>
                <a:cs typeface="Times New Roman" panose="02020603050405020304" pitchFamily="18" charset="0"/>
              </a:rPr>
              <a:t>. nat. Franz Faupel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Prof. Dr. Stephan Wulfinghoff</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Sep 2023 </a:t>
            </a:r>
          </a:p>
        </p:txBody>
      </p:sp>
      <p:sp>
        <p:nvSpPr>
          <p:cNvPr id="9" name="Rectangle 8">
            <a:extLst>
              <a:ext uri="{FF2B5EF4-FFF2-40B4-BE49-F238E27FC236}">
                <a16:creationId xmlns:a16="http://schemas.microsoft.com/office/drawing/2014/main" id="{0121AC0A-A027-4087-A5F6-F04110E65309}"/>
              </a:ext>
            </a:extLst>
          </p:cNvPr>
          <p:cNvSpPr/>
          <p:nvPr/>
        </p:nvSpPr>
        <p:spPr>
          <a:xfrm>
            <a:off x="221470" y="342346"/>
            <a:ext cx="3279937" cy="523220"/>
          </a:xfrm>
          <a:prstGeom prst="rect">
            <a:avLst/>
          </a:prstGeom>
        </p:spPr>
        <p:txBody>
          <a:bodyPr wrap="none">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Master thesis report</a:t>
            </a:r>
          </a:p>
        </p:txBody>
      </p:sp>
      <p:pic>
        <p:nvPicPr>
          <p:cNvPr id="2" name="Picture 1">
            <a:extLst>
              <a:ext uri="{FF2B5EF4-FFF2-40B4-BE49-F238E27FC236}">
                <a16:creationId xmlns:a16="http://schemas.microsoft.com/office/drawing/2014/main" id="{26BD2096-28E2-43CD-A703-0A0C2A525BE3}"/>
              </a:ext>
            </a:extLst>
          </p:cNvPr>
          <p:cNvPicPr>
            <a:picLocks noChangeAspect="1"/>
          </p:cNvPicPr>
          <p:nvPr/>
        </p:nvPicPr>
        <p:blipFill>
          <a:blip r:embed="rId2"/>
          <a:stretch>
            <a:fillRect/>
          </a:stretch>
        </p:blipFill>
        <p:spPr>
          <a:xfrm>
            <a:off x="11068050" y="5824737"/>
            <a:ext cx="1123950" cy="733425"/>
          </a:xfrm>
          <a:prstGeom prst="rect">
            <a:avLst/>
          </a:prstGeom>
        </p:spPr>
      </p:pic>
    </p:spTree>
    <p:extLst>
      <p:ext uri="{BB962C8B-B14F-4D97-AF65-F5344CB8AC3E}">
        <p14:creationId xmlns:p14="http://schemas.microsoft.com/office/powerpoint/2010/main" val="1037803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6953900-5B56-A1BB-6629-7722E9C570B6}"/>
              </a:ext>
            </a:extLst>
          </p:cNvPr>
          <p:cNvSpPr>
            <a:spLocks noGrp="1"/>
          </p:cNvSpPr>
          <p:nvPr>
            <p:ph type="subTitle" idx="1"/>
          </p:nvPr>
        </p:nvSpPr>
        <p:spPr>
          <a:xfrm>
            <a:off x="323935" y="6226941"/>
            <a:ext cx="3757378" cy="464376"/>
          </a:xfrm>
        </p:spPr>
        <p:txBody>
          <a:bodyPr/>
          <a:lstStyle/>
          <a:p>
            <a:r>
              <a:rPr lang="en-US" sz="1400" strike="noStrike" dirty="0">
                <a:effectLst/>
                <a:latin typeface="Arial" panose="020B0604020202020204" pitchFamily="34" charset="0"/>
                <a:hlinkClick r:id="rId2">
                  <a:extLst>
                    <a:ext uri="{A12FA001-AC4F-418D-AE19-62706E023703}">
                      <ahyp:hlinkClr xmlns:ahyp="http://schemas.microsoft.com/office/drawing/2018/hyperlinkcolor" val="tx"/>
                    </a:ext>
                  </a:extLst>
                </a:hlinkClick>
              </a:rPr>
              <a:t>https://doi.org/10.3390/nano10102072</a:t>
            </a:r>
            <a:endParaRPr lang="en-US" sz="1400" dirty="0"/>
          </a:p>
        </p:txBody>
      </p:sp>
      <p:sp>
        <p:nvSpPr>
          <p:cNvPr id="4" name="Slide Number Placeholder 3">
            <a:extLst>
              <a:ext uri="{FF2B5EF4-FFF2-40B4-BE49-F238E27FC236}">
                <a16:creationId xmlns:a16="http://schemas.microsoft.com/office/drawing/2014/main" id="{F9AB6366-6FA2-E5FD-29A3-6C7AE6BDF1E7}"/>
              </a:ext>
            </a:extLst>
          </p:cNvPr>
          <p:cNvSpPr>
            <a:spLocks noGrp="1"/>
          </p:cNvSpPr>
          <p:nvPr>
            <p:ph type="sldNum" sz="quarter" idx="11"/>
          </p:nvPr>
        </p:nvSpPr>
        <p:spPr/>
        <p:txBody>
          <a:bodyPr/>
          <a:lstStyle/>
          <a:p>
            <a:pPr>
              <a:defRPr/>
            </a:pPr>
            <a:fld id="{5F403BB7-FB0E-42F4-853B-C30323DD7E47}" type="slidenum">
              <a:rPr lang="en-US" smtClean="0"/>
              <a:pPr>
                <a:defRPr/>
              </a:pPr>
              <a:t>2</a:t>
            </a:fld>
            <a:endParaRPr lang="en-US"/>
          </a:p>
        </p:txBody>
      </p:sp>
      <p:sp>
        <p:nvSpPr>
          <p:cNvPr id="5" name="TextBox 4">
            <a:extLst>
              <a:ext uri="{FF2B5EF4-FFF2-40B4-BE49-F238E27FC236}">
                <a16:creationId xmlns:a16="http://schemas.microsoft.com/office/drawing/2014/main" id="{62F1CFF3-7811-2237-809B-9FA58A6BCEC1}"/>
              </a:ext>
            </a:extLst>
          </p:cNvPr>
          <p:cNvSpPr txBox="1"/>
          <p:nvPr/>
        </p:nvSpPr>
        <p:spPr>
          <a:xfrm>
            <a:off x="3145043" y="184520"/>
            <a:ext cx="4104549" cy="523220"/>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Motivation</a:t>
            </a:r>
            <a:endParaRPr lang="en-US" sz="2800" dirty="0">
              <a:solidFill>
                <a:schemeClr val="bg1"/>
              </a:solidFill>
              <a:latin typeface="Arial" panose="020B0604020202020204" pitchFamily="34" charset="0"/>
              <a:cs typeface="Arial" panose="020B0604020202020204" pitchFamily="34" charset="0"/>
            </a:endParaRPr>
          </a:p>
        </p:txBody>
      </p:sp>
      <p:pic>
        <p:nvPicPr>
          <p:cNvPr id="9" name="Picture 8" descr="A diagram of a machine&#10;&#10;Description automatically generated">
            <a:extLst>
              <a:ext uri="{FF2B5EF4-FFF2-40B4-BE49-F238E27FC236}">
                <a16:creationId xmlns:a16="http://schemas.microsoft.com/office/drawing/2014/main" id="{055E85C1-01A8-CBAB-8FE9-7BC07D7AA998}"/>
              </a:ext>
            </a:extLst>
          </p:cNvPr>
          <p:cNvPicPr>
            <a:picLocks noChangeAspect="1"/>
          </p:cNvPicPr>
          <p:nvPr/>
        </p:nvPicPr>
        <p:blipFill>
          <a:blip r:embed="rId3"/>
          <a:stretch>
            <a:fillRect/>
          </a:stretch>
        </p:blipFill>
        <p:spPr>
          <a:xfrm>
            <a:off x="1160425" y="1088846"/>
            <a:ext cx="6197013" cy="4516467"/>
          </a:xfrm>
          <a:prstGeom prst="rect">
            <a:avLst/>
          </a:prstGeom>
        </p:spPr>
      </p:pic>
      <p:sp>
        <p:nvSpPr>
          <p:cNvPr id="10" name="TextBox 9">
            <a:extLst>
              <a:ext uri="{FF2B5EF4-FFF2-40B4-BE49-F238E27FC236}">
                <a16:creationId xmlns:a16="http://schemas.microsoft.com/office/drawing/2014/main" id="{BBCA58E8-E07E-D0E2-EDA2-FFF3AA8BBC79}"/>
              </a:ext>
            </a:extLst>
          </p:cNvPr>
          <p:cNvSpPr txBox="1"/>
          <p:nvPr/>
        </p:nvSpPr>
        <p:spPr>
          <a:xfrm>
            <a:off x="7389223" y="2746914"/>
            <a:ext cx="4370864" cy="923330"/>
          </a:xfrm>
          <a:prstGeom prst="rect">
            <a:avLst/>
          </a:prstGeom>
          <a:noFill/>
        </p:spPr>
        <p:txBody>
          <a:bodyPr wrap="square" rtlCol="0">
            <a:spAutoFit/>
          </a:bodyPr>
          <a:lstStyle/>
          <a:p>
            <a:pPr marL="285750" indent="-285750">
              <a:buFont typeface="Arial" panose="020B0604020202020204" pitchFamily="34" charset="0"/>
              <a:buChar char="•"/>
            </a:pPr>
            <a:r>
              <a:rPr lang="de-DE" sz="1800" dirty="0">
                <a:latin typeface="Arial" panose="020B0604020202020204" pitchFamily="34" charset="0"/>
                <a:cs typeface="Arial" panose="020B0604020202020204" pitchFamily="34" charset="0"/>
              </a:rPr>
              <a:t>Understanding the nonlinear dynamics</a:t>
            </a:r>
          </a:p>
          <a:p>
            <a:pPr marL="285750" indent="-285750">
              <a:buFont typeface="Arial" panose="020B0604020202020204" pitchFamily="34" charset="0"/>
              <a:buChar char="•"/>
            </a:pPr>
            <a:r>
              <a:rPr lang="de-DE" sz="1800" dirty="0">
                <a:latin typeface="Arial" panose="020B0604020202020204" pitchFamily="34" charset="0"/>
                <a:cs typeface="Arial" panose="020B0604020202020204" pitchFamily="34" charset="0"/>
              </a:rPr>
              <a:t>Prediction of the nonlinear response.--- Control/exploit the nonlinearity</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0633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C11C44-3CAE-4211-A4D0-27D2A72D656A}"/>
              </a:ext>
            </a:extLst>
          </p:cNvPr>
          <p:cNvSpPr/>
          <p:nvPr/>
        </p:nvSpPr>
        <p:spPr>
          <a:xfrm>
            <a:off x="138143" y="214776"/>
            <a:ext cx="8002680"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Introduction: The ME effect (DME/CME)</a:t>
            </a:r>
          </a:p>
        </p:txBody>
      </p:sp>
      <p:sp>
        <p:nvSpPr>
          <p:cNvPr id="17" name="Slide Number Placeholder 3">
            <a:extLst>
              <a:ext uri="{FF2B5EF4-FFF2-40B4-BE49-F238E27FC236}">
                <a16:creationId xmlns:a16="http://schemas.microsoft.com/office/drawing/2014/main" id="{2925F5AC-A903-4DDD-B8ED-A64ED3EC0275}"/>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3</a:t>
            </a:fld>
            <a:endParaRPr lang="en-US" sz="2000" dirty="0">
              <a:latin typeface="Times New Roman" panose="02020603050405020304" pitchFamily="18" charset="0"/>
              <a:cs typeface="Times New Roman" panose="02020603050405020304" pitchFamily="18" charset="0"/>
            </a:endParaRPr>
          </a:p>
        </p:txBody>
      </p:sp>
      <p:pic>
        <p:nvPicPr>
          <p:cNvPr id="3" name="Picture 2" descr="A diagram of different types of objects&#10;&#10;Description automatically generated with medium confidence">
            <a:extLst>
              <a:ext uri="{FF2B5EF4-FFF2-40B4-BE49-F238E27FC236}">
                <a16:creationId xmlns:a16="http://schemas.microsoft.com/office/drawing/2014/main" id="{37D60CB6-1D09-E327-A24A-5A32AAE975A1}"/>
              </a:ext>
            </a:extLst>
          </p:cNvPr>
          <p:cNvPicPr>
            <a:picLocks noChangeAspect="1"/>
          </p:cNvPicPr>
          <p:nvPr/>
        </p:nvPicPr>
        <p:blipFill>
          <a:blip r:embed="rId3"/>
          <a:stretch>
            <a:fillRect/>
          </a:stretch>
        </p:blipFill>
        <p:spPr>
          <a:xfrm>
            <a:off x="545977" y="2483015"/>
            <a:ext cx="3829003" cy="1101294"/>
          </a:xfrm>
          <a:prstGeom prst="rect">
            <a:avLst/>
          </a:prstGeom>
        </p:spPr>
      </p:pic>
      <p:pic>
        <p:nvPicPr>
          <p:cNvPr id="9" name="Picture 8" descr="A diagram of a cylinder with a voltmeter and a gauge&#10;&#10;Description automatically generated">
            <a:extLst>
              <a:ext uri="{FF2B5EF4-FFF2-40B4-BE49-F238E27FC236}">
                <a16:creationId xmlns:a16="http://schemas.microsoft.com/office/drawing/2014/main" id="{45BF5D2B-40AB-29DF-EC4E-0C3A0F986EC0}"/>
              </a:ext>
            </a:extLst>
          </p:cNvPr>
          <p:cNvPicPr>
            <a:picLocks noChangeAspect="1"/>
          </p:cNvPicPr>
          <p:nvPr/>
        </p:nvPicPr>
        <p:blipFill>
          <a:blip r:embed="rId4"/>
          <a:stretch>
            <a:fillRect/>
          </a:stretch>
        </p:blipFill>
        <p:spPr>
          <a:xfrm>
            <a:off x="8818485" y="1814461"/>
            <a:ext cx="2438400" cy="2438400"/>
          </a:xfrm>
          <a:prstGeom prst="rect">
            <a:avLst/>
          </a:prstGeom>
        </p:spPr>
      </p:pic>
      <p:sp>
        <p:nvSpPr>
          <p:cNvPr id="10" name="Plus Sign 9">
            <a:extLst>
              <a:ext uri="{FF2B5EF4-FFF2-40B4-BE49-F238E27FC236}">
                <a16:creationId xmlns:a16="http://schemas.microsoft.com/office/drawing/2014/main" id="{BD2FBFE8-B152-EAE0-521F-DC62656EC4A9}"/>
              </a:ext>
            </a:extLst>
          </p:cNvPr>
          <p:cNvSpPr/>
          <p:nvPr/>
        </p:nvSpPr>
        <p:spPr bwMode="auto">
          <a:xfrm>
            <a:off x="6095144" y="2590237"/>
            <a:ext cx="1003177" cy="886849"/>
          </a:xfrm>
          <a:prstGeom prst="mathPlu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11" name="TextBox 10">
            <a:extLst>
              <a:ext uri="{FF2B5EF4-FFF2-40B4-BE49-F238E27FC236}">
                <a16:creationId xmlns:a16="http://schemas.microsoft.com/office/drawing/2014/main" id="{16DDA536-2396-BA00-51A4-72AB3BD4B4BB}"/>
              </a:ext>
            </a:extLst>
          </p:cNvPr>
          <p:cNvSpPr txBox="1"/>
          <p:nvPr/>
        </p:nvSpPr>
        <p:spPr>
          <a:xfrm>
            <a:off x="492711" y="6121618"/>
            <a:ext cx="3599101"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Image source: </a:t>
            </a:r>
            <a:r>
              <a:rPr lang="en-US" sz="1400" b="0" i="0" dirty="0">
                <a:solidFill>
                  <a:srgbClr val="000000"/>
                </a:solidFill>
                <a:effectLst/>
                <a:latin typeface="Tahoma" panose="020B0604030504040204" pitchFamily="34" charset="0"/>
              </a:rPr>
              <a:t>LibreTexts/magnetostriction</a:t>
            </a:r>
            <a:endParaRPr lang="en-US" sz="14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D5EF30FE-5B65-DC31-3575-6A911A345E80}"/>
              </a:ext>
            </a:extLst>
          </p:cNvPr>
          <p:cNvSpPr txBox="1"/>
          <p:nvPr/>
        </p:nvSpPr>
        <p:spPr>
          <a:xfrm>
            <a:off x="7928206" y="6157500"/>
            <a:ext cx="3742971"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Image source: </a:t>
            </a:r>
            <a:r>
              <a:rPr lang="en-US" sz="1400" b="0" i="0" dirty="0">
                <a:solidFill>
                  <a:srgbClr val="000000"/>
                </a:solidFill>
                <a:effectLst/>
                <a:latin typeface="Tahoma" panose="020B0604030504040204" pitchFamily="34" charset="0"/>
              </a:rPr>
              <a:t>Wikipedia/Piezoelectric sensor</a:t>
            </a:r>
            <a:endParaRPr lang="en-US" sz="140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D4F0F0CF-6A83-726F-4ECB-1F7607915D18}"/>
              </a:ext>
            </a:extLst>
          </p:cNvPr>
          <p:cNvSpPr/>
          <p:nvPr/>
        </p:nvSpPr>
        <p:spPr>
          <a:xfrm>
            <a:off x="4433585" y="4866627"/>
            <a:ext cx="4236544" cy="338554"/>
          </a:xfrm>
          <a:prstGeom prst="rect">
            <a:avLst/>
          </a:prstGeom>
        </p:spPr>
        <p:txBody>
          <a:bodyPr wrap="none">
            <a:spAutoFit/>
          </a:bodyPr>
          <a:lstStyle/>
          <a:p>
            <a:r>
              <a:rPr lang="en-US" sz="1600" dirty="0">
                <a:solidFill>
                  <a:srgbClr val="05088D"/>
                </a:solidFill>
                <a:latin typeface="Times New Roman" panose="02020603050405020304" pitchFamily="18" charset="0"/>
                <a:cs typeface="Times New Roman" panose="02020603050405020304" pitchFamily="18" charset="0"/>
              </a:rPr>
              <a:t>Fig.  Breakdown of Magnetoelectric (ME) effect.</a:t>
            </a:r>
            <a:endParaRPr lang="en-US" sz="1600" dirty="0">
              <a:solidFill>
                <a:srgbClr val="05088D"/>
              </a:solidFill>
            </a:endParaRPr>
          </a:p>
        </p:txBody>
      </p:sp>
    </p:spTree>
    <p:extLst>
      <p:ext uri="{BB962C8B-B14F-4D97-AF65-F5344CB8AC3E}">
        <p14:creationId xmlns:p14="http://schemas.microsoft.com/office/powerpoint/2010/main" val="231933775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C11C44-3CAE-4211-A4D0-27D2A72D656A}"/>
              </a:ext>
            </a:extLst>
          </p:cNvPr>
          <p:cNvSpPr/>
          <p:nvPr/>
        </p:nvSpPr>
        <p:spPr>
          <a:xfrm>
            <a:off x="138143" y="214776"/>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Introduction: The ME sensor </a:t>
            </a:r>
          </a:p>
        </p:txBody>
      </p:sp>
      <p:sp>
        <p:nvSpPr>
          <p:cNvPr id="6" name="Rectangle 5">
            <a:extLst>
              <a:ext uri="{FF2B5EF4-FFF2-40B4-BE49-F238E27FC236}">
                <a16:creationId xmlns:a16="http://schemas.microsoft.com/office/drawing/2014/main" id="{663C3633-7352-4E22-8426-3F48F3499611}"/>
              </a:ext>
            </a:extLst>
          </p:cNvPr>
          <p:cNvSpPr/>
          <p:nvPr/>
        </p:nvSpPr>
        <p:spPr>
          <a:xfrm>
            <a:off x="4626190" y="6383228"/>
            <a:ext cx="6096000" cy="307777"/>
          </a:xfrm>
          <a:prstGeom prst="rect">
            <a:avLst/>
          </a:prstGeom>
        </p:spPr>
        <p:txBody>
          <a:bodyPr>
            <a:spAutoFit/>
          </a:bodyPr>
          <a:lstStyle/>
          <a:p>
            <a:r>
              <a:rPr lang="en-US" sz="1400" b="1" dirty="0">
                <a:latin typeface="Times New Roman" panose="02020603050405020304" pitchFamily="18" charset="0"/>
                <a:cs typeface="Times New Roman" panose="02020603050405020304" pitchFamily="18" charset="0"/>
              </a:rPr>
              <a:t>Ref: DOI</a:t>
            </a:r>
            <a:r>
              <a:rPr lang="en-US" sz="1400" dirty="0">
                <a:latin typeface="Times New Roman" panose="02020603050405020304" pitchFamily="18" charset="0"/>
                <a:cs typeface="Times New Roman" panose="02020603050405020304" pitchFamily="18" charset="0"/>
              </a:rPr>
              <a:t> 10.1088/0953-8984/20/43/434220</a:t>
            </a:r>
          </a:p>
        </p:txBody>
      </p:sp>
      <p:pic>
        <p:nvPicPr>
          <p:cNvPr id="9" name="Picture 8">
            <a:extLst>
              <a:ext uri="{FF2B5EF4-FFF2-40B4-BE49-F238E27FC236}">
                <a16:creationId xmlns:a16="http://schemas.microsoft.com/office/drawing/2014/main" id="{59C6BBC4-E215-452A-8238-240D17F19704}"/>
              </a:ext>
            </a:extLst>
          </p:cNvPr>
          <p:cNvPicPr>
            <a:picLocks noChangeAspect="1"/>
          </p:cNvPicPr>
          <p:nvPr/>
        </p:nvPicPr>
        <p:blipFill>
          <a:blip r:embed="rId3"/>
          <a:stretch>
            <a:fillRect/>
          </a:stretch>
        </p:blipFill>
        <p:spPr>
          <a:xfrm>
            <a:off x="5790398" y="1916529"/>
            <a:ext cx="5989388" cy="2738568"/>
          </a:xfrm>
          <a:prstGeom prst="rect">
            <a:avLst/>
          </a:prstGeom>
        </p:spPr>
      </p:pic>
      <p:sp>
        <p:nvSpPr>
          <p:cNvPr id="13" name="Rectangle 12">
            <a:extLst>
              <a:ext uri="{FF2B5EF4-FFF2-40B4-BE49-F238E27FC236}">
                <a16:creationId xmlns:a16="http://schemas.microsoft.com/office/drawing/2014/main" id="{A25F0F7C-474C-4D60-952E-1CBC9893385D}"/>
              </a:ext>
            </a:extLst>
          </p:cNvPr>
          <p:cNvSpPr/>
          <p:nvPr/>
        </p:nvSpPr>
        <p:spPr>
          <a:xfrm>
            <a:off x="7705817" y="5772075"/>
            <a:ext cx="3764433" cy="338554"/>
          </a:xfrm>
          <a:prstGeom prst="rect">
            <a:avLst/>
          </a:prstGeom>
        </p:spPr>
        <p:txBody>
          <a:bodyPr wrap="square">
            <a:spAutoFit/>
          </a:bodyPr>
          <a:lstStyle/>
          <a:p>
            <a:r>
              <a:rPr lang="en-US" sz="1600" dirty="0">
                <a:solidFill>
                  <a:srgbClr val="05088D"/>
                </a:solidFill>
                <a:latin typeface="Times New Roman" panose="02020603050405020304" pitchFamily="18" charset="0"/>
                <a:cs typeface="Times New Roman" panose="02020603050405020304" pitchFamily="18" charset="0"/>
              </a:rPr>
              <a:t>Fig. Magnetoelectric Sensor configuration.</a:t>
            </a:r>
            <a:endParaRPr lang="en-US" sz="1600" dirty="0">
              <a:solidFill>
                <a:srgbClr val="05088D"/>
              </a:solidFill>
            </a:endParaRPr>
          </a:p>
        </p:txBody>
      </p:sp>
      <p:sp>
        <p:nvSpPr>
          <p:cNvPr id="14" name="Slide Number Placeholder 3">
            <a:extLst>
              <a:ext uri="{FF2B5EF4-FFF2-40B4-BE49-F238E27FC236}">
                <a16:creationId xmlns:a16="http://schemas.microsoft.com/office/drawing/2014/main" id="{2B391F2A-FE83-4FB8-B902-07024782D5E6}"/>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4</a:t>
            </a:fld>
            <a:endParaRPr lang="en-US" sz="2000" dirty="0">
              <a:latin typeface="Times New Roman" panose="02020603050405020304" pitchFamily="18" charset="0"/>
              <a:cs typeface="Times New Roman" panose="02020603050405020304" pitchFamily="18" charset="0"/>
            </a:endParaRPr>
          </a:p>
        </p:txBody>
      </p:sp>
      <p:pic>
        <p:nvPicPr>
          <p:cNvPr id="2" name="Picture 1" descr="A green electronic device with a small chip&#10;&#10;Description automatically generated with medium confidence">
            <a:extLst>
              <a:ext uri="{FF2B5EF4-FFF2-40B4-BE49-F238E27FC236}">
                <a16:creationId xmlns:a16="http://schemas.microsoft.com/office/drawing/2014/main" id="{973A678E-C01C-0684-ABDB-D91A2B6A6F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4971" y="1895807"/>
            <a:ext cx="3216866" cy="3066386"/>
          </a:xfrm>
          <a:prstGeom prst="rect">
            <a:avLst/>
          </a:prstGeom>
        </p:spPr>
      </p:pic>
      <p:sp>
        <p:nvSpPr>
          <p:cNvPr id="5" name="Rectangle 4">
            <a:extLst>
              <a:ext uri="{FF2B5EF4-FFF2-40B4-BE49-F238E27FC236}">
                <a16:creationId xmlns:a16="http://schemas.microsoft.com/office/drawing/2014/main" id="{F310AF40-2DB5-E6F6-09B4-9F5F12A311F4}"/>
              </a:ext>
            </a:extLst>
          </p:cNvPr>
          <p:cNvSpPr/>
          <p:nvPr/>
        </p:nvSpPr>
        <p:spPr>
          <a:xfrm>
            <a:off x="645106" y="5741299"/>
            <a:ext cx="2851165" cy="338554"/>
          </a:xfrm>
          <a:prstGeom prst="rect">
            <a:avLst/>
          </a:prstGeom>
        </p:spPr>
        <p:txBody>
          <a:bodyPr wrap="none">
            <a:spAutoFit/>
          </a:bodyPr>
          <a:lstStyle/>
          <a:p>
            <a:r>
              <a:rPr lang="en-US" sz="1600" dirty="0">
                <a:solidFill>
                  <a:srgbClr val="05088D"/>
                </a:solidFill>
                <a:latin typeface="Times New Roman" panose="02020603050405020304" pitchFamily="18" charset="0"/>
                <a:cs typeface="Times New Roman" panose="02020603050405020304" pitchFamily="18" charset="0"/>
              </a:rPr>
              <a:t>Fig.  Utilized sensor-coil system</a:t>
            </a:r>
            <a:endParaRPr lang="en-US" sz="1600" dirty="0">
              <a:solidFill>
                <a:srgbClr val="05088D"/>
              </a:solidFill>
            </a:endParaRPr>
          </a:p>
        </p:txBody>
      </p:sp>
    </p:spTree>
    <p:extLst>
      <p:ext uri="{BB962C8B-B14F-4D97-AF65-F5344CB8AC3E}">
        <p14:creationId xmlns:p14="http://schemas.microsoft.com/office/powerpoint/2010/main" val="2739063540"/>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C11C44-3CAE-4211-A4D0-27D2A72D656A}"/>
              </a:ext>
            </a:extLst>
          </p:cNvPr>
          <p:cNvSpPr/>
          <p:nvPr/>
        </p:nvSpPr>
        <p:spPr>
          <a:xfrm>
            <a:off x="138143" y="214776"/>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Introduction: Magnetic characterization</a:t>
            </a:r>
          </a:p>
        </p:txBody>
      </p:sp>
      <p:sp>
        <p:nvSpPr>
          <p:cNvPr id="21" name="Slide Number Placeholder 3">
            <a:extLst>
              <a:ext uri="{FF2B5EF4-FFF2-40B4-BE49-F238E27FC236}">
                <a16:creationId xmlns:a16="http://schemas.microsoft.com/office/drawing/2014/main" id="{91EFBCC4-2979-4E79-B378-5E25FFCAA811}"/>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5</a:t>
            </a:fld>
            <a:endParaRPr lang="en-US" sz="2000" dirty="0">
              <a:latin typeface="Times New Roman" panose="02020603050405020304" pitchFamily="18" charset="0"/>
              <a:cs typeface="Times New Roman" panose="02020603050405020304" pitchFamily="18" charset="0"/>
            </a:endParaRPr>
          </a:p>
        </p:txBody>
      </p:sp>
      <p:pic>
        <p:nvPicPr>
          <p:cNvPr id="8" name="Picture 7" descr="A graph of a line&#10;&#10;Description automatically generated">
            <a:extLst>
              <a:ext uri="{FF2B5EF4-FFF2-40B4-BE49-F238E27FC236}">
                <a16:creationId xmlns:a16="http://schemas.microsoft.com/office/drawing/2014/main" id="{D1D0F8FE-1446-5A6C-FED3-C4B2E8892C10}"/>
              </a:ext>
            </a:extLst>
          </p:cNvPr>
          <p:cNvPicPr>
            <a:picLocks noChangeAspect="1"/>
          </p:cNvPicPr>
          <p:nvPr/>
        </p:nvPicPr>
        <p:blipFill>
          <a:blip r:embed="rId2"/>
          <a:stretch>
            <a:fillRect/>
          </a:stretch>
        </p:blipFill>
        <p:spPr>
          <a:xfrm>
            <a:off x="146850" y="1271140"/>
            <a:ext cx="5875603" cy="4497138"/>
          </a:xfrm>
          <a:prstGeom prst="rect">
            <a:avLst/>
          </a:prstGeom>
        </p:spPr>
      </p:pic>
      <p:pic>
        <p:nvPicPr>
          <p:cNvPr id="3" name="Picture 2" descr="A graph of a function&#10;&#10;Description automatically generated">
            <a:extLst>
              <a:ext uri="{FF2B5EF4-FFF2-40B4-BE49-F238E27FC236}">
                <a16:creationId xmlns:a16="http://schemas.microsoft.com/office/drawing/2014/main" id="{AF35D40D-F04F-C10C-C692-987DA8710DC1}"/>
              </a:ext>
            </a:extLst>
          </p:cNvPr>
          <p:cNvPicPr>
            <a:picLocks noChangeAspect="1"/>
          </p:cNvPicPr>
          <p:nvPr/>
        </p:nvPicPr>
        <p:blipFill>
          <a:blip r:embed="rId3"/>
          <a:stretch>
            <a:fillRect/>
          </a:stretch>
        </p:blipFill>
        <p:spPr>
          <a:xfrm>
            <a:off x="5679121" y="1156053"/>
            <a:ext cx="6176329" cy="4727311"/>
          </a:xfrm>
          <a:prstGeom prst="rect">
            <a:avLst/>
          </a:prstGeom>
        </p:spPr>
      </p:pic>
      <p:sp>
        <p:nvSpPr>
          <p:cNvPr id="5" name="Rectangle 4">
            <a:extLst>
              <a:ext uri="{FF2B5EF4-FFF2-40B4-BE49-F238E27FC236}">
                <a16:creationId xmlns:a16="http://schemas.microsoft.com/office/drawing/2014/main" id="{9C803E6B-F5B8-DEA7-BB27-94CAD56AE3FE}"/>
              </a:ext>
            </a:extLst>
          </p:cNvPr>
          <p:cNvSpPr/>
          <p:nvPr/>
        </p:nvSpPr>
        <p:spPr>
          <a:xfrm>
            <a:off x="2769972" y="6347531"/>
            <a:ext cx="6487545" cy="338554"/>
          </a:xfrm>
          <a:prstGeom prst="rect">
            <a:avLst/>
          </a:prstGeom>
        </p:spPr>
        <p:txBody>
          <a:bodyPr wrap="none">
            <a:spAutoFit/>
          </a:bodyPr>
          <a:lstStyle/>
          <a:p>
            <a:r>
              <a:rPr lang="en-US" sz="1600" dirty="0">
                <a:solidFill>
                  <a:srgbClr val="05088D"/>
                </a:solidFill>
                <a:latin typeface="Times New Roman" panose="02020603050405020304" pitchFamily="18" charset="0"/>
                <a:cs typeface="Times New Roman" panose="02020603050405020304" pitchFamily="18" charset="0"/>
              </a:rPr>
              <a:t>Fig.  Left: B-H characterization; Right: ME coupling factor vs. Applied field</a:t>
            </a:r>
            <a:endParaRPr lang="en-US" sz="1600" dirty="0">
              <a:solidFill>
                <a:srgbClr val="05088D"/>
              </a:solidFill>
            </a:endParaRPr>
          </a:p>
        </p:txBody>
      </p:sp>
    </p:spTree>
    <p:extLst>
      <p:ext uri="{BB962C8B-B14F-4D97-AF65-F5344CB8AC3E}">
        <p14:creationId xmlns:p14="http://schemas.microsoft.com/office/powerpoint/2010/main" val="1155498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C11C44-3CAE-4211-A4D0-27D2A72D656A}"/>
              </a:ext>
            </a:extLst>
          </p:cNvPr>
          <p:cNvSpPr/>
          <p:nvPr/>
        </p:nvSpPr>
        <p:spPr>
          <a:xfrm>
            <a:off x="138143" y="214776"/>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Introduction: Nonlinearity sources</a:t>
            </a:r>
          </a:p>
        </p:txBody>
      </p:sp>
      <p:sp>
        <p:nvSpPr>
          <p:cNvPr id="21" name="Slide Number Placeholder 3">
            <a:extLst>
              <a:ext uri="{FF2B5EF4-FFF2-40B4-BE49-F238E27FC236}">
                <a16:creationId xmlns:a16="http://schemas.microsoft.com/office/drawing/2014/main" id="{91EFBCC4-2979-4E79-B378-5E25FFCAA811}"/>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6</a:t>
            </a:fld>
            <a:endParaRPr lang="en-US"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3060F55-424C-E125-3B39-8A1838DF1FB3}"/>
              </a:ext>
            </a:extLst>
          </p:cNvPr>
          <p:cNvSpPr txBox="1"/>
          <p:nvPr/>
        </p:nvSpPr>
        <p:spPr>
          <a:xfrm>
            <a:off x="840590" y="1841102"/>
            <a:ext cx="2050225" cy="646331"/>
          </a:xfrm>
          <a:prstGeom prst="rect">
            <a:avLst/>
          </a:prstGeom>
          <a:noFill/>
        </p:spPr>
        <p:txBody>
          <a:bodyPr wrap="square" rtlCol="0">
            <a:spAutoFit/>
          </a:bodyPr>
          <a:lstStyle/>
          <a:p>
            <a:r>
              <a:rPr lang="de-DE" sz="1800" b="1" dirty="0">
                <a:solidFill>
                  <a:schemeClr val="bg2"/>
                </a:solidFill>
                <a:latin typeface="Arial" panose="020B0604020202020204" pitchFamily="34" charset="0"/>
                <a:cs typeface="Arial" panose="020B0604020202020204" pitchFamily="34" charset="0"/>
              </a:rPr>
              <a:t>Intended/Excited nonlinearity</a:t>
            </a:r>
            <a:endParaRPr lang="en-US" sz="1800" b="1" dirty="0">
              <a:solidFill>
                <a:schemeClr val="bg2"/>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6F9682E-856A-D0EA-C52B-C1FEDA3182FA}"/>
              </a:ext>
            </a:extLst>
          </p:cNvPr>
          <p:cNvSpPr txBox="1"/>
          <p:nvPr/>
        </p:nvSpPr>
        <p:spPr>
          <a:xfrm>
            <a:off x="8192694" y="1841101"/>
            <a:ext cx="3399273" cy="646331"/>
          </a:xfrm>
          <a:prstGeom prst="rect">
            <a:avLst/>
          </a:prstGeom>
          <a:noFill/>
        </p:spPr>
        <p:txBody>
          <a:bodyPr wrap="square" rtlCol="0">
            <a:spAutoFit/>
          </a:bodyPr>
          <a:lstStyle/>
          <a:p>
            <a:r>
              <a:rPr lang="de-DE" sz="1800" b="1" dirty="0">
                <a:latin typeface="Arial" panose="020B0604020202020204" pitchFamily="34" charset="0"/>
                <a:cs typeface="Arial" panose="020B0604020202020204" pitchFamily="34" charset="0"/>
              </a:rPr>
              <a:t>Amplification induced/Source nonlinearity</a:t>
            </a:r>
            <a:endParaRPr lang="en-US" sz="1800" b="1" dirty="0">
              <a:latin typeface="Arial" panose="020B0604020202020204" pitchFamily="34" charset="0"/>
              <a:cs typeface="Arial" panose="020B0604020202020204" pitchFamily="34" charset="0"/>
            </a:endParaRPr>
          </a:p>
        </p:txBody>
      </p:sp>
      <p:pic>
        <p:nvPicPr>
          <p:cNvPr id="11" name="Picture 10" descr="A black background with a black square&#10;&#10;Description automatically generated with medium confidence">
            <a:extLst>
              <a:ext uri="{FF2B5EF4-FFF2-40B4-BE49-F238E27FC236}">
                <a16:creationId xmlns:a16="http://schemas.microsoft.com/office/drawing/2014/main" id="{993F070C-6724-7E6C-51B3-5DB153081AA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067975" y="2870957"/>
            <a:ext cx="3648710" cy="443230"/>
          </a:xfrm>
          <a:prstGeom prst="rect">
            <a:avLst/>
          </a:prstGeom>
        </p:spPr>
      </p:pic>
      <p:pic>
        <p:nvPicPr>
          <p:cNvPr id="3" name="Picture 2" descr="Chart&#10;&#10;Description automatically generated">
            <a:extLst>
              <a:ext uri="{FF2B5EF4-FFF2-40B4-BE49-F238E27FC236}">
                <a16:creationId xmlns:a16="http://schemas.microsoft.com/office/drawing/2014/main" id="{B6A3A9A4-347C-FFCF-6AEA-BD3C74A0050F}"/>
              </a:ext>
            </a:extLst>
          </p:cNvPr>
          <p:cNvPicPr>
            <a:picLocks noChangeAspect="1"/>
          </p:cNvPicPr>
          <p:nvPr/>
        </p:nvPicPr>
        <p:blipFill>
          <a:blip r:embed="rId3"/>
          <a:stretch>
            <a:fillRect/>
          </a:stretch>
        </p:blipFill>
        <p:spPr>
          <a:xfrm>
            <a:off x="138143" y="2487432"/>
            <a:ext cx="5394005" cy="3259295"/>
          </a:xfrm>
          <a:prstGeom prst="rect">
            <a:avLst/>
          </a:prstGeom>
        </p:spPr>
      </p:pic>
      <p:sp>
        <p:nvSpPr>
          <p:cNvPr id="7" name="Rectangle 6">
            <a:extLst>
              <a:ext uri="{FF2B5EF4-FFF2-40B4-BE49-F238E27FC236}">
                <a16:creationId xmlns:a16="http://schemas.microsoft.com/office/drawing/2014/main" id="{BBC038B6-6952-F657-21F2-DDB511CEF314}"/>
              </a:ext>
            </a:extLst>
          </p:cNvPr>
          <p:cNvSpPr/>
          <p:nvPr/>
        </p:nvSpPr>
        <p:spPr>
          <a:xfrm>
            <a:off x="667100" y="6462687"/>
            <a:ext cx="6096000" cy="307777"/>
          </a:xfrm>
          <a:prstGeom prst="rect">
            <a:avLst/>
          </a:prstGeom>
        </p:spPr>
        <p:txBody>
          <a:bodyPr>
            <a:spAutoFit/>
          </a:bodyPr>
          <a:lstStyle/>
          <a:p>
            <a:r>
              <a:rPr lang="en-US" sz="1400" b="1" dirty="0">
                <a:latin typeface="Times New Roman" panose="02020603050405020304" pitchFamily="18" charset="0"/>
                <a:cs typeface="Times New Roman" panose="02020603050405020304" pitchFamily="18" charset="0"/>
              </a:rPr>
              <a:t>Ref: DOI</a:t>
            </a:r>
            <a:r>
              <a:rPr lang="en-US" sz="1400" dirty="0">
                <a:latin typeface="Times New Roman" panose="02020603050405020304" pitchFamily="18" charset="0"/>
                <a:cs typeface="Times New Roman" panose="02020603050405020304" pitchFamily="18" charset="0"/>
              </a:rPr>
              <a:t>  10.1103/PhysRevApplied.12.044001</a:t>
            </a:r>
          </a:p>
        </p:txBody>
      </p:sp>
      <p:sp>
        <p:nvSpPr>
          <p:cNvPr id="8" name="Rectangle 7">
            <a:extLst>
              <a:ext uri="{FF2B5EF4-FFF2-40B4-BE49-F238E27FC236}">
                <a16:creationId xmlns:a16="http://schemas.microsoft.com/office/drawing/2014/main" id="{7DFB46C0-4AC0-83ED-81AF-41A67C4D612D}"/>
              </a:ext>
            </a:extLst>
          </p:cNvPr>
          <p:cNvSpPr/>
          <p:nvPr/>
        </p:nvSpPr>
        <p:spPr>
          <a:xfrm>
            <a:off x="318094" y="5704111"/>
            <a:ext cx="5145441" cy="584775"/>
          </a:xfrm>
          <a:prstGeom prst="rect">
            <a:avLst/>
          </a:prstGeom>
        </p:spPr>
        <p:txBody>
          <a:bodyPr wrap="square">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Exemplary frequency response of the displacement amplitude for a nonlinear system.</a:t>
            </a:r>
            <a:endParaRPr lang="en-US" sz="1600" dirty="0">
              <a:solidFill>
                <a:srgbClr val="05088D"/>
              </a:solidFill>
            </a:endParaRPr>
          </a:p>
        </p:txBody>
      </p:sp>
      <p:sp>
        <p:nvSpPr>
          <p:cNvPr id="9" name="Rectangle 8">
            <a:extLst>
              <a:ext uri="{FF2B5EF4-FFF2-40B4-BE49-F238E27FC236}">
                <a16:creationId xmlns:a16="http://schemas.microsoft.com/office/drawing/2014/main" id="{40C44A9A-4237-F1EC-90F8-5D453CEE44AD}"/>
              </a:ext>
            </a:extLst>
          </p:cNvPr>
          <p:cNvSpPr/>
          <p:nvPr/>
        </p:nvSpPr>
        <p:spPr>
          <a:xfrm>
            <a:off x="6908416" y="3697712"/>
            <a:ext cx="5145441" cy="584775"/>
          </a:xfrm>
          <a:prstGeom prst="rect">
            <a:avLst/>
          </a:prstGeom>
        </p:spPr>
        <p:txBody>
          <a:bodyPr wrap="square">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‘Mechanical force on a rigid body’ analogy to visualize the effect of higher harmonics</a:t>
            </a:r>
            <a:endParaRPr lang="en-US" sz="1600" dirty="0">
              <a:solidFill>
                <a:srgbClr val="05088D"/>
              </a:solidFill>
            </a:endParaRPr>
          </a:p>
        </p:txBody>
      </p:sp>
    </p:spTree>
    <p:extLst>
      <p:ext uri="{BB962C8B-B14F-4D97-AF65-F5344CB8AC3E}">
        <p14:creationId xmlns:p14="http://schemas.microsoft.com/office/powerpoint/2010/main" val="647166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5F8BF71-4C7A-7E94-7DCA-010AE04E4145}"/>
                  </a:ext>
                </a:extLst>
              </p:cNvPr>
              <p:cNvSpPr>
                <a:spLocks noGrp="1"/>
              </p:cNvSpPr>
              <p:nvPr>
                <p:ph type="title"/>
              </p:nvPr>
            </p:nvSpPr>
            <p:spPr>
              <a:xfrm>
                <a:off x="910300" y="2157750"/>
                <a:ext cx="4441630" cy="443815"/>
              </a:xfrm>
            </p:spPr>
            <p:txBody>
              <a:bodyPr/>
              <a:lstStyle/>
              <a:p>
                <a:pPr/>
                <a14:m>
                  <m:oMathPara xmlns:m="http://schemas.openxmlformats.org/officeDocument/2006/math">
                    <m:oMathParaPr>
                      <m:jc m:val="centerGroup"/>
                    </m:oMathParaPr>
                    <m:oMath xmlns:m="http://schemas.openxmlformats.org/officeDocument/2006/math">
                      <m:acc>
                        <m:accPr>
                          <m:chr m:val="̈"/>
                          <m:ctrlPr>
                            <a:rPr lang="en-US" sz="1800" i="1" kern="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r>
                            <m:rPr>
                              <m:sty m:val="p"/>
                            </m:rPr>
                            <a:rPr lang="en-US" sz="1800"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U</m:t>
                          </m:r>
                        </m:e>
                      </m:acc>
                      <m:r>
                        <a:rPr lang="en-US" sz="1800" kern="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n-US" sz="1800" kern="0" cap="none"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ξ</m:t>
                      </m:r>
                      <m:acc>
                        <m:accPr>
                          <m:chr m:val="̇"/>
                          <m:ctrlPr>
                            <a:rPr lang="en-US" sz="1800" i="1"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r>
                            <m:rPr>
                              <m:sty m:val="p"/>
                            </m:rPr>
                            <a:rPr lang="en-US" sz="1800"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U</m:t>
                          </m:r>
                        </m:e>
                      </m:acc>
                      <m:r>
                        <a:rPr lang="en-US" sz="1800"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kern="0" cap="none"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αU</m:t>
                      </m:r>
                      <m:r>
                        <a:rPr lang="en-US" sz="1800"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kern="0" cap="none" smtClea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γ</m:t>
                      </m:r>
                      <m:sSup>
                        <m:sSupPr>
                          <m:ctrlPr>
                            <a:rPr lang="en-US" sz="1800" b="0" i="1" kern="0" cap="none">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de-DE" sz="1800" b="0" i="0" kern="0" cap="none" smtClea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U</m:t>
                          </m:r>
                        </m:e>
                        <m:sup>
                          <m:r>
                            <a:rPr lang="en-US" sz="1800" b="0" i="0" kern="0" cap="none">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3</m:t>
                          </m:r>
                        </m:sup>
                      </m:sSup>
                      <m:r>
                        <a:rPr lang="en-US"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kern="0" cap="none" smtClea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μ</m:t>
                      </m:r>
                      <m:sSup>
                        <m:sSupPr>
                          <m:ctrlPr>
                            <a:rPr lang="en-US" sz="1800" i="1"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sSupPr>
                        <m:e>
                          <m:acc>
                            <m:accPr>
                              <m:chr m:val="̇"/>
                              <m:ctrlPr>
                                <a:rPr lang="en-US" sz="1800" i="1"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accPr>
                            <m:e>
                              <m:r>
                                <m:rPr>
                                  <m:sty m:val="p"/>
                                </m:rPr>
                                <a:rPr lang="en-US"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U</m:t>
                              </m:r>
                            </m:e>
                          </m:acc>
                        </m:e>
                        <m:sup>
                          <m:r>
                            <a:rPr lang="en-US"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3</m:t>
                          </m:r>
                        </m:sup>
                      </m:sSup>
                      <m:r>
                        <a:rPr lang="en-US" sz="1800"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F</m:t>
                      </m:r>
                      <m:r>
                        <a:rPr lang="de-DE" sz="1800" b="1" i="0" kern="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de-DE" sz="1800" b="0" i="0" kern="0" cap="none"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cos</m:t>
                      </m:r>
                      <m:r>
                        <a:rPr lang="de-DE" sz="1800" b="1" i="0" kern="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1800"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Ωτ</m:t>
                      </m:r>
                      <m:r>
                        <a:rPr lang="en-US" sz="1800" ker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800" dirty="0">
                  <a:solidFill>
                    <a:schemeClr val="tx1"/>
                  </a:solidFill>
                </a:endParaRPr>
              </a:p>
            </p:txBody>
          </p:sp>
        </mc:Choice>
        <mc:Fallback xmlns="">
          <p:sp>
            <p:nvSpPr>
              <p:cNvPr id="2" name="Title 1">
                <a:extLst>
                  <a:ext uri="{FF2B5EF4-FFF2-40B4-BE49-F238E27FC236}">
                    <a16:creationId xmlns:a16="http://schemas.microsoft.com/office/drawing/2014/main" id="{95F8BF71-4C7A-7E94-7DCA-010AE04E4145}"/>
                  </a:ext>
                </a:extLst>
              </p:cNvPr>
              <p:cNvSpPr>
                <a:spLocks noGrp="1" noRot="1" noChangeAspect="1" noMove="1" noResize="1" noEditPoints="1" noAdjustHandles="1" noChangeArrowheads="1" noChangeShapeType="1" noTextEdit="1"/>
              </p:cNvSpPr>
              <p:nvPr>
                <p:ph type="title"/>
              </p:nvPr>
            </p:nvSpPr>
            <p:spPr>
              <a:xfrm>
                <a:off x="910300" y="2157750"/>
                <a:ext cx="4441630" cy="443815"/>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119E5AB-A5F4-DA5F-7C10-95628D5FFE08}"/>
                  </a:ext>
                </a:extLst>
              </p:cNvPr>
              <p:cNvSpPr>
                <a:spLocks noGrp="1"/>
              </p:cNvSpPr>
              <p:nvPr>
                <p:ph type="body" idx="1"/>
              </p:nvPr>
            </p:nvSpPr>
            <p:spPr>
              <a:xfrm>
                <a:off x="719467" y="1246994"/>
                <a:ext cx="5376533" cy="646331"/>
              </a:xfrm>
            </p:spPr>
            <p:txBody>
              <a:bodyPr/>
              <a:lstStyle/>
              <a:p>
                <a:pPr/>
                <a14:m>
                  <m:oMathPara xmlns:m="http://schemas.openxmlformats.org/officeDocument/2006/math">
                    <m:oMathParaPr>
                      <m:jc m:val="centerGroup"/>
                    </m:oMathParaPr>
                    <m:oMath xmlns:m="http://schemas.openxmlformats.org/officeDocument/2006/math">
                      <m:r>
                        <m:rPr>
                          <m:sty m:val="p"/>
                        </m:rPr>
                        <a:rPr lang="en-US" sz="1800" kern="0" smtClean="0">
                          <a:effectLst/>
                          <a:latin typeface="Cambria Math" panose="02040503050406030204" pitchFamily="18" charset="0"/>
                          <a:ea typeface="Calibri" panose="020F0502020204030204" pitchFamily="34" charset="0"/>
                          <a:cs typeface="Times New Roman" panose="02020603050405020304" pitchFamily="18" charset="0"/>
                        </a:rPr>
                        <m:t>m</m:t>
                      </m:r>
                      <m:f>
                        <m:f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d</m:t>
                              </m:r>
                            </m:e>
                            <m:sup>
                              <m:r>
                                <a:rPr lang="de-DE" sz="1800" kern="0">
                                  <a:effectLst/>
                                  <a:latin typeface="Cambria Math" panose="02040503050406030204" pitchFamily="18" charset="0"/>
                                  <a:ea typeface="Calibri" panose="020F0502020204030204" pitchFamily="34" charset="0"/>
                                  <a:cs typeface="Times New Roman" panose="02020603050405020304" pitchFamily="18" charset="0"/>
                                </a:rPr>
                                <m:t>2</m:t>
                              </m:r>
                            </m:sup>
                          </m:sSup>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u</m:t>
                          </m:r>
                        </m:num>
                        <m:den>
                          <m:sSup>
                            <m:sSup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dt</m:t>
                              </m:r>
                            </m:e>
                            <m:sup>
                              <m:r>
                                <a:rPr lang="de-DE" sz="1800" kern="0">
                                  <a:effectLst/>
                                  <a:latin typeface="Cambria Math" panose="02040503050406030204" pitchFamily="18" charset="0"/>
                                  <a:ea typeface="Calibri" panose="020F0502020204030204" pitchFamily="34" charset="0"/>
                                  <a:cs typeface="Times New Roman" panose="02020603050405020304" pitchFamily="18" charset="0"/>
                                </a:rPr>
                                <m:t>2</m:t>
                              </m:r>
                            </m:sup>
                          </m:sSup>
                        </m:den>
                      </m:f>
                      <m:r>
                        <a:rPr lang="de-DE" sz="1800" ker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k</m:t>
                          </m:r>
                        </m:e>
                        <m:sub>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d</m:t>
                          </m:r>
                        </m:sub>
                      </m:sSub>
                      <m:acc>
                        <m:accPr>
                          <m:chr m:val="̇"/>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accPr>
                        <m:e>
                          <m:r>
                            <m:rPr>
                              <m:sty m:val="p"/>
                            </m:rPr>
                            <a:rPr lang="de-DE" sz="1800" kern="0">
                              <a:effectLst/>
                              <a:latin typeface="Cambria Math" panose="02040503050406030204" pitchFamily="18" charset="0"/>
                              <a:ea typeface="Calibri" panose="020F0502020204030204" pitchFamily="34" charset="0"/>
                              <a:cs typeface="Times New Roman" panose="02020603050405020304" pitchFamily="18" charset="0"/>
                            </a:rPr>
                            <m:t>u</m:t>
                          </m:r>
                        </m:e>
                      </m:acc>
                      <m:r>
                        <a:rPr lang="de-DE" sz="1800" ker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k</m:t>
                          </m:r>
                        </m:e>
                        <m:sub>
                          <m:r>
                            <a:rPr lang="de-DE" sz="1800" kern="0">
                              <a:effectLst/>
                              <a:latin typeface="Cambria Math" panose="02040503050406030204" pitchFamily="18" charset="0"/>
                              <a:ea typeface="Calibri" panose="020F0502020204030204" pitchFamily="34" charset="0"/>
                              <a:cs typeface="Times New Roman" panose="02020603050405020304" pitchFamily="18" charset="0"/>
                            </a:rPr>
                            <m:t>1</m:t>
                          </m:r>
                        </m:sub>
                      </m:sSub>
                      <m:r>
                        <m:rPr>
                          <m:sty m:val="p"/>
                        </m:rPr>
                        <a:rPr lang="de-DE" sz="1800" kern="0">
                          <a:effectLst/>
                          <a:latin typeface="Cambria Math" panose="02040503050406030204" pitchFamily="18" charset="0"/>
                          <a:ea typeface="Calibri" panose="020F0502020204030204" pitchFamily="34" charset="0"/>
                          <a:cs typeface="Times New Roman" panose="02020603050405020304" pitchFamily="18" charset="0"/>
                        </a:rPr>
                        <m:t>u</m:t>
                      </m:r>
                      <m:r>
                        <a:rPr lang="de-DE" sz="1800" ker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0" smtClea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k</m:t>
                          </m:r>
                        </m:e>
                        <m:sub>
                          <m:r>
                            <a:rPr lang="de-DE"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3</m:t>
                          </m:r>
                        </m:sub>
                      </m:sSub>
                      <m:sSup>
                        <m:sSupPr>
                          <m:ctrlPr>
                            <a:rPr lang="en-US" sz="1800" i="1"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de-DE"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u</m:t>
                          </m:r>
                        </m:e>
                        <m:sup>
                          <m:r>
                            <a:rPr lang="de-DE"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3</m:t>
                          </m:r>
                        </m:sup>
                      </m:sSup>
                      <m:r>
                        <a:rPr lang="de-DE"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k</m:t>
                          </m:r>
                        </m:e>
                        <m:sub>
                          <m:r>
                            <m:rPr>
                              <m:sty m:val="p"/>
                            </m:rPr>
                            <a:rPr lang="en-US"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nd</m:t>
                          </m:r>
                        </m:sub>
                      </m:sSub>
                      <m:sSup>
                        <m:sSupPr>
                          <m:ctrlPr>
                            <a:rPr lang="en-US" sz="1800" i="1"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sSupPr>
                        <m:e>
                          <m:acc>
                            <m:accPr>
                              <m:chr m:val="̇"/>
                              <m:ctrlPr>
                                <a:rPr lang="en-US" sz="1800" i="1"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accPr>
                            <m:e>
                              <m:r>
                                <m:rPr>
                                  <m:sty m:val="p"/>
                                </m:rPr>
                                <a:rPr lang="de-DE"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u</m:t>
                              </m:r>
                            </m:e>
                          </m:acc>
                        </m:e>
                        <m:sup>
                          <m:r>
                            <a:rPr lang="de-DE" sz="1800" kern="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3</m:t>
                          </m:r>
                        </m:sup>
                      </m:sSup>
                      <m:r>
                        <a:rPr lang="de-DE" sz="1800" kern="0">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de-DE" sz="1800" kern="0">
                          <a:effectLst/>
                          <a:latin typeface="Cambria Math" panose="02040503050406030204" pitchFamily="18" charset="0"/>
                          <a:ea typeface="Calibri" panose="020F0502020204030204" pitchFamily="34" charset="0"/>
                          <a:cs typeface="Times New Roman" panose="02020603050405020304" pitchFamily="18" charset="0"/>
                        </a:rPr>
                        <m:t>fcos</m:t>
                      </m:r>
                      <m:r>
                        <a:rPr lang="de-DE" sz="1800" kern="0">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ω</m:t>
                      </m:r>
                      <m:r>
                        <m:rPr>
                          <m:sty m:val="p"/>
                        </m:rPr>
                        <a:rPr lang="de-DE" sz="1800" kern="0">
                          <a:effectLst/>
                          <a:latin typeface="Cambria Math" panose="02040503050406030204" pitchFamily="18" charset="0"/>
                          <a:ea typeface="Calibri" panose="020F0502020204030204" pitchFamily="34" charset="0"/>
                          <a:cs typeface="Times New Roman" panose="02020603050405020304" pitchFamily="18" charset="0"/>
                        </a:rPr>
                        <m:t>t</m:t>
                      </m:r>
                      <m:r>
                        <a:rPr lang="de-DE" sz="1800" kern="0">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p>
            </p:txBody>
          </p:sp>
        </mc:Choice>
        <mc:Fallback xmlns="">
          <p:sp>
            <p:nvSpPr>
              <p:cNvPr id="3" name="Text Placeholder 2">
                <a:extLst>
                  <a:ext uri="{FF2B5EF4-FFF2-40B4-BE49-F238E27FC236}">
                    <a16:creationId xmlns:a16="http://schemas.microsoft.com/office/drawing/2014/main" id="{D119E5AB-A5F4-DA5F-7C10-95628D5FFE08}"/>
                  </a:ext>
                </a:extLst>
              </p:cNvPr>
              <p:cNvSpPr>
                <a:spLocks noGrp="1" noRot="1" noChangeAspect="1" noMove="1" noResize="1" noEditPoints="1" noAdjustHandles="1" noChangeArrowheads="1" noChangeShapeType="1" noTextEdit="1"/>
              </p:cNvSpPr>
              <p:nvPr>
                <p:ph type="body" idx="1"/>
              </p:nvPr>
            </p:nvSpPr>
            <p:spPr>
              <a:xfrm>
                <a:off x="719467" y="1246994"/>
                <a:ext cx="5376533" cy="646331"/>
              </a:xfrm>
              <a:blipFill>
                <a:blip r:embed="rId3"/>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1C9C43F-4825-7F22-17CB-A57DFFA48B0F}"/>
              </a:ext>
            </a:extLst>
          </p:cNvPr>
          <p:cNvSpPr>
            <a:spLocks noGrp="1"/>
          </p:cNvSpPr>
          <p:nvPr>
            <p:ph type="sldNum" sz="quarter" idx="11"/>
          </p:nvPr>
        </p:nvSpPr>
        <p:spPr/>
        <p:txBody>
          <a:bodyPr/>
          <a:lstStyle/>
          <a:p>
            <a:pPr>
              <a:defRPr/>
            </a:pPr>
            <a:fld id="{29E30139-16F5-4682-A293-CA9CBDAD745F}" type="slidenum">
              <a:rPr lang="en-US" smtClean="0"/>
              <a:pPr>
                <a:defRPr/>
              </a:pPr>
              <a:t>7</a:t>
            </a:fld>
            <a:endParaRPr lang="en-US"/>
          </a:p>
        </p:txBody>
      </p:sp>
      <p:sp>
        <p:nvSpPr>
          <p:cNvPr id="5" name="TextBox 4">
            <a:extLst>
              <a:ext uri="{FF2B5EF4-FFF2-40B4-BE49-F238E27FC236}">
                <a16:creationId xmlns:a16="http://schemas.microsoft.com/office/drawing/2014/main" id="{DBFF7370-DB42-4AFD-ACB8-F677AC2B4F62}"/>
              </a:ext>
            </a:extLst>
          </p:cNvPr>
          <p:cNvSpPr txBox="1"/>
          <p:nvPr/>
        </p:nvSpPr>
        <p:spPr>
          <a:xfrm>
            <a:off x="205022" y="28462"/>
            <a:ext cx="5974354" cy="954107"/>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Introduction: Nonlinearity expressed in a duffing equation</a:t>
            </a:r>
            <a:endParaRPr lang="en-US" sz="28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AAFE7E4-383B-C32E-BBC3-A1C86B2C6208}"/>
                  </a:ext>
                </a:extLst>
              </p:cNvPr>
              <p:cNvSpPr txBox="1"/>
              <p:nvPr/>
            </p:nvSpPr>
            <p:spPr>
              <a:xfrm>
                <a:off x="910300" y="3183836"/>
                <a:ext cx="7082728" cy="2730684"/>
              </a:xfrm>
              <a:prstGeom prst="rect">
                <a:avLst/>
              </a:prstGeom>
              <a:noFill/>
            </p:spPr>
            <p:txBody>
              <a:bodyPr wrap="square">
                <a:spAutoFit/>
              </a:bodyPr>
              <a:lstStyle/>
              <a:p>
                <a:pPr marL="0" marR="0">
                  <a:lnSpc>
                    <a:spcPct val="107000"/>
                  </a:lnSpc>
                  <a:spcBef>
                    <a:spcPts val="0"/>
                  </a:spcBef>
                  <a:spcAft>
                    <a:spcPts val="800"/>
                  </a:spcAft>
                </a:pPr>
                <a14:m>
                  <m:oMath xmlns:m="http://schemas.openxmlformats.org/officeDocument/2006/math">
                    <m:r>
                      <m:rPr>
                        <m:sty m:val="p"/>
                      </m:rPr>
                      <a:rPr lang="en-US" sz="1800" kern="0" smtClean="0">
                        <a:effectLst/>
                        <a:latin typeface="Cambria Math" panose="02040503050406030204" pitchFamily="18" charset="0"/>
                        <a:ea typeface="Calibri" panose="020F0502020204030204" pitchFamily="34" charset="0"/>
                        <a:cs typeface="Times New Roman" panose="02020603050405020304" pitchFamily="18" charset="0"/>
                      </a:rPr>
                      <m:t>ξ</m:t>
                    </m:r>
                    <m:r>
                      <a:rPr lang="en-US" sz="1800" kern="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k</m:t>
                            </m:r>
                          </m:e>
                          <m:sub>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d</m:t>
                            </m:r>
                          </m:sub>
                        </m:sSub>
                      </m:num>
                      <m:den>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kern="0">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ω</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m:t>
                            </m:r>
                          </m:sub>
                        </m:sSub>
                      </m:den>
                    </m:f>
                    <m:r>
                      <a:rPr lang="en-US" sz="1800" i="1" ker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𝑛𝑜𝑛</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𝑑𝑖𝑚𝑒𝑛𝑠𝑖𝑜𝑛𝑎𝑙</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𝑣𝑖𝑠𝑐𝑜𝑢𝑠</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𝑑𝑎𝑚𝑝𝑖𝑛𝑔</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𝑟𝑎𝑡𝑖𝑜</m:t>
                    </m:r>
                  </m:oMath>
                </a14:m>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μ</m:t>
                      </m:r>
                      <m:r>
                        <a:rPr lang="en-US" sz="1800" ker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k</m:t>
                          </m:r>
                        </m:e>
                        <m:sub>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nd</m:t>
                          </m:r>
                        </m:sub>
                      </m:sSub>
                      <m:sSubSup>
                        <m:sSubSup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𝑢</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𝑚</m:t>
                          </m:r>
                        </m:sub>
                        <m:sup>
                          <m:r>
                            <a:rPr lang="en-US" sz="1800" i="1" kern="0">
                              <a:effectLst/>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ω</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𝑛𝑜𝑛</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𝑑𝑖𝑚𝑒𝑛𝑠𝑖𝑜𝑛𝑎𝑙</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𝑛𝑜𝑛𝑙𝑖𝑛𝑒𝑎𝑟</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𝑑𝑎𝑚𝑝𝑖𝑛𝑔</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𝑐𝑜𝑒𝑓𝑓𝑖𝑐𝑖𝑒𝑛𝑡</m:t>
                      </m:r>
                    </m:oMath>
                  </m:oMathPara>
                </a14:m>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14:m>
                  <m:oMath xmlns:m="http://schemas.openxmlformats.org/officeDocument/2006/math">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α</m:t>
                    </m:r>
                    <m:r>
                      <a:rPr lang="en-US" sz="1800" ker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k</m:t>
                            </m:r>
                          </m:e>
                          <m:sub>
                            <m:r>
                              <a:rPr lang="en-US" sz="1800" kern="0">
                                <a:effectLst/>
                                <a:latin typeface="Cambria Math" panose="02040503050406030204" pitchFamily="18" charset="0"/>
                                <a:ea typeface="Calibri" panose="020F0502020204030204" pitchFamily="34" charset="0"/>
                                <a:cs typeface="Times New Roman" panose="02020603050405020304" pitchFamily="18" charset="0"/>
                              </a:rPr>
                              <m:t>1</m:t>
                            </m:r>
                          </m:sub>
                        </m:sSub>
                      </m:num>
                      <m:den>
                        <m:sSubSup>
                          <m:sSubSup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Sup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ω</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m:t>
                            </m:r>
                          </m:sub>
                          <m:sup>
                            <m:r>
                              <a:rPr lang="en-US" sz="1800" i="1" kern="0">
                                <a:effectLst/>
                                <a:latin typeface="Cambria Math" panose="02040503050406030204" pitchFamily="18" charset="0"/>
                                <a:ea typeface="Calibri" panose="020F0502020204030204" pitchFamily="34" charset="0"/>
                                <a:cs typeface="Times New Roman" panose="02020603050405020304" pitchFamily="18" charset="0"/>
                              </a:rPr>
                              <m:t>2</m:t>
                            </m:r>
                          </m:sup>
                        </m:sSubSup>
                      </m:den>
                    </m:f>
                    <m:r>
                      <a:rPr lang="en-US" sz="1800" i="1" ker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𝑛𝑜𝑛</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𝑑𝑖𝑚𝑒𝑛𝑠𝑖𝑜𝑛𝑎𝑙</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𝑙𝑖𝑛𝑒𝑎𝑟</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𝑠𝑡𝑖𝑓𝑓𝑛𝑒𝑠𝑠</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𝑐𝑜𝑒𝑓𝑓𝑖𝑐𝑖𝑒𝑛𝑡</m:t>
                    </m:r>
                  </m:oMath>
                </a14:m>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14:m>
                  <m:oMath xmlns:m="http://schemas.openxmlformats.org/officeDocument/2006/math">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γ</m:t>
                    </m:r>
                    <m:r>
                      <a:rPr lang="en-US" sz="1800" ker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k</m:t>
                            </m:r>
                          </m:e>
                          <m:sub>
                            <m:r>
                              <a:rPr lang="en-US" sz="1800" kern="0">
                                <a:effectLst/>
                                <a:latin typeface="Cambria Math" panose="02040503050406030204" pitchFamily="18" charset="0"/>
                                <a:ea typeface="Calibri" panose="020F0502020204030204" pitchFamily="34" charset="0"/>
                                <a:cs typeface="Times New Roman" panose="02020603050405020304" pitchFamily="18" charset="0"/>
                              </a:rPr>
                              <m:t>3</m:t>
                            </m:r>
                          </m:sub>
                        </m:sSub>
                        <m:sSubSup>
                          <m:sSubSup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𝑢</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𝑚</m:t>
                            </m:r>
                          </m:sub>
                          <m:sup>
                            <m:r>
                              <a:rPr lang="en-US" sz="1800" i="1" kern="0">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Sup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ω</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m:t>
                            </m:r>
                          </m:sub>
                          <m:sup>
                            <m:r>
                              <a:rPr lang="en-US" sz="1800" i="1" kern="0">
                                <a:effectLst/>
                                <a:latin typeface="Cambria Math" panose="02040503050406030204" pitchFamily="18" charset="0"/>
                                <a:ea typeface="Calibri" panose="020F0502020204030204" pitchFamily="34" charset="0"/>
                                <a:cs typeface="Times New Roman" panose="02020603050405020304" pitchFamily="18" charset="0"/>
                              </a:rPr>
                              <m:t>2</m:t>
                            </m:r>
                          </m:sup>
                        </m:sSubSup>
                      </m:den>
                    </m:f>
                    <m:r>
                      <a:rPr lang="en-US" sz="1800" i="1" ker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𝑛𝑜𝑛</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𝑑𝑖𝑚𝑒𝑛𝑠𝑖𝑜𝑛𝑎𝑙</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𝑛𝑜𝑛𝑙𝑖𝑛𝑒𝑎𝑟</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𝑠𝑡𝑖𝑓𝑓𝑛𝑒𝑠𝑠</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𝑐𝑜𝑒𝑓𝑓𝑖𝑐𝑖𝑒𝑛𝑡</m:t>
                    </m:r>
                  </m:oMath>
                </a14:m>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0">
                  <a:lnSpc>
                    <a:spcPct val="107000"/>
                  </a:lnSpc>
                  <a:spcBef>
                    <a:spcPts val="0"/>
                  </a:spcBef>
                  <a:spcAft>
                    <a:spcPts val="800"/>
                  </a:spcAft>
                </a:pPr>
                <a14:m>
                  <m:oMath xmlns:m="http://schemas.openxmlformats.org/officeDocument/2006/math">
                    <m:r>
                      <m:rPr>
                        <m:sty m:val="p"/>
                      </m:rPr>
                      <a:rPr lang="en-US" sz="1800" kern="0" smtClean="0">
                        <a:effectLst/>
                        <a:latin typeface="Cambria Math" panose="02040503050406030204" pitchFamily="18" charset="0"/>
                        <a:ea typeface="Calibri" panose="020F0502020204030204" pitchFamily="34" charset="0"/>
                        <a:cs typeface="Times New Roman" panose="02020603050405020304" pitchFamily="18" charset="0"/>
                      </a:rPr>
                      <m:t>Ω</m:t>
                    </m:r>
                    <m:r>
                      <a:rPr lang="en-US" sz="1800" kern="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ω</m:t>
                        </m:r>
                      </m:num>
                      <m:den>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ω</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m:t>
                            </m:r>
                          </m:sub>
                        </m:sSub>
                      </m:den>
                    </m:f>
                  </m:oMath>
                </a14:m>
                <a:r>
                  <a:rPr lang="en-US" sz="1800" kern="0" dirty="0">
                    <a:effectLst/>
                    <a:latin typeface="Times New Roman" panose="02020603050405020304" pitchFamily="18" charset="0"/>
                    <a:ea typeface="Times New Roman" panose="02020603050405020304" pitchFamily="18" charset="0"/>
                  </a:rPr>
                  <a:t>;  </a:t>
                </a:r>
                <a14:m>
                  <m:oMath xmlns:m="http://schemas.openxmlformats.org/officeDocument/2006/math">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τ</m:t>
                    </m:r>
                    <m:r>
                      <a:rPr lang="en-US" sz="1800" kern="0">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t</m:t>
                    </m:r>
                    <m:r>
                      <a:rPr lang="en-US" sz="1800" kern="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ω</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1800" kern="0" dirty="0">
                    <a:effectLst/>
                    <a:latin typeface="Times New Roman" panose="02020603050405020304" pitchFamily="18" charset="0"/>
                    <a:ea typeface="Times New Roman" panose="02020603050405020304" pitchFamily="18" charset="0"/>
                  </a:rPr>
                  <a:t>;  </a:t>
                </a:r>
                <a14:m>
                  <m:oMath xmlns:m="http://schemas.openxmlformats.org/officeDocument/2006/math">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U</m:t>
                    </m:r>
                    <m:r>
                      <a:rPr lang="en-US" sz="1800" ker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u</m:t>
                        </m:r>
                      </m:num>
                      <m:den>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u</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𝑚</m:t>
                            </m:r>
                          </m:sub>
                        </m:sSub>
                      </m:den>
                    </m:f>
                  </m:oMath>
                </a14:m>
                <a:r>
                  <a:rPr lang="en-US" sz="1800" kern="0" dirty="0">
                    <a:effectLst/>
                    <a:latin typeface="Times New Roman" panose="02020603050405020304" pitchFamily="18" charset="0"/>
                    <a:ea typeface="Times New Roman" panose="02020603050405020304" pitchFamily="18" charset="0"/>
                  </a:rPr>
                  <a:t>;  </a:t>
                </a:r>
                <a14:m>
                  <m:oMath xmlns:m="http://schemas.openxmlformats.org/officeDocument/2006/math">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F</m:t>
                    </m:r>
                    <m:r>
                      <a:rPr lang="en-US" sz="1800" ker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f</m:t>
                        </m:r>
                      </m:num>
                      <m:den>
                        <m:sSub>
                          <m:sSub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Pr>
                          <m:e>
                            <m:sSubSup>
                              <m:sSubSupPr>
                                <m:ctrlPr>
                                  <a:rPr lang="en-US" sz="1800" i="1" kern="0">
                                    <a:effectLst/>
                                    <a:latin typeface="Cambria Math" panose="02040503050406030204" pitchFamily="18" charset="0"/>
                                    <a:ea typeface="Calibri" panose="020F0502020204030204" pitchFamily="34" charset="0"/>
                                    <a:cs typeface="Times New Roman" panose="02020603050405020304" pitchFamily="18" charset="0"/>
                                  </a:rPr>
                                </m:ctrlPr>
                              </m:sSubSupPr>
                              <m:e>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ω</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𝑛</m:t>
                                </m:r>
                              </m:sub>
                              <m:sup>
                                <m:r>
                                  <a:rPr lang="en-US" sz="1800" i="1" kern="0">
                                    <a:effectLst/>
                                    <a:latin typeface="Cambria Math" panose="02040503050406030204" pitchFamily="18" charset="0"/>
                                    <a:ea typeface="Calibri" panose="020F0502020204030204" pitchFamily="34" charset="0"/>
                                    <a:cs typeface="Times New Roman" panose="02020603050405020304" pitchFamily="18" charset="0"/>
                                  </a:rPr>
                                  <m:t>2</m:t>
                                </m:r>
                              </m:sup>
                            </m:sSubSup>
                            <m:r>
                              <m:rPr>
                                <m:sty m:val="p"/>
                              </m:rPr>
                              <a:rPr lang="en-US" sz="1800" kern="0">
                                <a:effectLst/>
                                <a:latin typeface="Cambria Math" panose="02040503050406030204" pitchFamily="18" charset="0"/>
                                <a:ea typeface="Calibri" panose="020F0502020204030204" pitchFamily="34" charset="0"/>
                                <a:cs typeface="Times New Roman" panose="02020603050405020304" pitchFamily="18" charset="0"/>
                              </a:rPr>
                              <m:t>u</m:t>
                            </m:r>
                          </m:e>
                          <m: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US" sz="1800" i="1" ker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0">
                            <a:effectLst/>
                            <a:latin typeface="Cambria Math" panose="02040503050406030204" pitchFamily="18" charset="0"/>
                            <a:ea typeface="Calibri" panose="020F0502020204030204" pitchFamily="34" charset="0"/>
                            <a:cs typeface="Times New Roman" panose="02020603050405020304" pitchFamily="18" charset="0"/>
                          </a:rPr>
                          <m:t>𝑚</m:t>
                        </m:r>
                      </m:den>
                    </m:f>
                  </m:oMath>
                </a14:m>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EAAFE7E4-383B-C32E-BBC3-A1C86B2C6208}"/>
                  </a:ext>
                </a:extLst>
              </p:cNvPr>
              <p:cNvSpPr txBox="1">
                <a:spLocks noRot="1" noChangeAspect="1" noMove="1" noResize="1" noEditPoints="1" noAdjustHandles="1" noChangeArrowheads="1" noChangeShapeType="1" noTextEdit="1"/>
              </p:cNvSpPr>
              <p:nvPr/>
            </p:nvSpPr>
            <p:spPr>
              <a:xfrm>
                <a:off x="910300" y="3183836"/>
                <a:ext cx="7082728" cy="2730684"/>
              </a:xfrm>
              <a:prstGeom prst="rect">
                <a:avLst/>
              </a:prstGeom>
              <a:blipFill>
                <a:blip r:embed="rId4"/>
                <a:stretch>
                  <a:fillRect l="-258"/>
                </a:stretch>
              </a:blipFill>
            </p:spPr>
            <p:txBody>
              <a:bodyPr/>
              <a:lstStyle/>
              <a:p>
                <a:r>
                  <a:rPr lang="en-US">
                    <a:noFill/>
                  </a:rPr>
                  <a:t> </a:t>
                </a:r>
              </a:p>
            </p:txBody>
          </p:sp>
        </mc:Fallback>
      </mc:AlternateContent>
      <p:sp>
        <p:nvSpPr>
          <p:cNvPr id="12" name="Flowchart: Connector 11">
            <a:extLst>
              <a:ext uri="{FF2B5EF4-FFF2-40B4-BE49-F238E27FC236}">
                <a16:creationId xmlns:a16="http://schemas.microsoft.com/office/drawing/2014/main" id="{96BDC113-810E-1852-2DA5-0EB0D1F620FC}"/>
              </a:ext>
            </a:extLst>
          </p:cNvPr>
          <p:cNvSpPr/>
          <p:nvPr/>
        </p:nvSpPr>
        <p:spPr bwMode="auto">
          <a:xfrm>
            <a:off x="6915406" y="1691435"/>
            <a:ext cx="176319" cy="176319"/>
          </a:xfrm>
          <a:prstGeom prst="flowChartConnector">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rgbClr val="0070C0"/>
              </a:solidFill>
              <a:effectLst/>
              <a:latin typeface="Tahoma" pitchFamily="35" charset="0"/>
            </a:endParaRPr>
          </a:p>
        </p:txBody>
      </p:sp>
      <p:sp>
        <p:nvSpPr>
          <p:cNvPr id="13" name="TextBox 12">
            <a:extLst>
              <a:ext uri="{FF2B5EF4-FFF2-40B4-BE49-F238E27FC236}">
                <a16:creationId xmlns:a16="http://schemas.microsoft.com/office/drawing/2014/main" id="{73783AB8-8416-BCA2-48DB-36F982590B78}"/>
              </a:ext>
            </a:extLst>
          </p:cNvPr>
          <p:cNvSpPr txBox="1"/>
          <p:nvPr/>
        </p:nvSpPr>
        <p:spPr>
          <a:xfrm>
            <a:off x="7241391" y="1570159"/>
            <a:ext cx="2714498" cy="369332"/>
          </a:xfrm>
          <a:prstGeom prst="rect">
            <a:avLst/>
          </a:prstGeom>
          <a:noFill/>
        </p:spPr>
        <p:txBody>
          <a:bodyPr wrap="square" rtlCol="0">
            <a:spAutoFit/>
          </a:bodyPr>
          <a:lstStyle/>
          <a:p>
            <a:r>
              <a:rPr lang="de-DE" sz="1800" dirty="0">
                <a:solidFill>
                  <a:srgbClr val="0070C0"/>
                </a:solidFill>
                <a:latin typeface="Arial" panose="020B0604020202020204" pitchFamily="34" charset="0"/>
                <a:cs typeface="Arial" panose="020B0604020202020204" pitchFamily="34" charset="0"/>
              </a:rPr>
              <a:t>Nonlinear contributions</a:t>
            </a:r>
            <a:endParaRPr lang="en-US" sz="1800" dirty="0">
              <a:solidFill>
                <a:srgbClr val="0070C0"/>
              </a:solidFill>
              <a:latin typeface="Arial" panose="020B0604020202020204" pitchFamily="34" charset="0"/>
              <a:cs typeface="Arial" panose="020B0604020202020204" pitchFamily="34" charset="0"/>
            </a:endParaRPr>
          </a:p>
        </p:txBody>
      </p:sp>
      <p:sp>
        <p:nvSpPr>
          <p:cNvPr id="14" name="Flowchart: Connector 13">
            <a:extLst>
              <a:ext uri="{FF2B5EF4-FFF2-40B4-BE49-F238E27FC236}">
                <a16:creationId xmlns:a16="http://schemas.microsoft.com/office/drawing/2014/main" id="{F3418793-D0C6-27CC-A625-D16A39A43A2A}"/>
              </a:ext>
            </a:extLst>
          </p:cNvPr>
          <p:cNvSpPr/>
          <p:nvPr/>
        </p:nvSpPr>
        <p:spPr bwMode="auto">
          <a:xfrm>
            <a:off x="6915406" y="2069590"/>
            <a:ext cx="176319" cy="176319"/>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rgbClr val="0070C0"/>
              </a:solidFill>
              <a:effectLst/>
              <a:latin typeface="Tahoma" pitchFamily="35" charset="0"/>
            </a:endParaRPr>
          </a:p>
        </p:txBody>
      </p:sp>
      <p:sp>
        <p:nvSpPr>
          <p:cNvPr id="15" name="TextBox 14">
            <a:extLst>
              <a:ext uri="{FF2B5EF4-FFF2-40B4-BE49-F238E27FC236}">
                <a16:creationId xmlns:a16="http://schemas.microsoft.com/office/drawing/2014/main" id="{F6624F30-6DA8-8592-EA77-3EF57F11F105}"/>
              </a:ext>
            </a:extLst>
          </p:cNvPr>
          <p:cNvSpPr txBox="1"/>
          <p:nvPr/>
        </p:nvSpPr>
        <p:spPr>
          <a:xfrm>
            <a:off x="7241391" y="1939491"/>
            <a:ext cx="2714498"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Linear contributions</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7287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C42EF9A-F677-4D32-B8B6-74B2A2805B54}"/>
              </a:ext>
            </a:extLst>
          </p:cNvPr>
          <p:cNvSpPr/>
          <p:nvPr/>
        </p:nvSpPr>
        <p:spPr>
          <a:xfrm>
            <a:off x="138143" y="214776"/>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Measurement apparatus and dataset</a:t>
            </a:r>
          </a:p>
        </p:txBody>
      </p:sp>
      <p:pic>
        <p:nvPicPr>
          <p:cNvPr id="10" name="Picture 9">
            <a:extLst>
              <a:ext uri="{FF2B5EF4-FFF2-40B4-BE49-F238E27FC236}">
                <a16:creationId xmlns:a16="http://schemas.microsoft.com/office/drawing/2014/main" id="{317C18BE-356B-4063-A14A-819F5C64FB17}"/>
              </a:ext>
            </a:extLst>
          </p:cNvPr>
          <p:cNvPicPr>
            <a:picLocks noChangeAspect="1"/>
          </p:cNvPicPr>
          <p:nvPr/>
        </p:nvPicPr>
        <p:blipFill>
          <a:blip r:embed="rId2"/>
          <a:stretch>
            <a:fillRect/>
          </a:stretch>
        </p:blipFill>
        <p:spPr>
          <a:xfrm>
            <a:off x="138143" y="1111137"/>
            <a:ext cx="6720635" cy="4023440"/>
          </a:xfrm>
          <a:prstGeom prst="rect">
            <a:avLst/>
          </a:prstGeom>
        </p:spPr>
      </p:pic>
      <p:sp>
        <p:nvSpPr>
          <p:cNvPr id="11" name="Slide Number Placeholder 3">
            <a:extLst>
              <a:ext uri="{FF2B5EF4-FFF2-40B4-BE49-F238E27FC236}">
                <a16:creationId xmlns:a16="http://schemas.microsoft.com/office/drawing/2014/main" id="{F385F634-AF2F-454C-9299-F57E6EA2ACD0}"/>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8</a:t>
            </a:fld>
            <a:endParaRPr lang="en-US" sz="200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4E76016-1D79-4D95-A46E-B512F6F75325}"/>
              </a:ext>
            </a:extLst>
          </p:cNvPr>
          <p:cNvSpPr/>
          <p:nvPr/>
        </p:nvSpPr>
        <p:spPr>
          <a:xfrm>
            <a:off x="2990954" y="1285722"/>
            <a:ext cx="1217000" cy="307777"/>
          </a:xfrm>
          <a:prstGeom prst="rect">
            <a:avLst/>
          </a:prstGeom>
        </p:spPr>
        <p:txBody>
          <a:bodyPr wrap="none">
            <a:spAutoFit/>
          </a:bodyPr>
          <a:lstStyle/>
          <a:p>
            <a:r>
              <a:rPr lang="de-DE" sz="1400" dirty="0">
                <a:latin typeface="Times New Roman" panose="02020603050405020304" pitchFamily="18" charset="0"/>
                <a:cs typeface="Times New Roman" panose="02020603050405020304" pitchFamily="18" charset="0"/>
              </a:rPr>
              <a:t>Laser Doppler</a:t>
            </a:r>
            <a:endParaRPr lang="en-US" sz="1400" dirty="0"/>
          </a:p>
        </p:txBody>
      </p:sp>
      <p:pic>
        <p:nvPicPr>
          <p:cNvPr id="4" name="Picture 3" descr="A diagram of a diagram of a square&#10;&#10;Description automatically generated with medium confidence">
            <a:extLst>
              <a:ext uri="{FF2B5EF4-FFF2-40B4-BE49-F238E27FC236}">
                <a16:creationId xmlns:a16="http://schemas.microsoft.com/office/drawing/2014/main" id="{9AED4D88-2EF9-D62B-D4FB-F093F49A2A16}"/>
              </a:ext>
            </a:extLst>
          </p:cNvPr>
          <p:cNvPicPr>
            <a:picLocks noChangeAspect="1"/>
          </p:cNvPicPr>
          <p:nvPr/>
        </p:nvPicPr>
        <p:blipFill>
          <a:blip r:embed="rId3"/>
          <a:stretch>
            <a:fillRect/>
          </a:stretch>
        </p:blipFill>
        <p:spPr>
          <a:xfrm>
            <a:off x="483326" y="5309162"/>
            <a:ext cx="9016240" cy="1160924"/>
          </a:xfrm>
          <a:prstGeom prst="rect">
            <a:avLst/>
          </a:prstGeom>
        </p:spPr>
      </p:pic>
    </p:spTree>
    <p:extLst>
      <p:ext uri="{BB962C8B-B14F-4D97-AF65-F5344CB8AC3E}">
        <p14:creationId xmlns:p14="http://schemas.microsoft.com/office/powerpoint/2010/main" val="2544632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9</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38143" y="214776"/>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Modelling Tool 1: SINDy</a:t>
            </a:r>
          </a:p>
        </p:txBody>
      </p:sp>
      <p:sp>
        <p:nvSpPr>
          <p:cNvPr id="7" name="Rectangle 6">
            <a:extLst>
              <a:ext uri="{FF2B5EF4-FFF2-40B4-BE49-F238E27FC236}">
                <a16:creationId xmlns:a16="http://schemas.microsoft.com/office/drawing/2014/main" id="{82678353-7A9A-4347-A37C-6AACCC21D5C0}"/>
              </a:ext>
            </a:extLst>
          </p:cNvPr>
          <p:cNvSpPr/>
          <p:nvPr/>
        </p:nvSpPr>
        <p:spPr>
          <a:xfrm>
            <a:off x="138143" y="1025520"/>
            <a:ext cx="11922312" cy="873572"/>
          </a:xfrm>
          <a:prstGeom prst="rect">
            <a:avLst/>
          </a:prstGeom>
        </p:spPr>
        <p:txBody>
          <a:bodyPr wrap="square">
            <a:spAutoFit/>
          </a:bodyPr>
          <a:lstStyle/>
          <a:p>
            <a:pPr marL="342900" indent="-342900">
              <a:lnSpc>
                <a:spcPct val="15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Sparse Identification of Non-linear Dynamics (SINDy) </a:t>
            </a:r>
            <a:endParaRPr lang="de-DE" sz="1800" b="1" dirty="0">
              <a:latin typeface="Times New Roman" panose="02020603050405020304" pitchFamily="18" charset="0"/>
              <a:cs typeface="Times New Roman" panose="02020603050405020304" pitchFamily="18" charset="0"/>
            </a:endParaRPr>
          </a:p>
          <a:p>
            <a:pPr marL="342900" indent="-342900">
              <a:lnSpc>
                <a:spcPct val="150000"/>
              </a:lnSpc>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First introduced in 2016 by Steven L. Brunton</a:t>
            </a:r>
            <a:endParaRPr lang="en-US" sz="1800" dirty="0">
              <a:solidFill>
                <a:schemeClr val="accent3">
                  <a:lumMod val="65000"/>
                </a:schemeClr>
              </a:solidFill>
              <a:latin typeface="Times New Roman" panose="02020603050405020304" pitchFamily="18" charset="0"/>
              <a:cs typeface="Times New Roman" panose="02020603050405020304" pitchFamily="18" charset="0"/>
            </a:endParaRPr>
          </a:p>
        </p:txBody>
      </p:sp>
      <p:pic>
        <p:nvPicPr>
          <p:cNvPr id="8" name="Picture 2" descr="Discovering governing equations from data by sparse identification of  nonlinear dynamical systems | PNAS">
            <a:extLst>
              <a:ext uri="{FF2B5EF4-FFF2-40B4-BE49-F238E27FC236}">
                <a16:creationId xmlns:a16="http://schemas.microsoft.com/office/drawing/2014/main" id="{C3CB7F95-4DBA-44C5-8564-A82BFF64A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7325" y="2212748"/>
            <a:ext cx="6842539" cy="427658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372C67C-CEEB-4C3A-B150-3C6C9B2AA5B1}"/>
              </a:ext>
            </a:extLst>
          </p:cNvPr>
          <p:cNvSpPr/>
          <p:nvPr/>
        </p:nvSpPr>
        <p:spPr>
          <a:xfrm>
            <a:off x="138143" y="6489335"/>
            <a:ext cx="6096000" cy="307777"/>
          </a:xfrm>
          <a:prstGeom prst="rect">
            <a:avLst/>
          </a:prstGeom>
        </p:spPr>
        <p:txBody>
          <a:bodyPr>
            <a:spAutoFit/>
          </a:bodyPr>
          <a:lstStyle/>
          <a:p>
            <a:r>
              <a:rPr lang="en-US" sz="1400" b="1" dirty="0">
                <a:latin typeface="Times New Roman" panose="02020603050405020304" pitchFamily="18" charset="0"/>
                <a:cs typeface="Times New Roman" panose="02020603050405020304" pitchFamily="18" charset="0"/>
              </a:rPr>
              <a:t>Ref: DOI</a:t>
            </a:r>
            <a:r>
              <a:rPr lang="en-US" sz="1400" dirty="0">
                <a:latin typeface="Times New Roman" panose="02020603050405020304" pitchFamily="18" charset="0"/>
                <a:cs typeface="Times New Roman" panose="02020603050405020304" pitchFamily="18" charset="0"/>
              </a:rPr>
              <a:t>  10.1073/pnas.151738411</a:t>
            </a:r>
          </a:p>
        </p:txBody>
      </p:sp>
    </p:spTree>
    <p:extLst>
      <p:ext uri="{BB962C8B-B14F-4D97-AF65-F5344CB8AC3E}">
        <p14:creationId xmlns:p14="http://schemas.microsoft.com/office/powerpoint/2010/main" val="2485524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10</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38143" y="214776"/>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Modelling Tool 2: ANN</a:t>
            </a:r>
          </a:p>
        </p:txBody>
      </p:sp>
      <p:sp>
        <p:nvSpPr>
          <p:cNvPr id="7" name="Rectangle 6">
            <a:extLst>
              <a:ext uri="{FF2B5EF4-FFF2-40B4-BE49-F238E27FC236}">
                <a16:creationId xmlns:a16="http://schemas.microsoft.com/office/drawing/2014/main" id="{82678353-7A9A-4347-A37C-6AACCC21D5C0}"/>
              </a:ext>
            </a:extLst>
          </p:cNvPr>
          <p:cNvSpPr/>
          <p:nvPr/>
        </p:nvSpPr>
        <p:spPr>
          <a:xfrm>
            <a:off x="138143" y="1025520"/>
            <a:ext cx="11922312" cy="458074"/>
          </a:xfrm>
          <a:prstGeom prst="rect">
            <a:avLst/>
          </a:prstGeom>
        </p:spPr>
        <p:txBody>
          <a:bodyPr wrap="square">
            <a:spAutoFit/>
          </a:bodyPr>
          <a:lstStyle/>
          <a:p>
            <a:pPr marL="342900" indent="-342900">
              <a:lnSpc>
                <a:spcPct val="150000"/>
              </a:lnSpc>
              <a:buFont typeface="Wingdings" panose="05000000000000000000" pitchFamily="2" charset="2"/>
              <a:buChar char="ü"/>
            </a:pPr>
            <a:r>
              <a:rPr lang="de-DE" sz="1800" b="1" dirty="0">
                <a:latin typeface="Times New Roman" panose="02020603050405020304" pitchFamily="18" charset="0"/>
                <a:cs typeface="Times New Roman" panose="02020603050405020304" pitchFamily="18" charset="0"/>
              </a:rPr>
              <a:t>Artificial Neural Network: a. MultiLayer Perceptrop (MLP)  b. Long-Short-Term-Memory</a:t>
            </a:r>
          </a:p>
        </p:txBody>
      </p:sp>
      <p:pic>
        <p:nvPicPr>
          <p:cNvPr id="2" name="Picture 1" descr="A diagram of a function&#10;&#10;Description automatically generated with low confidence">
            <a:extLst>
              <a:ext uri="{FF2B5EF4-FFF2-40B4-BE49-F238E27FC236}">
                <a16:creationId xmlns:a16="http://schemas.microsoft.com/office/drawing/2014/main" id="{23639676-8FF3-AEF2-72A6-100B4ACC453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95633" y="1718564"/>
            <a:ext cx="2891284" cy="2584746"/>
          </a:xfrm>
          <a:prstGeom prst="rect">
            <a:avLst/>
          </a:prstGeom>
        </p:spPr>
      </p:pic>
      <p:pic>
        <p:nvPicPr>
          <p:cNvPr id="3" name="Picture 2" descr="A picture containing screenshot, circle, symmetry, line&#10;&#10;Description automatically generated">
            <a:extLst>
              <a:ext uri="{FF2B5EF4-FFF2-40B4-BE49-F238E27FC236}">
                <a16:creationId xmlns:a16="http://schemas.microsoft.com/office/drawing/2014/main" id="{25935C2F-64CE-56A5-B910-8857CBDFBEF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284941" y="1524183"/>
            <a:ext cx="3639263" cy="2584747"/>
          </a:xfrm>
          <a:prstGeom prst="rect">
            <a:avLst/>
          </a:prstGeom>
        </p:spPr>
      </p:pic>
      <p:sp>
        <p:nvSpPr>
          <p:cNvPr id="10" name="TextBox 9">
            <a:extLst>
              <a:ext uri="{FF2B5EF4-FFF2-40B4-BE49-F238E27FC236}">
                <a16:creationId xmlns:a16="http://schemas.microsoft.com/office/drawing/2014/main" id="{8E5AC206-CECF-D2EB-8FD7-A26380AB369D}"/>
              </a:ext>
            </a:extLst>
          </p:cNvPr>
          <p:cNvSpPr txBox="1"/>
          <p:nvPr/>
        </p:nvSpPr>
        <p:spPr>
          <a:xfrm>
            <a:off x="6382955" y="6396026"/>
            <a:ext cx="4991689"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Image source: Machine learning mastery by Jason Brownlee.</a:t>
            </a:r>
            <a:endParaRPr lang="en-US" sz="1400" dirty="0">
              <a:latin typeface="Arial" panose="020B0604020202020204" pitchFamily="34" charset="0"/>
              <a:cs typeface="Arial" panose="020B0604020202020204" pitchFamily="34" charset="0"/>
            </a:endParaRPr>
          </a:p>
        </p:txBody>
      </p:sp>
      <p:pic>
        <p:nvPicPr>
          <p:cNvPr id="11" name="Picture 10" descr="A picture containing line, diagram, plot, screenshot&#10;&#10;Description automatically generated">
            <a:extLst>
              <a:ext uri="{FF2B5EF4-FFF2-40B4-BE49-F238E27FC236}">
                <a16:creationId xmlns:a16="http://schemas.microsoft.com/office/drawing/2014/main" id="{83A47EBB-D18B-DD3A-5449-BAAE0534135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212458" y="3025092"/>
            <a:ext cx="3446941" cy="2584747"/>
          </a:xfrm>
          <a:prstGeom prst="rect">
            <a:avLst/>
          </a:prstGeom>
        </p:spPr>
      </p:pic>
      <p:sp>
        <p:nvSpPr>
          <p:cNvPr id="12" name="Rectangle 11">
            <a:extLst>
              <a:ext uri="{FF2B5EF4-FFF2-40B4-BE49-F238E27FC236}">
                <a16:creationId xmlns:a16="http://schemas.microsoft.com/office/drawing/2014/main" id="{2CC480EB-D423-14EB-A0E8-9B3A9DB8B0FE}"/>
              </a:ext>
            </a:extLst>
          </p:cNvPr>
          <p:cNvSpPr/>
          <p:nvPr/>
        </p:nvSpPr>
        <p:spPr>
          <a:xfrm>
            <a:off x="4696064" y="5663203"/>
            <a:ext cx="2662908" cy="338554"/>
          </a:xfrm>
          <a:prstGeom prst="rect">
            <a:avLst/>
          </a:prstGeom>
        </p:spPr>
        <p:txBody>
          <a:bodyPr wrap="none">
            <a:spAutoFit/>
          </a:bodyPr>
          <a:lstStyle/>
          <a:p>
            <a:r>
              <a:rPr lang="en-US" sz="1600" dirty="0">
                <a:solidFill>
                  <a:srgbClr val="05088D"/>
                </a:solidFill>
                <a:latin typeface="Times New Roman" panose="02020603050405020304" pitchFamily="18" charset="0"/>
                <a:cs typeface="Times New Roman" panose="02020603050405020304" pitchFamily="18" charset="0"/>
              </a:rPr>
              <a:t>Fig. ReLU activation function</a:t>
            </a:r>
            <a:endParaRPr lang="en-US" sz="1600" dirty="0">
              <a:solidFill>
                <a:srgbClr val="05088D"/>
              </a:solidFill>
            </a:endParaRPr>
          </a:p>
        </p:txBody>
      </p:sp>
      <p:sp>
        <p:nvSpPr>
          <p:cNvPr id="13" name="Rectangle 12">
            <a:extLst>
              <a:ext uri="{FF2B5EF4-FFF2-40B4-BE49-F238E27FC236}">
                <a16:creationId xmlns:a16="http://schemas.microsoft.com/office/drawing/2014/main" id="{5BD0A295-9E11-8A51-D8D8-AD4993D0B55E}"/>
              </a:ext>
            </a:extLst>
          </p:cNvPr>
          <p:cNvSpPr/>
          <p:nvPr/>
        </p:nvSpPr>
        <p:spPr>
          <a:xfrm>
            <a:off x="608697" y="4328414"/>
            <a:ext cx="2882392" cy="338554"/>
          </a:xfrm>
          <a:prstGeom prst="rect">
            <a:avLst/>
          </a:prstGeom>
        </p:spPr>
        <p:txBody>
          <a:bodyPr wrap="none">
            <a:spAutoFit/>
          </a:bodyPr>
          <a:lstStyle/>
          <a:p>
            <a:r>
              <a:rPr lang="en-US" sz="1600" dirty="0">
                <a:solidFill>
                  <a:srgbClr val="05088D"/>
                </a:solidFill>
                <a:latin typeface="Times New Roman" panose="02020603050405020304" pitchFamily="18" charset="0"/>
                <a:cs typeface="Times New Roman" panose="02020603050405020304" pitchFamily="18" charset="0"/>
              </a:rPr>
              <a:t>Fig. Schematic Artificial Neuron</a:t>
            </a:r>
            <a:endParaRPr lang="en-US" sz="1600" dirty="0">
              <a:solidFill>
                <a:srgbClr val="05088D"/>
              </a:solidFill>
            </a:endParaRPr>
          </a:p>
        </p:txBody>
      </p:sp>
      <p:sp>
        <p:nvSpPr>
          <p:cNvPr id="14" name="Rectangle 13">
            <a:extLst>
              <a:ext uri="{FF2B5EF4-FFF2-40B4-BE49-F238E27FC236}">
                <a16:creationId xmlns:a16="http://schemas.microsoft.com/office/drawing/2014/main" id="{314BEB4F-57ED-F167-D0BB-50AA4E7B38DE}"/>
              </a:ext>
            </a:extLst>
          </p:cNvPr>
          <p:cNvSpPr/>
          <p:nvPr/>
        </p:nvSpPr>
        <p:spPr>
          <a:xfrm>
            <a:off x="8700912" y="4134033"/>
            <a:ext cx="2536015" cy="338554"/>
          </a:xfrm>
          <a:prstGeom prst="rect">
            <a:avLst/>
          </a:prstGeom>
        </p:spPr>
        <p:txBody>
          <a:bodyPr wrap="none">
            <a:spAutoFit/>
          </a:bodyPr>
          <a:lstStyle/>
          <a:p>
            <a:r>
              <a:rPr lang="en-US" sz="1600" dirty="0">
                <a:solidFill>
                  <a:srgbClr val="05088D"/>
                </a:solidFill>
                <a:latin typeface="Times New Roman" panose="02020603050405020304" pitchFamily="18" charset="0"/>
                <a:cs typeface="Times New Roman" panose="02020603050405020304" pitchFamily="18" charset="0"/>
              </a:rPr>
              <a:t>Fig. A feed-forward network</a:t>
            </a:r>
            <a:endParaRPr lang="en-US" sz="1600" dirty="0">
              <a:solidFill>
                <a:srgbClr val="05088D"/>
              </a:solidFill>
            </a:endParaRPr>
          </a:p>
        </p:txBody>
      </p:sp>
    </p:spTree>
    <p:extLst>
      <p:ext uri="{BB962C8B-B14F-4D97-AF65-F5344CB8AC3E}">
        <p14:creationId xmlns:p14="http://schemas.microsoft.com/office/powerpoint/2010/main" val="1292926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97EE12-705D-44C6-A801-F58FE1958639}"/>
              </a:ext>
            </a:extLst>
          </p:cNvPr>
          <p:cNvSpPr/>
          <p:nvPr/>
        </p:nvSpPr>
        <p:spPr bwMode="auto">
          <a:xfrm>
            <a:off x="168117" y="-12301"/>
            <a:ext cx="8489025" cy="6778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p>
            <a:pPr algn="ctr" eaLnBrk="0" hangingPunct="0">
              <a:spcAft>
                <a:spcPts val="600"/>
              </a:spcAft>
            </a:pPr>
            <a:r>
              <a:rPr lang="de-DE" sz="2800" b="1" dirty="0">
                <a:solidFill>
                  <a:schemeClr val="bg1"/>
                </a:solidFill>
                <a:latin typeface="Arial" panose="020B0604020202020204" pitchFamily="34" charset="0"/>
                <a:ea typeface="MS PGothic" pitchFamily="34" charset="-128"/>
                <a:cs typeface="Arial" panose="020B0604020202020204" pitchFamily="34" charset="0"/>
              </a:rPr>
              <a:t>SINDy Algorithm for sensor response prediction</a:t>
            </a:r>
            <a:endParaRPr lang="en-US" sz="2800" b="1" dirty="0">
              <a:solidFill>
                <a:schemeClr val="bg1"/>
              </a:solidFill>
              <a:latin typeface="Arial" panose="020B0604020202020204" pitchFamily="34" charset="0"/>
              <a:ea typeface="MS PGothic" pitchFamily="34" charset="-128"/>
              <a:cs typeface="Arial" panose="020B0604020202020204" pitchFamily="34" charset="0"/>
            </a:endParaRPr>
          </a:p>
        </p:txBody>
      </p:sp>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67587" y="6524630"/>
            <a:ext cx="673100" cy="333375"/>
          </a:xfrm>
        </p:spPr>
        <p:txBody>
          <a:bodyPr vert="horz" wrap="square" lIns="0" tIns="0" rIns="0" bIns="0" numCol="1" anchor="ctr" anchorCtr="1" compatLnSpc="1">
            <a:prstTxWarp prst="textNoShape">
              <a:avLst/>
            </a:prstTxWarp>
            <a:normAutofit/>
          </a:bodyPr>
          <a:lstStyle/>
          <a:p>
            <a:pPr>
              <a:spcAft>
                <a:spcPts val="600"/>
              </a:spcAft>
              <a:defRPr/>
            </a:pPr>
            <a:fld id="{5F403BB7-FB0E-42F4-853B-C30323DD7E47}" type="slidenum">
              <a:rPr lang="en-US" kern="1200">
                <a:latin typeface="Arial" panose="020B0604020202020204" pitchFamily="34" charset="0"/>
                <a:ea typeface="+mn-ea"/>
                <a:cs typeface="Arial" panose="020B0604020202020204" pitchFamily="34" charset="0"/>
              </a:rPr>
              <a:pPr>
                <a:spcAft>
                  <a:spcPts val="600"/>
                </a:spcAft>
                <a:defRPr/>
              </a:pPr>
              <a:t>11</a:t>
            </a:fld>
            <a:endParaRPr lang="en-US" kern="1200">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7DC0008E-732A-18AC-E40F-48DE967B8DD8}"/>
              </a:ext>
            </a:extLst>
          </p:cNvPr>
          <p:cNvSpPr txBox="1"/>
          <p:nvPr/>
        </p:nvSpPr>
        <p:spPr>
          <a:xfrm>
            <a:off x="3759486" y="1144787"/>
            <a:ext cx="1746791"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Load Libraries </a:t>
            </a:r>
            <a:endParaRPr lang="en-US" sz="1800" dirty="0">
              <a:latin typeface="Arial" panose="020B0604020202020204" pitchFamily="34" charset="0"/>
              <a:cs typeface="Arial" panose="020B0604020202020204" pitchFamily="34" charset="0"/>
            </a:endParaRPr>
          </a:p>
        </p:txBody>
      </p:sp>
      <p:sp>
        <p:nvSpPr>
          <p:cNvPr id="3" name="Arrow: Down 2">
            <a:extLst>
              <a:ext uri="{FF2B5EF4-FFF2-40B4-BE49-F238E27FC236}">
                <a16:creationId xmlns:a16="http://schemas.microsoft.com/office/drawing/2014/main" id="{4CA1097D-94A1-AE50-3BDE-81D2EC1918E6}"/>
              </a:ext>
            </a:extLst>
          </p:cNvPr>
          <p:cNvSpPr/>
          <p:nvPr/>
        </p:nvSpPr>
        <p:spPr bwMode="auto">
          <a:xfrm>
            <a:off x="4488819" y="1514119"/>
            <a:ext cx="90210" cy="281496"/>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4" name="TextBox 3">
            <a:extLst>
              <a:ext uri="{FF2B5EF4-FFF2-40B4-BE49-F238E27FC236}">
                <a16:creationId xmlns:a16="http://schemas.microsoft.com/office/drawing/2014/main" id="{8F046AD2-D355-3588-6CE8-7DF0C2418272}"/>
              </a:ext>
            </a:extLst>
          </p:cNvPr>
          <p:cNvSpPr txBox="1"/>
          <p:nvPr/>
        </p:nvSpPr>
        <p:spPr>
          <a:xfrm>
            <a:off x="3303791" y="1795615"/>
            <a:ext cx="3272158"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Prepare &amp; Load the dataset </a:t>
            </a:r>
            <a:endParaRPr lang="en-US" sz="1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3034747-6ACA-6FCB-6A26-55D1AEE7FE23}"/>
              </a:ext>
            </a:extLst>
          </p:cNvPr>
          <p:cNvSpPr txBox="1"/>
          <p:nvPr/>
        </p:nvSpPr>
        <p:spPr>
          <a:xfrm>
            <a:off x="1928089" y="2476961"/>
            <a:ext cx="5320332"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Transform 2nd order ODE into two 1st order ODEs</a:t>
            </a:r>
            <a:endParaRPr lang="en-US" sz="1800" dirty="0">
              <a:latin typeface="Arial" panose="020B0604020202020204" pitchFamily="34" charset="0"/>
              <a:cs typeface="Arial" panose="020B0604020202020204" pitchFamily="34" charset="0"/>
            </a:endParaRPr>
          </a:p>
        </p:txBody>
      </p:sp>
      <p:sp>
        <p:nvSpPr>
          <p:cNvPr id="8" name="Arrow: Down 7">
            <a:extLst>
              <a:ext uri="{FF2B5EF4-FFF2-40B4-BE49-F238E27FC236}">
                <a16:creationId xmlns:a16="http://schemas.microsoft.com/office/drawing/2014/main" id="{3F320267-5D14-7DD2-431C-FF11E31EA3C0}"/>
              </a:ext>
            </a:extLst>
          </p:cNvPr>
          <p:cNvSpPr/>
          <p:nvPr/>
        </p:nvSpPr>
        <p:spPr bwMode="auto">
          <a:xfrm>
            <a:off x="4488819" y="2180206"/>
            <a:ext cx="90210" cy="281496"/>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9" name="TextBox 8">
            <a:extLst>
              <a:ext uri="{FF2B5EF4-FFF2-40B4-BE49-F238E27FC236}">
                <a16:creationId xmlns:a16="http://schemas.microsoft.com/office/drawing/2014/main" id="{8D63DF9B-F0B4-2CC7-F1FA-AA9AAD32991E}"/>
              </a:ext>
            </a:extLst>
          </p:cNvPr>
          <p:cNvSpPr txBox="1"/>
          <p:nvPr/>
        </p:nvSpPr>
        <p:spPr>
          <a:xfrm>
            <a:off x="3151081" y="3072731"/>
            <a:ext cx="2963600"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Define and train the model</a:t>
            </a:r>
            <a:endParaRPr lang="en-US" sz="1800" dirty="0">
              <a:latin typeface="Arial" panose="020B0604020202020204" pitchFamily="34" charset="0"/>
              <a:cs typeface="Arial" panose="020B0604020202020204" pitchFamily="34" charset="0"/>
            </a:endParaRPr>
          </a:p>
        </p:txBody>
      </p:sp>
      <p:sp>
        <p:nvSpPr>
          <p:cNvPr id="11" name="Arrow: Down 10">
            <a:extLst>
              <a:ext uri="{FF2B5EF4-FFF2-40B4-BE49-F238E27FC236}">
                <a16:creationId xmlns:a16="http://schemas.microsoft.com/office/drawing/2014/main" id="{FF3E56CF-8584-BD0B-C2C9-C6D9DC1ABADF}"/>
              </a:ext>
            </a:extLst>
          </p:cNvPr>
          <p:cNvSpPr/>
          <p:nvPr/>
        </p:nvSpPr>
        <p:spPr bwMode="auto">
          <a:xfrm>
            <a:off x="4488819" y="2791235"/>
            <a:ext cx="90210" cy="281496"/>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13" name="TextBox 12">
            <a:extLst>
              <a:ext uri="{FF2B5EF4-FFF2-40B4-BE49-F238E27FC236}">
                <a16:creationId xmlns:a16="http://schemas.microsoft.com/office/drawing/2014/main" id="{F0E30141-558A-D370-8A32-888D1330D35B}"/>
              </a:ext>
            </a:extLst>
          </p:cNvPr>
          <p:cNvSpPr txBox="1"/>
          <p:nvPr/>
        </p:nvSpPr>
        <p:spPr>
          <a:xfrm>
            <a:off x="2120674" y="3693125"/>
            <a:ext cx="5638391"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Model performance on training &amp; validation dataset??</a:t>
            </a:r>
            <a:endParaRPr lang="en-US" sz="1800" dirty="0">
              <a:latin typeface="Arial" panose="020B0604020202020204" pitchFamily="34" charset="0"/>
              <a:cs typeface="Arial" panose="020B0604020202020204" pitchFamily="34" charset="0"/>
            </a:endParaRPr>
          </a:p>
        </p:txBody>
      </p:sp>
      <p:sp>
        <p:nvSpPr>
          <p:cNvPr id="14" name="Arrow: Down 13">
            <a:extLst>
              <a:ext uri="{FF2B5EF4-FFF2-40B4-BE49-F238E27FC236}">
                <a16:creationId xmlns:a16="http://schemas.microsoft.com/office/drawing/2014/main" id="{D121DB98-450A-107D-796F-C86B31BE52A7}"/>
              </a:ext>
            </a:extLst>
          </p:cNvPr>
          <p:cNvSpPr/>
          <p:nvPr/>
        </p:nvSpPr>
        <p:spPr bwMode="auto">
          <a:xfrm>
            <a:off x="4488819" y="3432055"/>
            <a:ext cx="90210" cy="281496"/>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15" name="Arrow: Down 14">
            <a:extLst>
              <a:ext uri="{FF2B5EF4-FFF2-40B4-BE49-F238E27FC236}">
                <a16:creationId xmlns:a16="http://schemas.microsoft.com/office/drawing/2014/main" id="{A355E578-0929-78BE-19B6-ADCC707C4D93}"/>
              </a:ext>
            </a:extLst>
          </p:cNvPr>
          <p:cNvSpPr/>
          <p:nvPr/>
        </p:nvSpPr>
        <p:spPr bwMode="auto">
          <a:xfrm>
            <a:off x="4488819" y="4001069"/>
            <a:ext cx="90210" cy="281496"/>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17" name="TextBox 16">
            <a:extLst>
              <a:ext uri="{FF2B5EF4-FFF2-40B4-BE49-F238E27FC236}">
                <a16:creationId xmlns:a16="http://schemas.microsoft.com/office/drawing/2014/main" id="{77927B7F-21B2-470D-385F-4C88438905EC}"/>
              </a:ext>
            </a:extLst>
          </p:cNvPr>
          <p:cNvSpPr txBox="1"/>
          <p:nvPr/>
        </p:nvSpPr>
        <p:spPr>
          <a:xfrm>
            <a:off x="4784393" y="4001069"/>
            <a:ext cx="1873564"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satisfactory for both</a:t>
            </a:r>
            <a:endParaRPr lang="en-US" sz="14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DB057D6D-5F69-A9D9-8394-1BEDFEAC15D3}"/>
              </a:ext>
            </a:extLst>
          </p:cNvPr>
          <p:cNvSpPr txBox="1"/>
          <p:nvPr/>
        </p:nvSpPr>
        <p:spPr>
          <a:xfrm>
            <a:off x="2085377" y="4282383"/>
            <a:ext cx="5814436"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Tune model hyperparameters and check Test set error.</a:t>
            </a:r>
            <a:endParaRPr lang="en-US" sz="18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4C6591DA-B6BD-BC7C-CDF8-97678121DAEE}"/>
              </a:ext>
            </a:extLst>
          </p:cNvPr>
          <p:cNvSpPr txBox="1"/>
          <p:nvPr/>
        </p:nvSpPr>
        <p:spPr>
          <a:xfrm>
            <a:off x="8328921" y="4996388"/>
            <a:ext cx="1899191"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Satisfactory</a:t>
            </a:r>
            <a:endParaRPr lang="en-US" sz="1800" dirty="0">
              <a:latin typeface="Arial" panose="020B0604020202020204" pitchFamily="34" charset="0"/>
              <a:cs typeface="Arial" panose="020B0604020202020204" pitchFamily="34" charset="0"/>
            </a:endParaRPr>
          </a:p>
        </p:txBody>
      </p:sp>
      <p:sp>
        <p:nvSpPr>
          <p:cNvPr id="21" name="Arrow: Down 20">
            <a:extLst>
              <a:ext uri="{FF2B5EF4-FFF2-40B4-BE49-F238E27FC236}">
                <a16:creationId xmlns:a16="http://schemas.microsoft.com/office/drawing/2014/main" id="{F49D7D59-45DC-D8BB-FD70-C418F2297E67}"/>
              </a:ext>
            </a:extLst>
          </p:cNvPr>
          <p:cNvSpPr/>
          <p:nvPr/>
        </p:nvSpPr>
        <p:spPr bwMode="auto">
          <a:xfrm rot="16200000">
            <a:off x="7842486" y="3737042"/>
            <a:ext cx="114655" cy="281496"/>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22" name="TextBox 21">
            <a:extLst>
              <a:ext uri="{FF2B5EF4-FFF2-40B4-BE49-F238E27FC236}">
                <a16:creationId xmlns:a16="http://schemas.microsoft.com/office/drawing/2014/main" id="{604849FA-8BE2-445E-9B46-140972AD254C}"/>
              </a:ext>
            </a:extLst>
          </p:cNvPr>
          <p:cNvSpPr txBox="1"/>
          <p:nvPr/>
        </p:nvSpPr>
        <p:spPr>
          <a:xfrm>
            <a:off x="8200750" y="3723901"/>
            <a:ext cx="2250122"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No for both/ one of them</a:t>
            </a:r>
            <a:endParaRPr lang="en-US" sz="14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CFD98FA9-3476-3355-3767-C0686608170E}"/>
              </a:ext>
            </a:extLst>
          </p:cNvPr>
          <p:cNvSpPr txBox="1"/>
          <p:nvPr/>
        </p:nvSpPr>
        <p:spPr>
          <a:xfrm rot="477353">
            <a:off x="6331254" y="3237663"/>
            <a:ext cx="3365373"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Try possible Variance/Bias fix</a:t>
            </a:r>
            <a:endParaRPr lang="en-US" sz="14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63B4CE11-1218-DC6E-2CB3-A6ED715EB478}"/>
              </a:ext>
            </a:extLst>
          </p:cNvPr>
          <p:cNvSpPr txBox="1"/>
          <p:nvPr/>
        </p:nvSpPr>
        <p:spPr>
          <a:xfrm>
            <a:off x="2780351" y="4841531"/>
            <a:ext cx="1899191"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Not satisfactory</a:t>
            </a:r>
            <a:endParaRPr lang="en-US" sz="1800" dirty="0">
              <a:latin typeface="Arial" panose="020B0604020202020204" pitchFamily="34" charset="0"/>
              <a:cs typeface="Arial" panose="020B0604020202020204" pitchFamily="34" charset="0"/>
            </a:endParaRPr>
          </a:p>
        </p:txBody>
      </p:sp>
      <p:cxnSp>
        <p:nvCxnSpPr>
          <p:cNvPr id="28" name="Straight Arrow Connector 27">
            <a:extLst>
              <a:ext uri="{FF2B5EF4-FFF2-40B4-BE49-F238E27FC236}">
                <a16:creationId xmlns:a16="http://schemas.microsoft.com/office/drawing/2014/main" id="{627AA317-1E31-6A1F-E812-3164296033C5}"/>
              </a:ext>
            </a:extLst>
          </p:cNvPr>
          <p:cNvCxnSpPr>
            <a:cxnSpLocks/>
          </p:cNvCxnSpPr>
          <p:nvPr/>
        </p:nvCxnSpPr>
        <p:spPr bwMode="auto">
          <a:xfrm>
            <a:off x="6391427" y="4622866"/>
            <a:ext cx="1994927" cy="40333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A6CCC9C2-3352-C4F7-1830-1B0E6231BB44}"/>
              </a:ext>
            </a:extLst>
          </p:cNvPr>
          <p:cNvCxnSpPr>
            <a:cxnSpLocks/>
          </p:cNvCxnSpPr>
          <p:nvPr/>
        </p:nvCxnSpPr>
        <p:spPr bwMode="auto">
          <a:xfrm flipH="1">
            <a:off x="4549669" y="4622866"/>
            <a:ext cx="1841758" cy="3363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2" name="Arrow: Down 31">
            <a:extLst>
              <a:ext uri="{FF2B5EF4-FFF2-40B4-BE49-F238E27FC236}">
                <a16:creationId xmlns:a16="http://schemas.microsoft.com/office/drawing/2014/main" id="{4527849B-56FC-96D0-B5DB-26E49F3623B9}"/>
              </a:ext>
            </a:extLst>
          </p:cNvPr>
          <p:cNvSpPr/>
          <p:nvPr/>
        </p:nvSpPr>
        <p:spPr bwMode="auto">
          <a:xfrm>
            <a:off x="8815115" y="5343033"/>
            <a:ext cx="90210" cy="281496"/>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33" name="TextBox 32">
            <a:extLst>
              <a:ext uri="{FF2B5EF4-FFF2-40B4-BE49-F238E27FC236}">
                <a16:creationId xmlns:a16="http://schemas.microsoft.com/office/drawing/2014/main" id="{051F2AC3-EA74-74D0-D300-B873108EC993}"/>
              </a:ext>
            </a:extLst>
          </p:cNvPr>
          <p:cNvSpPr txBox="1"/>
          <p:nvPr/>
        </p:nvSpPr>
        <p:spPr>
          <a:xfrm>
            <a:off x="7463226" y="5650743"/>
            <a:ext cx="3854080"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Report the model with test set error.</a:t>
            </a:r>
            <a:endParaRPr lang="en-US" sz="1800" dirty="0">
              <a:latin typeface="Arial" panose="020B0604020202020204" pitchFamily="34" charset="0"/>
              <a:cs typeface="Arial" panose="020B0604020202020204" pitchFamily="34" charset="0"/>
            </a:endParaRPr>
          </a:p>
        </p:txBody>
      </p:sp>
      <p:cxnSp>
        <p:nvCxnSpPr>
          <p:cNvPr id="35" name="Straight Arrow Connector 34">
            <a:extLst>
              <a:ext uri="{FF2B5EF4-FFF2-40B4-BE49-F238E27FC236}">
                <a16:creationId xmlns:a16="http://schemas.microsoft.com/office/drawing/2014/main" id="{630F30E1-8AAB-037C-2F8B-D90C0C731A3A}"/>
              </a:ext>
            </a:extLst>
          </p:cNvPr>
          <p:cNvCxnSpPr>
            <a:cxnSpLocks/>
          </p:cNvCxnSpPr>
          <p:nvPr/>
        </p:nvCxnSpPr>
        <p:spPr bwMode="auto">
          <a:xfrm flipH="1" flipV="1">
            <a:off x="5954721" y="3291962"/>
            <a:ext cx="2677593" cy="3875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8" name="TextBox 37">
            <a:extLst>
              <a:ext uri="{FF2B5EF4-FFF2-40B4-BE49-F238E27FC236}">
                <a16:creationId xmlns:a16="http://schemas.microsoft.com/office/drawing/2014/main" id="{C37AB68A-2803-9E90-C992-8E0F3F654D7B}"/>
              </a:ext>
            </a:extLst>
          </p:cNvPr>
          <p:cNvSpPr txBox="1"/>
          <p:nvPr/>
        </p:nvSpPr>
        <p:spPr>
          <a:xfrm>
            <a:off x="646700" y="5593841"/>
            <a:ext cx="4519036" cy="646331"/>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Check for dataset quality, model architecture &amp; repeat the whole process.</a:t>
            </a:r>
            <a:endParaRPr lang="en-US" sz="1800" dirty="0">
              <a:latin typeface="Arial" panose="020B0604020202020204" pitchFamily="34" charset="0"/>
              <a:cs typeface="Arial" panose="020B0604020202020204" pitchFamily="34" charset="0"/>
            </a:endParaRPr>
          </a:p>
        </p:txBody>
      </p:sp>
      <p:sp>
        <p:nvSpPr>
          <p:cNvPr id="39" name="Arrow: Down 38">
            <a:extLst>
              <a:ext uri="{FF2B5EF4-FFF2-40B4-BE49-F238E27FC236}">
                <a16:creationId xmlns:a16="http://schemas.microsoft.com/office/drawing/2014/main" id="{9123CAB4-5648-562C-6182-759F4E430FD5}"/>
              </a:ext>
            </a:extLst>
          </p:cNvPr>
          <p:cNvSpPr/>
          <p:nvPr/>
        </p:nvSpPr>
        <p:spPr bwMode="auto">
          <a:xfrm>
            <a:off x="3771494" y="5261604"/>
            <a:ext cx="90210" cy="281496"/>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Tree>
    <p:extLst>
      <p:ext uri="{BB962C8B-B14F-4D97-AF65-F5344CB8AC3E}">
        <p14:creationId xmlns:p14="http://schemas.microsoft.com/office/powerpoint/2010/main" val="2687465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6016A-2849-26C6-628F-9AB7F9821B48}"/>
              </a:ext>
            </a:extLst>
          </p:cNvPr>
          <p:cNvSpPr>
            <a:spLocks noGrp="1"/>
          </p:cNvSpPr>
          <p:nvPr>
            <p:ph type="sldNum" sz="quarter" idx="11"/>
          </p:nvPr>
        </p:nvSpPr>
        <p:spPr/>
        <p:txBody>
          <a:bodyPr/>
          <a:lstStyle/>
          <a:p>
            <a:pPr>
              <a:defRPr/>
            </a:pPr>
            <a:fld id="{5F403BB7-FB0E-42F4-853B-C30323DD7E47}" type="slidenum">
              <a:rPr lang="en-US" smtClean="0"/>
              <a:pPr>
                <a:defRPr/>
              </a:pPr>
              <a:t>12</a:t>
            </a:fld>
            <a:endParaRPr lang="en-US"/>
          </a:p>
        </p:txBody>
      </p:sp>
      <p:sp>
        <p:nvSpPr>
          <p:cNvPr id="7" name="TextBox 6">
            <a:extLst>
              <a:ext uri="{FF2B5EF4-FFF2-40B4-BE49-F238E27FC236}">
                <a16:creationId xmlns:a16="http://schemas.microsoft.com/office/drawing/2014/main" id="{7930A495-5B53-88FE-C562-4E0F311C88E5}"/>
              </a:ext>
            </a:extLst>
          </p:cNvPr>
          <p:cNvSpPr txBox="1"/>
          <p:nvPr/>
        </p:nvSpPr>
        <p:spPr>
          <a:xfrm>
            <a:off x="302164" y="0"/>
            <a:ext cx="7216790" cy="954107"/>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Hyperparameters of SINDy models: Threshold value</a:t>
            </a:r>
            <a:endParaRPr lang="en-US" sz="2800" dirty="0">
              <a:solidFill>
                <a:schemeClr val="bg1"/>
              </a:solidFill>
              <a:latin typeface="Arial" panose="020B0604020202020204" pitchFamily="34" charset="0"/>
              <a:cs typeface="Arial" panose="020B0604020202020204" pitchFamily="34" charset="0"/>
            </a:endParaRPr>
          </a:p>
        </p:txBody>
      </p:sp>
      <p:pic>
        <p:nvPicPr>
          <p:cNvPr id="10" name="Picture 9" descr="A collage of graphs&#10;&#10;Description automatically generated">
            <a:extLst>
              <a:ext uri="{FF2B5EF4-FFF2-40B4-BE49-F238E27FC236}">
                <a16:creationId xmlns:a16="http://schemas.microsoft.com/office/drawing/2014/main" id="{52377F54-3FAA-2DCC-40CB-85CDDC5C3D74}"/>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815737" y="1151235"/>
            <a:ext cx="7824651" cy="4774533"/>
          </a:xfrm>
          <a:prstGeom prst="rect">
            <a:avLst/>
          </a:prstGeom>
          <a:noFill/>
        </p:spPr>
      </p:pic>
      <p:sp>
        <p:nvSpPr>
          <p:cNvPr id="11" name="TextBox 10">
            <a:extLst>
              <a:ext uri="{FF2B5EF4-FFF2-40B4-BE49-F238E27FC236}">
                <a16:creationId xmlns:a16="http://schemas.microsoft.com/office/drawing/2014/main" id="{CE05CB70-FF2E-65CC-DCD0-7AA1CA41A9B1}"/>
              </a:ext>
            </a:extLst>
          </p:cNvPr>
          <p:cNvSpPr txBox="1"/>
          <p:nvPr/>
        </p:nvSpPr>
        <p:spPr>
          <a:xfrm>
            <a:off x="2362903" y="6111896"/>
            <a:ext cx="7466194"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Effect of threshold for voltage (Top) and Displacement dataset (below)</a:t>
            </a:r>
          </a:p>
        </p:txBody>
      </p:sp>
      <p:sp>
        <p:nvSpPr>
          <p:cNvPr id="2" name="TextBox 1">
            <a:extLst>
              <a:ext uri="{FF2B5EF4-FFF2-40B4-BE49-F238E27FC236}">
                <a16:creationId xmlns:a16="http://schemas.microsoft.com/office/drawing/2014/main" id="{18B2FE2C-5252-30DF-B969-AEA47AC99629}"/>
              </a:ext>
            </a:extLst>
          </p:cNvPr>
          <p:cNvSpPr txBox="1"/>
          <p:nvPr/>
        </p:nvSpPr>
        <p:spPr>
          <a:xfrm>
            <a:off x="10106298" y="1933303"/>
            <a:ext cx="2002970" cy="646331"/>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Theshold choosen = </a:t>
            </a:r>
            <a:r>
              <a:rPr lang="de-DE" sz="1800" dirty="0">
                <a:solidFill>
                  <a:srgbClr val="FF0000"/>
                </a:solidFill>
                <a:latin typeface="Arial" panose="020B0604020202020204" pitchFamily="34" charset="0"/>
                <a:cs typeface="Arial" panose="020B0604020202020204" pitchFamily="34" charset="0"/>
              </a:rPr>
              <a:t>0.1</a:t>
            </a:r>
            <a:endParaRPr lang="en-US" sz="1800" dirty="0">
              <a:solidFill>
                <a:srgbClr val="FF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BC7B42D-B958-452C-D830-A2109B335782}"/>
              </a:ext>
            </a:extLst>
          </p:cNvPr>
          <p:cNvSpPr txBox="1"/>
          <p:nvPr/>
        </p:nvSpPr>
        <p:spPr>
          <a:xfrm>
            <a:off x="10106298" y="4071257"/>
            <a:ext cx="2002970" cy="646331"/>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Theshold choosen = </a:t>
            </a:r>
            <a:r>
              <a:rPr lang="de-DE" sz="1800" dirty="0">
                <a:solidFill>
                  <a:srgbClr val="FF0000"/>
                </a:solidFill>
                <a:latin typeface="Arial" panose="020B0604020202020204" pitchFamily="34" charset="0"/>
                <a:cs typeface="Arial" panose="020B0604020202020204" pitchFamily="34" charset="0"/>
              </a:rPr>
              <a:t>0.2</a:t>
            </a:r>
            <a:endParaRPr lang="en-US" sz="18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1165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6016A-2849-26C6-628F-9AB7F9821B48}"/>
              </a:ext>
            </a:extLst>
          </p:cNvPr>
          <p:cNvSpPr>
            <a:spLocks noGrp="1"/>
          </p:cNvSpPr>
          <p:nvPr>
            <p:ph type="sldNum" sz="quarter" idx="11"/>
          </p:nvPr>
        </p:nvSpPr>
        <p:spPr/>
        <p:txBody>
          <a:bodyPr/>
          <a:lstStyle/>
          <a:p>
            <a:pPr>
              <a:defRPr/>
            </a:pPr>
            <a:fld id="{5F403BB7-FB0E-42F4-853B-C30323DD7E47}" type="slidenum">
              <a:rPr lang="en-US" smtClean="0"/>
              <a:pPr>
                <a:defRPr/>
              </a:pPr>
              <a:t>13</a:t>
            </a:fld>
            <a:endParaRPr lang="en-US"/>
          </a:p>
        </p:txBody>
      </p:sp>
      <p:sp>
        <p:nvSpPr>
          <p:cNvPr id="7" name="TextBox 6">
            <a:extLst>
              <a:ext uri="{FF2B5EF4-FFF2-40B4-BE49-F238E27FC236}">
                <a16:creationId xmlns:a16="http://schemas.microsoft.com/office/drawing/2014/main" id="{7930A495-5B53-88FE-C562-4E0F311C88E5}"/>
              </a:ext>
            </a:extLst>
          </p:cNvPr>
          <p:cNvSpPr txBox="1"/>
          <p:nvPr/>
        </p:nvSpPr>
        <p:spPr>
          <a:xfrm>
            <a:off x="302164" y="0"/>
            <a:ext cx="7216790" cy="954107"/>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Hyperparameters of SINDy models: Regularization strength</a:t>
            </a:r>
            <a:endParaRPr lang="en-US" sz="2800"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E05CB70-FF2E-65CC-DCD0-7AA1CA41A9B1}"/>
              </a:ext>
            </a:extLst>
          </p:cNvPr>
          <p:cNvSpPr txBox="1"/>
          <p:nvPr/>
        </p:nvSpPr>
        <p:spPr>
          <a:xfrm>
            <a:off x="2396263" y="6105968"/>
            <a:ext cx="7466194"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Effect of alpha for voltage (Top) and Displacement dataset (below)</a:t>
            </a:r>
          </a:p>
        </p:txBody>
      </p:sp>
      <p:pic>
        <p:nvPicPr>
          <p:cNvPr id="2" name="Picture 1" descr="A graph of alpha and r&#10;&#10;Description automatically generated with medium confidence">
            <a:extLst>
              <a:ext uri="{FF2B5EF4-FFF2-40B4-BE49-F238E27FC236}">
                <a16:creationId xmlns:a16="http://schemas.microsoft.com/office/drawing/2014/main" id="{0FA11547-E276-D30B-7B13-8CE238ADE488}"/>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902823" y="1274008"/>
            <a:ext cx="7754983" cy="4819836"/>
          </a:xfrm>
          <a:prstGeom prst="rect">
            <a:avLst/>
          </a:prstGeom>
          <a:noFill/>
        </p:spPr>
      </p:pic>
      <p:sp>
        <p:nvSpPr>
          <p:cNvPr id="3" name="TextBox 2">
            <a:extLst>
              <a:ext uri="{FF2B5EF4-FFF2-40B4-BE49-F238E27FC236}">
                <a16:creationId xmlns:a16="http://schemas.microsoft.com/office/drawing/2014/main" id="{8422E81F-B965-9361-1017-A0159D9EE53F}"/>
              </a:ext>
            </a:extLst>
          </p:cNvPr>
          <p:cNvSpPr txBox="1"/>
          <p:nvPr/>
        </p:nvSpPr>
        <p:spPr>
          <a:xfrm>
            <a:off x="7390151" y="1398654"/>
            <a:ext cx="2320426"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Alpha choosen = </a:t>
            </a:r>
            <a:r>
              <a:rPr lang="de-DE" sz="1800" dirty="0">
                <a:solidFill>
                  <a:srgbClr val="FF0000"/>
                </a:solidFill>
                <a:latin typeface="Arial" panose="020B0604020202020204" pitchFamily="34" charset="0"/>
                <a:cs typeface="Arial" panose="020B0604020202020204" pitchFamily="34" charset="0"/>
              </a:rPr>
              <a:t>0.0</a:t>
            </a:r>
            <a:endParaRPr lang="en-US" sz="1800" dirty="0">
              <a:solidFill>
                <a:srgbClr val="FF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EC104F2-4011-C9F6-8696-247B3014ACB9}"/>
              </a:ext>
            </a:extLst>
          </p:cNvPr>
          <p:cNvSpPr txBox="1"/>
          <p:nvPr/>
        </p:nvSpPr>
        <p:spPr>
          <a:xfrm>
            <a:off x="7164442" y="3958403"/>
            <a:ext cx="2451462" cy="369332"/>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Alpha choosen = </a:t>
            </a:r>
            <a:r>
              <a:rPr lang="de-DE" sz="1800" dirty="0">
                <a:solidFill>
                  <a:srgbClr val="FF0000"/>
                </a:solidFill>
                <a:latin typeface="Arial" panose="020B0604020202020204" pitchFamily="34" charset="0"/>
                <a:cs typeface="Arial" panose="020B0604020202020204" pitchFamily="34" charset="0"/>
              </a:rPr>
              <a:t>0.05</a:t>
            </a:r>
            <a:endParaRPr lang="en-US" sz="18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3348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6016A-2849-26C6-628F-9AB7F9821B48}"/>
              </a:ext>
            </a:extLst>
          </p:cNvPr>
          <p:cNvSpPr>
            <a:spLocks noGrp="1"/>
          </p:cNvSpPr>
          <p:nvPr>
            <p:ph type="sldNum" sz="quarter" idx="11"/>
          </p:nvPr>
        </p:nvSpPr>
        <p:spPr/>
        <p:txBody>
          <a:bodyPr/>
          <a:lstStyle/>
          <a:p>
            <a:pPr>
              <a:defRPr/>
            </a:pPr>
            <a:fld id="{5F403BB7-FB0E-42F4-853B-C30323DD7E47}" type="slidenum">
              <a:rPr lang="en-US" smtClean="0"/>
              <a:pPr>
                <a:defRPr/>
              </a:pPr>
              <a:t>14</a:t>
            </a:fld>
            <a:endParaRPr lang="en-US"/>
          </a:p>
        </p:txBody>
      </p:sp>
      <p:sp>
        <p:nvSpPr>
          <p:cNvPr id="7" name="TextBox 6">
            <a:extLst>
              <a:ext uri="{FF2B5EF4-FFF2-40B4-BE49-F238E27FC236}">
                <a16:creationId xmlns:a16="http://schemas.microsoft.com/office/drawing/2014/main" id="{7930A495-5B53-88FE-C562-4E0F311C88E5}"/>
              </a:ext>
            </a:extLst>
          </p:cNvPr>
          <p:cNvSpPr txBox="1"/>
          <p:nvPr/>
        </p:nvSpPr>
        <p:spPr>
          <a:xfrm>
            <a:off x="302164" y="0"/>
            <a:ext cx="7216790" cy="954107"/>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Hyperparameters of SINDy models: Window length </a:t>
            </a:r>
            <a:endParaRPr lang="en-US" sz="2800"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E05CB70-FF2E-65CC-DCD0-7AA1CA41A9B1}"/>
              </a:ext>
            </a:extLst>
          </p:cNvPr>
          <p:cNvSpPr txBox="1"/>
          <p:nvPr/>
        </p:nvSpPr>
        <p:spPr>
          <a:xfrm>
            <a:off x="2383200" y="6129313"/>
            <a:ext cx="7466194"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Effect of window_length for voltage (left) and Displacement dataset (right)</a:t>
            </a:r>
          </a:p>
        </p:txBody>
      </p:sp>
      <p:pic>
        <p:nvPicPr>
          <p:cNvPr id="2" name="Picture 1" descr="A comparison of graphs and diagrams&#10;&#10;Description automatically generated">
            <a:extLst>
              <a:ext uri="{FF2B5EF4-FFF2-40B4-BE49-F238E27FC236}">
                <a16:creationId xmlns:a16="http://schemas.microsoft.com/office/drawing/2014/main" id="{DA92359E-B78C-50DF-7964-3EAA5C014F3A}"/>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711077" y="1976417"/>
            <a:ext cx="8191505" cy="2713584"/>
          </a:xfrm>
          <a:prstGeom prst="rect">
            <a:avLst/>
          </a:prstGeom>
          <a:noFill/>
        </p:spPr>
      </p:pic>
    </p:spTree>
    <p:extLst>
      <p:ext uri="{BB962C8B-B14F-4D97-AF65-F5344CB8AC3E}">
        <p14:creationId xmlns:p14="http://schemas.microsoft.com/office/powerpoint/2010/main" val="2179439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6016A-2849-26C6-628F-9AB7F9821B48}"/>
              </a:ext>
            </a:extLst>
          </p:cNvPr>
          <p:cNvSpPr>
            <a:spLocks noGrp="1"/>
          </p:cNvSpPr>
          <p:nvPr>
            <p:ph type="sldNum" sz="quarter" idx="11"/>
          </p:nvPr>
        </p:nvSpPr>
        <p:spPr/>
        <p:txBody>
          <a:bodyPr/>
          <a:lstStyle/>
          <a:p>
            <a:pPr>
              <a:defRPr/>
            </a:pPr>
            <a:fld id="{5F403BB7-FB0E-42F4-853B-C30323DD7E47}" type="slidenum">
              <a:rPr lang="en-US" smtClean="0"/>
              <a:pPr>
                <a:defRPr/>
              </a:pPr>
              <a:t>15</a:t>
            </a:fld>
            <a:endParaRPr lang="en-US"/>
          </a:p>
        </p:txBody>
      </p:sp>
      <p:sp>
        <p:nvSpPr>
          <p:cNvPr id="7" name="TextBox 6">
            <a:extLst>
              <a:ext uri="{FF2B5EF4-FFF2-40B4-BE49-F238E27FC236}">
                <a16:creationId xmlns:a16="http://schemas.microsoft.com/office/drawing/2014/main" id="{7930A495-5B53-88FE-C562-4E0F311C88E5}"/>
              </a:ext>
            </a:extLst>
          </p:cNvPr>
          <p:cNvSpPr txBox="1"/>
          <p:nvPr/>
        </p:nvSpPr>
        <p:spPr>
          <a:xfrm>
            <a:off x="302164" y="0"/>
            <a:ext cx="7216790" cy="954107"/>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Hyperparameters of SINDy models: No. Of epochs</a:t>
            </a:r>
            <a:endParaRPr lang="en-US" sz="2800"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E05CB70-FF2E-65CC-DCD0-7AA1CA41A9B1}"/>
              </a:ext>
            </a:extLst>
          </p:cNvPr>
          <p:cNvSpPr txBox="1"/>
          <p:nvPr/>
        </p:nvSpPr>
        <p:spPr>
          <a:xfrm>
            <a:off x="2246812" y="6216853"/>
            <a:ext cx="7126930"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Effect of training duration for voltage (Left) and Displacement dataset (Right)</a:t>
            </a:r>
          </a:p>
        </p:txBody>
      </p:sp>
      <p:pic>
        <p:nvPicPr>
          <p:cNvPr id="2" name="Picture 1" descr="A comparison of a graph&#10;&#10;Description automatically generated">
            <a:extLst>
              <a:ext uri="{FF2B5EF4-FFF2-40B4-BE49-F238E27FC236}">
                <a16:creationId xmlns:a16="http://schemas.microsoft.com/office/drawing/2014/main" id="{321D1D10-5015-6E5F-A3A2-4502D44B17F3}"/>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2047158" y="2092073"/>
            <a:ext cx="8097683" cy="2673853"/>
          </a:xfrm>
          <a:prstGeom prst="rect">
            <a:avLst/>
          </a:prstGeom>
          <a:noFill/>
        </p:spPr>
      </p:pic>
    </p:spTree>
    <p:extLst>
      <p:ext uri="{BB962C8B-B14F-4D97-AF65-F5344CB8AC3E}">
        <p14:creationId xmlns:p14="http://schemas.microsoft.com/office/powerpoint/2010/main" val="2529904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6016A-2849-26C6-628F-9AB7F9821B48}"/>
              </a:ext>
            </a:extLst>
          </p:cNvPr>
          <p:cNvSpPr>
            <a:spLocks noGrp="1"/>
          </p:cNvSpPr>
          <p:nvPr>
            <p:ph type="sldNum" sz="quarter" idx="11"/>
          </p:nvPr>
        </p:nvSpPr>
        <p:spPr/>
        <p:txBody>
          <a:bodyPr/>
          <a:lstStyle/>
          <a:p>
            <a:pPr>
              <a:defRPr/>
            </a:pPr>
            <a:fld id="{5F403BB7-FB0E-42F4-853B-C30323DD7E47}" type="slidenum">
              <a:rPr lang="en-US" smtClean="0"/>
              <a:pPr>
                <a:defRPr/>
              </a:pPr>
              <a:t>16</a:t>
            </a:fld>
            <a:endParaRPr lang="en-US"/>
          </a:p>
        </p:txBody>
      </p:sp>
      <p:sp>
        <p:nvSpPr>
          <p:cNvPr id="7" name="TextBox 6">
            <a:extLst>
              <a:ext uri="{FF2B5EF4-FFF2-40B4-BE49-F238E27FC236}">
                <a16:creationId xmlns:a16="http://schemas.microsoft.com/office/drawing/2014/main" id="{7930A495-5B53-88FE-C562-4E0F311C88E5}"/>
              </a:ext>
            </a:extLst>
          </p:cNvPr>
          <p:cNvSpPr txBox="1"/>
          <p:nvPr/>
        </p:nvSpPr>
        <p:spPr>
          <a:xfrm>
            <a:off x="302164" y="0"/>
            <a:ext cx="7216790" cy="954107"/>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Hyperparameters of ANN models: Layer Size</a:t>
            </a:r>
            <a:endParaRPr lang="en-US" sz="2800"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E05CB70-FF2E-65CC-DCD0-7AA1CA41A9B1}"/>
              </a:ext>
            </a:extLst>
          </p:cNvPr>
          <p:cNvSpPr txBox="1"/>
          <p:nvPr/>
        </p:nvSpPr>
        <p:spPr>
          <a:xfrm>
            <a:off x="3067134" y="6216853"/>
            <a:ext cx="6306607"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Effect of Layer Size for MLP (Left) and LSTM (Right) model</a:t>
            </a:r>
          </a:p>
        </p:txBody>
      </p:sp>
      <p:pic>
        <p:nvPicPr>
          <p:cNvPr id="3" name="Picture 2" descr="A graph and a chart&#10;&#10;Description automatically generated with medium confidence">
            <a:extLst>
              <a:ext uri="{FF2B5EF4-FFF2-40B4-BE49-F238E27FC236}">
                <a16:creationId xmlns:a16="http://schemas.microsoft.com/office/drawing/2014/main" id="{403FCB2D-7150-E6A7-9057-85799F11449D}"/>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794582" y="1718010"/>
            <a:ext cx="8602835" cy="3421980"/>
          </a:xfrm>
          <a:prstGeom prst="rect">
            <a:avLst/>
          </a:prstGeom>
          <a:noFill/>
        </p:spPr>
      </p:pic>
    </p:spTree>
    <p:extLst>
      <p:ext uri="{BB962C8B-B14F-4D97-AF65-F5344CB8AC3E}">
        <p14:creationId xmlns:p14="http://schemas.microsoft.com/office/powerpoint/2010/main" val="1337418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6016A-2849-26C6-628F-9AB7F9821B48}"/>
              </a:ext>
            </a:extLst>
          </p:cNvPr>
          <p:cNvSpPr>
            <a:spLocks noGrp="1"/>
          </p:cNvSpPr>
          <p:nvPr>
            <p:ph type="sldNum" sz="quarter" idx="11"/>
          </p:nvPr>
        </p:nvSpPr>
        <p:spPr/>
        <p:txBody>
          <a:bodyPr/>
          <a:lstStyle/>
          <a:p>
            <a:pPr>
              <a:defRPr/>
            </a:pPr>
            <a:fld id="{5F403BB7-FB0E-42F4-853B-C30323DD7E47}" type="slidenum">
              <a:rPr lang="en-US" smtClean="0"/>
              <a:pPr>
                <a:defRPr/>
              </a:pPr>
              <a:t>17</a:t>
            </a:fld>
            <a:endParaRPr lang="en-US"/>
          </a:p>
        </p:txBody>
      </p:sp>
      <p:sp>
        <p:nvSpPr>
          <p:cNvPr id="7" name="TextBox 6">
            <a:extLst>
              <a:ext uri="{FF2B5EF4-FFF2-40B4-BE49-F238E27FC236}">
                <a16:creationId xmlns:a16="http://schemas.microsoft.com/office/drawing/2014/main" id="{7930A495-5B53-88FE-C562-4E0F311C88E5}"/>
              </a:ext>
            </a:extLst>
          </p:cNvPr>
          <p:cNvSpPr txBox="1"/>
          <p:nvPr/>
        </p:nvSpPr>
        <p:spPr>
          <a:xfrm>
            <a:off x="302164" y="0"/>
            <a:ext cx="7216790" cy="954107"/>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Hyperparameters of ANN models: No. Of epochs</a:t>
            </a:r>
            <a:endParaRPr lang="en-US" sz="2800" dirty="0">
              <a:solidFill>
                <a:schemeClr val="bg1"/>
              </a:solidFill>
              <a:latin typeface="Arial" panose="020B0604020202020204" pitchFamily="34" charset="0"/>
              <a:cs typeface="Arial" panose="020B0604020202020204" pitchFamily="34" charset="0"/>
            </a:endParaRPr>
          </a:p>
        </p:txBody>
      </p:sp>
      <p:pic>
        <p:nvPicPr>
          <p:cNvPr id="3" name="Picture 2" descr="A comparison of a graph&#10;&#10;Description automatically generated">
            <a:extLst>
              <a:ext uri="{FF2B5EF4-FFF2-40B4-BE49-F238E27FC236}">
                <a16:creationId xmlns:a16="http://schemas.microsoft.com/office/drawing/2014/main" id="{C988CA8A-0189-FD06-DB81-A5C951367CC5}"/>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918503" y="1501130"/>
            <a:ext cx="8354993" cy="3855739"/>
          </a:xfrm>
          <a:prstGeom prst="rect">
            <a:avLst/>
          </a:prstGeom>
          <a:noFill/>
        </p:spPr>
      </p:pic>
      <p:sp>
        <p:nvSpPr>
          <p:cNvPr id="5" name="TextBox 4">
            <a:extLst>
              <a:ext uri="{FF2B5EF4-FFF2-40B4-BE49-F238E27FC236}">
                <a16:creationId xmlns:a16="http://schemas.microsoft.com/office/drawing/2014/main" id="{6EAC16BE-B080-A23B-EC59-94B43E95B52D}"/>
              </a:ext>
            </a:extLst>
          </p:cNvPr>
          <p:cNvSpPr txBox="1"/>
          <p:nvPr/>
        </p:nvSpPr>
        <p:spPr>
          <a:xfrm>
            <a:off x="3067134" y="6216853"/>
            <a:ext cx="6306607"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Effect of No. of epochs for MLP (Left) and LSTM (Right) model</a:t>
            </a:r>
          </a:p>
        </p:txBody>
      </p:sp>
    </p:spTree>
    <p:extLst>
      <p:ext uri="{BB962C8B-B14F-4D97-AF65-F5344CB8AC3E}">
        <p14:creationId xmlns:p14="http://schemas.microsoft.com/office/powerpoint/2010/main" val="616095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6016A-2849-26C6-628F-9AB7F9821B48}"/>
              </a:ext>
            </a:extLst>
          </p:cNvPr>
          <p:cNvSpPr>
            <a:spLocks noGrp="1"/>
          </p:cNvSpPr>
          <p:nvPr>
            <p:ph type="sldNum" sz="quarter" idx="11"/>
          </p:nvPr>
        </p:nvSpPr>
        <p:spPr/>
        <p:txBody>
          <a:bodyPr/>
          <a:lstStyle/>
          <a:p>
            <a:pPr>
              <a:defRPr/>
            </a:pPr>
            <a:fld id="{5F403BB7-FB0E-42F4-853B-C30323DD7E47}" type="slidenum">
              <a:rPr lang="en-US" smtClean="0"/>
              <a:pPr>
                <a:defRPr/>
              </a:pPr>
              <a:t>18</a:t>
            </a:fld>
            <a:endParaRPr lang="en-US"/>
          </a:p>
        </p:txBody>
      </p:sp>
      <p:sp>
        <p:nvSpPr>
          <p:cNvPr id="7" name="TextBox 6">
            <a:extLst>
              <a:ext uri="{FF2B5EF4-FFF2-40B4-BE49-F238E27FC236}">
                <a16:creationId xmlns:a16="http://schemas.microsoft.com/office/drawing/2014/main" id="{7930A495-5B53-88FE-C562-4E0F311C88E5}"/>
              </a:ext>
            </a:extLst>
          </p:cNvPr>
          <p:cNvSpPr txBox="1"/>
          <p:nvPr/>
        </p:nvSpPr>
        <p:spPr>
          <a:xfrm>
            <a:off x="302164" y="0"/>
            <a:ext cx="7216790" cy="523220"/>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Hyperparameters of ANN models: Input Size</a:t>
            </a:r>
            <a:endParaRPr lang="en-US" sz="2800" dirty="0">
              <a:solidFill>
                <a:schemeClr val="bg1"/>
              </a:solidFill>
              <a:latin typeface="Arial" panose="020B0604020202020204" pitchFamily="34" charset="0"/>
              <a:cs typeface="Arial" panose="020B0604020202020204" pitchFamily="34" charset="0"/>
            </a:endParaRPr>
          </a:p>
        </p:txBody>
      </p:sp>
      <p:pic>
        <p:nvPicPr>
          <p:cNvPr id="3" name="Picture 2" descr="A graph and a graph&#10;&#10;Description automatically generated with medium confidence">
            <a:extLst>
              <a:ext uri="{FF2B5EF4-FFF2-40B4-BE49-F238E27FC236}">
                <a16:creationId xmlns:a16="http://schemas.microsoft.com/office/drawing/2014/main" id="{A72BF733-F79C-A0C7-EAC8-DF1A5AA6AF83}"/>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969191" y="1579188"/>
            <a:ext cx="8253618" cy="3699624"/>
          </a:xfrm>
          <a:prstGeom prst="rect">
            <a:avLst/>
          </a:prstGeom>
          <a:noFill/>
        </p:spPr>
      </p:pic>
      <p:sp>
        <p:nvSpPr>
          <p:cNvPr id="5" name="TextBox 4">
            <a:extLst>
              <a:ext uri="{FF2B5EF4-FFF2-40B4-BE49-F238E27FC236}">
                <a16:creationId xmlns:a16="http://schemas.microsoft.com/office/drawing/2014/main" id="{2FA7B667-2E7D-213A-39DA-F3BD086A2670}"/>
              </a:ext>
            </a:extLst>
          </p:cNvPr>
          <p:cNvSpPr txBox="1"/>
          <p:nvPr/>
        </p:nvSpPr>
        <p:spPr>
          <a:xfrm>
            <a:off x="3067134" y="6216853"/>
            <a:ext cx="6306607"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Effect of Input Size for MLP (Left) and LSTM (Right) model</a:t>
            </a:r>
          </a:p>
        </p:txBody>
      </p:sp>
    </p:spTree>
    <p:extLst>
      <p:ext uri="{BB962C8B-B14F-4D97-AF65-F5344CB8AC3E}">
        <p14:creationId xmlns:p14="http://schemas.microsoft.com/office/powerpoint/2010/main" val="450292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E28524-DF9F-B269-1F41-684DDF6D625E}"/>
              </a:ext>
            </a:extLst>
          </p:cNvPr>
          <p:cNvSpPr>
            <a:spLocks noGrp="1"/>
          </p:cNvSpPr>
          <p:nvPr>
            <p:ph type="sldNum" sz="quarter" idx="11"/>
          </p:nvPr>
        </p:nvSpPr>
        <p:spPr/>
        <p:txBody>
          <a:bodyPr/>
          <a:lstStyle/>
          <a:p>
            <a:pPr>
              <a:defRPr/>
            </a:pPr>
            <a:fld id="{5F403BB7-FB0E-42F4-853B-C30323DD7E47}" type="slidenum">
              <a:rPr lang="en-US" smtClean="0"/>
              <a:pPr>
                <a:defRPr/>
              </a:pPr>
              <a:t>19</a:t>
            </a:fld>
            <a:endParaRPr lang="en-US"/>
          </a:p>
        </p:txBody>
      </p:sp>
      <p:sp>
        <p:nvSpPr>
          <p:cNvPr id="5" name="TextBox 4">
            <a:extLst>
              <a:ext uri="{FF2B5EF4-FFF2-40B4-BE49-F238E27FC236}">
                <a16:creationId xmlns:a16="http://schemas.microsoft.com/office/drawing/2014/main" id="{E5D0D246-4D98-EF0B-6704-F357766E4CD9}"/>
              </a:ext>
            </a:extLst>
          </p:cNvPr>
          <p:cNvSpPr txBox="1"/>
          <p:nvPr/>
        </p:nvSpPr>
        <p:spPr>
          <a:xfrm>
            <a:off x="2830286" y="213360"/>
            <a:ext cx="2926080" cy="523220"/>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Dataset quality</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descr="A picture containing sketch, child art, drawing, art&#10;&#10;Description automatically generated">
            <a:extLst>
              <a:ext uri="{FF2B5EF4-FFF2-40B4-BE49-F238E27FC236}">
                <a16:creationId xmlns:a16="http://schemas.microsoft.com/office/drawing/2014/main" id="{6D4C2615-4475-8DD3-6D25-78940BAE773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7428" y="1108483"/>
            <a:ext cx="7905796" cy="2458085"/>
          </a:xfrm>
          <a:prstGeom prst="rect">
            <a:avLst/>
          </a:prstGeom>
        </p:spPr>
      </p:pic>
      <p:pic>
        <p:nvPicPr>
          <p:cNvPr id="7" name="Picture 6" descr="A graph showing a graph&#10;&#10;Description automatically generated">
            <a:extLst>
              <a:ext uri="{FF2B5EF4-FFF2-40B4-BE49-F238E27FC236}">
                <a16:creationId xmlns:a16="http://schemas.microsoft.com/office/drawing/2014/main" id="{35F17A60-97BE-B1EF-D8A7-807194D9DDA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87428" y="3677214"/>
            <a:ext cx="7981361" cy="2362200"/>
          </a:xfrm>
          <a:prstGeom prst="rect">
            <a:avLst/>
          </a:prstGeom>
        </p:spPr>
      </p:pic>
      <p:pic>
        <p:nvPicPr>
          <p:cNvPr id="8" name="Picture 7" descr="A picture containing sketch, child art, drawing, art&#10;&#10;Description automatically generated">
            <a:extLst>
              <a:ext uri="{FF2B5EF4-FFF2-40B4-BE49-F238E27FC236}">
                <a16:creationId xmlns:a16="http://schemas.microsoft.com/office/drawing/2014/main" id="{F4782C3E-048D-3EE5-EF3A-1E96AC4A81F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18502" y="1108483"/>
            <a:ext cx="7905796" cy="2458085"/>
          </a:xfrm>
          <a:prstGeom prst="rect">
            <a:avLst/>
          </a:prstGeom>
        </p:spPr>
      </p:pic>
      <p:pic>
        <p:nvPicPr>
          <p:cNvPr id="9" name="Picture 8" descr="A graph showing a graph&#10;&#10;Description automatically generated">
            <a:extLst>
              <a:ext uri="{FF2B5EF4-FFF2-40B4-BE49-F238E27FC236}">
                <a16:creationId xmlns:a16="http://schemas.microsoft.com/office/drawing/2014/main" id="{00F43D14-D4C0-F7F8-E271-30658173CF6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18502" y="3677214"/>
            <a:ext cx="7981361" cy="2362200"/>
          </a:xfrm>
          <a:prstGeom prst="rect">
            <a:avLst/>
          </a:prstGeom>
        </p:spPr>
      </p:pic>
      <p:sp>
        <p:nvSpPr>
          <p:cNvPr id="10" name="TextBox 9">
            <a:extLst>
              <a:ext uri="{FF2B5EF4-FFF2-40B4-BE49-F238E27FC236}">
                <a16:creationId xmlns:a16="http://schemas.microsoft.com/office/drawing/2014/main" id="{F82FB263-B2CF-DC9F-18DE-B8F176F5FF5D}"/>
              </a:ext>
            </a:extLst>
          </p:cNvPr>
          <p:cNvSpPr txBox="1"/>
          <p:nvPr/>
        </p:nvSpPr>
        <p:spPr>
          <a:xfrm>
            <a:off x="2737304" y="6186076"/>
            <a:ext cx="5455920" cy="338554"/>
          </a:xfrm>
          <a:prstGeom prst="rect">
            <a:avLst/>
          </a:prstGeom>
          <a:noFill/>
        </p:spPr>
        <p:txBody>
          <a:bodyPr wrap="square" rtlCol="0">
            <a:spAutoFit/>
          </a:bodyPr>
          <a:lstStyle/>
          <a:p>
            <a:r>
              <a:rPr lang="de-DE" sz="1600" dirty="0">
                <a:latin typeface="Arial" panose="020B0604020202020204" pitchFamily="34" charset="0"/>
                <a:cs typeface="Arial" panose="020B0604020202020204" pitchFamily="34" charset="0"/>
              </a:rPr>
              <a:t>FFT of voltage (top) and Displacement readouts</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441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20</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38143" y="214776"/>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SINDy Model Performance: For the readouts</a:t>
            </a:r>
          </a:p>
        </p:txBody>
      </p:sp>
      <p:sp>
        <p:nvSpPr>
          <p:cNvPr id="17" name="TextBox 16">
            <a:extLst>
              <a:ext uri="{FF2B5EF4-FFF2-40B4-BE49-F238E27FC236}">
                <a16:creationId xmlns:a16="http://schemas.microsoft.com/office/drawing/2014/main" id="{18CE99E4-0B25-47AB-87B6-6947BE26C350}"/>
              </a:ext>
            </a:extLst>
          </p:cNvPr>
          <p:cNvSpPr txBox="1"/>
          <p:nvPr/>
        </p:nvSpPr>
        <p:spPr>
          <a:xfrm>
            <a:off x="3008749" y="5670063"/>
            <a:ext cx="5653166" cy="584775"/>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Sindy prediction of the readouts with the developed equations</a:t>
            </a:r>
          </a:p>
        </p:txBody>
      </p:sp>
      <p:pic>
        <p:nvPicPr>
          <p:cNvPr id="2" name="Picture 1" descr="A graph of a graph&#10;&#10;Description automatically generated">
            <a:extLst>
              <a:ext uri="{FF2B5EF4-FFF2-40B4-BE49-F238E27FC236}">
                <a16:creationId xmlns:a16="http://schemas.microsoft.com/office/drawing/2014/main" id="{25855D58-4C21-1AE5-58EA-6D855893D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520" y="1652570"/>
            <a:ext cx="5653166" cy="3174378"/>
          </a:xfrm>
          <a:prstGeom prst="rect">
            <a:avLst/>
          </a:prstGeom>
        </p:spPr>
      </p:pic>
      <p:pic>
        <p:nvPicPr>
          <p:cNvPr id="3" name="Picture 2" descr="A screenshot of a graph&#10;&#10;Description automatically generated">
            <a:extLst>
              <a:ext uri="{FF2B5EF4-FFF2-40B4-BE49-F238E27FC236}">
                <a16:creationId xmlns:a16="http://schemas.microsoft.com/office/drawing/2014/main" id="{64058EA2-F999-FD01-6C88-301430A8DD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4607" y="1643374"/>
            <a:ext cx="5472318" cy="3192769"/>
          </a:xfrm>
          <a:prstGeom prst="rect">
            <a:avLst/>
          </a:prstGeom>
        </p:spPr>
      </p:pic>
    </p:spTree>
    <p:extLst>
      <p:ext uri="{BB962C8B-B14F-4D97-AF65-F5344CB8AC3E}">
        <p14:creationId xmlns:p14="http://schemas.microsoft.com/office/powerpoint/2010/main" val="2856349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21</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29942" y="46657"/>
            <a:ext cx="8789041" cy="954107"/>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SINDy Model Performance: For the Derivatives of the readouts</a:t>
            </a:r>
          </a:p>
        </p:txBody>
      </p:sp>
      <p:sp>
        <p:nvSpPr>
          <p:cNvPr id="17" name="TextBox 16">
            <a:extLst>
              <a:ext uri="{FF2B5EF4-FFF2-40B4-BE49-F238E27FC236}">
                <a16:creationId xmlns:a16="http://schemas.microsoft.com/office/drawing/2014/main" id="{18CE99E4-0B25-47AB-87B6-6947BE26C350}"/>
              </a:ext>
            </a:extLst>
          </p:cNvPr>
          <p:cNvSpPr txBox="1"/>
          <p:nvPr/>
        </p:nvSpPr>
        <p:spPr>
          <a:xfrm>
            <a:off x="3192201" y="5995917"/>
            <a:ext cx="5653166" cy="584775"/>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 Fig. : Sindy prediction of the derivatives of the readouts with the developed equations</a:t>
            </a:r>
          </a:p>
        </p:txBody>
      </p:sp>
      <p:pic>
        <p:nvPicPr>
          <p:cNvPr id="4" name="Picture 3" descr="A graph of a number of red and green lines&#10;&#10;Description automatically generated">
            <a:extLst>
              <a:ext uri="{FF2B5EF4-FFF2-40B4-BE49-F238E27FC236}">
                <a16:creationId xmlns:a16="http://schemas.microsoft.com/office/drawing/2014/main" id="{E2EF2DB9-7E24-611C-8576-B39B80799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717" y="1264025"/>
            <a:ext cx="5797067" cy="3289720"/>
          </a:xfrm>
          <a:prstGeom prst="rect">
            <a:avLst/>
          </a:prstGeom>
        </p:spPr>
      </p:pic>
      <p:pic>
        <p:nvPicPr>
          <p:cNvPr id="7" name="Picture 6" descr="A graph of a graph&#10;&#10;Description automatically generated">
            <a:extLst>
              <a:ext uri="{FF2B5EF4-FFF2-40B4-BE49-F238E27FC236}">
                <a16:creationId xmlns:a16="http://schemas.microsoft.com/office/drawing/2014/main" id="{ED4CA9DD-1A53-D06F-35BD-AC14E7C696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4038" y="1299076"/>
            <a:ext cx="5895450" cy="3219618"/>
          </a:xfrm>
          <a:prstGeom prst="rect">
            <a:avLst/>
          </a:prstGeom>
        </p:spPr>
      </p:pic>
    </p:spTree>
    <p:extLst>
      <p:ext uri="{BB962C8B-B14F-4D97-AF65-F5344CB8AC3E}">
        <p14:creationId xmlns:p14="http://schemas.microsoft.com/office/powerpoint/2010/main" val="856777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22</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29942" y="46657"/>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ANN Model(s) Performance: For the voltage readouts</a:t>
            </a:r>
          </a:p>
        </p:txBody>
      </p:sp>
      <p:sp>
        <p:nvSpPr>
          <p:cNvPr id="17" name="TextBox 16">
            <a:extLst>
              <a:ext uri="{FF2B5EF4-FFF2-40B4-BE49-F238E27FC236}">
                <a16:creationId xmlns:a16="http://schemas.microsoft.com/office/drawing/2014/main" id="{18CE99E4-0B25-47AB-87B6-6947BE26C350}"/>
              </a:ext>
            </a:extLst>
          </p:cNvPr>
          <p:cNvSpPr txBox="1"/>
          <p:nvPr/>
        </p:nvSpPr>
        <p:spPr>
          <a:xfrm>
            <a:off x="3269417" y="5872903"/>
            <a:ext cx="5653166" cy="584775"/>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MLP (left)  &amp; LSTM (right) prediction of the voltage readouts</a:t>
            </a:r>
          </a:p>
        </p:txBody>
      </p:sp>
      <p:pic>
        <p:nvPicPr>
          <p:cNvPr id="2" name="Picture 1" descr="A graph of a test&#10;&#10;Description automatically generated with medium confidence">
            <a:extLst>
              <a:ext uri="{FF2B5EF4-FFF2-40B4-BE49-F238E27FC236}">
                <a16:creationId xmlns:a16="http://schemas.microsoft.com/office/drawing/2014/main" id="{DB8CD358-76E5-6708-1CD4-1E7C4BB6D4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938" y="1276156"/>
            <a:ext cx="5886316" cy="3644382"/>
          </a:xfrm>
          <a:prstGeom prst="rect">
            <a:avLst/>
          </a:prstGeom>
        </p:spPr>
      </p:pic>
      <p:pic>
        <p:nvPicPr>
          <p:cNvPr id="3" name="Picture 2" descr="A green and red lines&#10;&#10;Description automatically generated">
            <a:extLst>
              <a:ext uri="{FF2B5EF4-FFF2-40B4-BE49-F238E27FC236}">
                <a16:creationId xmlns:a16="http://schemas.microsoft.com/office/drawing/2014/main" id="{94302E06-2D05-D18C-FBF8-5385272B1F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57254" y="1276156"/>
            <a:ext cx="6008621" cy="3710906"/>
          </a:xfrm>
          <a:prstGeom prst="rect">
            <a:avLst/>
          </a:prstGeom>
        </p:spPr>
      </p:pic>
    </p:spTree>
    <p:extLst>
      <p:ext uri="{BB962C8B-B14F-4D97-AF65-F5344CB8AC3E}">
        <p14:creationId xmlns:p14="http://schemas.microsoft.com/office/powerpoint/2010/main" val="2760438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23</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29942" y="46657"/>
            <a:ext cx="8789041" cy="954107"/>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ANN Model(s) Performance: For the displacement readouts</a:t>
            </a:r>
          </a:p>
        </p:txBody>
      </p:sp>
      <p:sp>
        <p:nvSpPr>
          <p:cNvPr id="17" name="TextBox 16">
            <a:extLst>
              <a:ext uri="{FF2B5EF4-FFF2-40B4-BE49-F238E27FC236}">
                <a16:creationId xmlns:a16="http://schemas.microsoft.com/office/drawing/2014/main" id="{18CE99E4-0B25-47AB-87B6-6947BE26C350}"/>
              </a:ext>
            </a:extLst>
          </p:cNvPr>
          <p:cNvSpPr txBox="1"/>
          <p:nvPr/>
        </p:nvSpPr>
        <p:spPr>
          <a:xfrm>
            <a:off x="3269417" y="5872903"/>
            <a:ext cx="5653166" cy="584775"/>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MLP (left)  &amp; LSTM (right) prediction of the displacement readouts</a:t>
            </a:r>
          </a:p>
        </p:txBody>
      </p:sp>
      <p:pic>
        <p:nvPicPr>
          <p:cNvPr id="4" name="Picture 3" descr="A screenshot of a graph&#10;&#10;Description automatically generated">
            <a:extLst>
              <a:ext uri="{FF2B5EF4-FFF2-40B4-BE49-F238E27FC236}">
                <a16:creationId xmlns:a16="http://schemas.microsoft.com/office/drawing/2014/main" id="{34A550D5-6F08-F24C-D4AD-9664C0E139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942" y="1508964"/>
            <a:ext cx="5885416" cy="3410639"/>
          </a:xfrm>
          <a:prstGeom prst="rect">
            <a:avLst/>
          </a:prstGeom>
        </p:spPr>
      </p:pic>
      <p:pic>
        <p:nvPicPr>
          <p:cNvPr id="12" name="Picture 11" descr="A graph of a test&#10;&#10;Description automatically generated with medium confidence">
            <a:extLst>
              <a:ext uri="{FF2B5EF4-FFF2-40B4-BE49-F238E27FC236}">
                <a16:creationId xmlns:a16="http://schemas.microsoft.com/office/drawing/2014/main" id="{EFD3B156-3D42-60C4-1EF4-B5393674995C}"/>
              </a:ext>
            </a:extLst>
          </p:cNvPr>
          <p:cNvPicPr>
            <a:picLocks noChangeAspect="1"/>
          </p:cNvPicPr>
          <p:nvPr/>
        </p:nvPicPr>
        <p:blipFill>
          <a:blip r:embed="rId3"/>
          <a:stretch>
            <a:fillRect/>
          </a:stretch>
        </p:blipFill>
        <p:spPr>
          <a:xfrm>
            <a:off x="6358511" y="1508964"/>
            <a:ext cx="5833489" cy="3371573"/>
          </a:xfrm>
          <a:prstGeom prst="rect">
            <a:avLst/>
          </a:prstGeom>
        </p:spPr>
      </p:pic>
    </p:spTree>
    <p:extLst>
      <p:ext uri="{BB962C8B-B14F-4D97-AF65-F5344CB8AC3E}">
        <p14:creationId xmlns:p14="http://schemas.microsoft.com/office/powerpoint/2010/main" val="1744336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1AACA3-5C87-C77E-2EC0-2C5F051FE485}"/>
              </a:ext>
            </a:extLst>
          </p:cNvPr>
          <p:cNvSpPr>
            <a:spLocks noGrp="1"/>
          </p:cNvSpPr>
          <p:nvPr>
            <p:ph type="sldNum" sz="quarter" idx="11"/>
          </p:nvPr>
        </p:nvSpPr>
        <p:spPr/>
        <p:txBody>
          <a:bodyPr/>
          <a:lstStyle/>
          <a:p>
            <a:pPr>
              <a:defRPr/>
            </a:pPr>
            <a:fld id="{5F403BB7-FB0E-42F4-853B-C30323DD7E47}" type="slidenum">
              <a:rPr lang="en-US" smtClean="0"/>
              <a:pPr>
                <a:defRPr/>
              </a:pPr>
              <a:t>24</a:t>
            </a:fld>
            <a:endParaRPr lang="en-US"/>
          </a:p>
        </p:txBody>
      </p:sp>
      <p:sp>
        <p:nvSpPr>
          <p:cNvPr id="3" name="TextBox 2">
            <a:extLst>
              <a:ext uri="{FF2B5EF4-FFF2-40B4-BE49-F238E27FC236}">
                <a16:creationId xmlns:a16="http://schemas.microsoft.com/office/drawing/2014/main" id="{074979E3-94DE-9A08-C645-89AD322D4B09}"/>
              </a:ext>
            </a:extLst>
          </p:cNvPr>
          <p:cNvSpPr txBox="1"/>
          <p:nvPr/>
        </p:nvSpPr>
        <p:spPr>
          <a:xfrm>
            <a:off x="389374" y="177138"/>
            <a:ext cx="5642217" cy="954107"/>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Developed Non-Dimensional SINDy Equations</a:t>
            </a:r>
            <a:endParaRPr lang="en-US" sz="28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6A1FB1A-86F0-4A89-A139-53733145B11A}"/>
                  </a:ext>
                </a:extLst>
              </p:cNvPr>
              <p:cNvSpPr txBox="1"/>
              <p:nvPr/>
            </p:nvSpPr>
            <p:spPr>
              <a:xfrm>
                <a:off x="352698" y="1668275"/>
                <a:ext cx="11839302" cy="10351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836967"/>
                              </a:solidFill>
                              <a:latin typeface="Cambria Math" panose="02040503050406030204" pitchFamily="18" charset="0"/>
                            </a:rPr>
                          </m:ctrlPr>
                        </m:accPr>
                        <m:e>
                          <m:r>
                            <m:rPr>
                              <m:sty m:val="p"/>
                            </m:rPr>
                            <a:rPr lang="en-US">
                              <a:latin typeface="Cambria Math" panose="02040503050406030204" pitchFamily="18" charset="0"/>
                            </a:rPr>
                            <m:t>U</m:t>
                          </m:r>
                        </m:e>
                      </m:acc>
                      <m:r>
                        <a:rPr lang="en-US" i="0">
                          <a:latin typeface="Cambria Math" panose="02040503050406030204" pitchFamily="18" charset="0"/>
                        </a:rPr>
                        <m:t>=−38.33 </m:t>
                      </m:r>
                      <m:r>
                        <m:rPr>
                          <m:sty m:val="p"/>
                        </m:rPr>
                        <a:rPr lang="en-US" i="0">
                          <a:latin typeface="Cambria Math" panose="02040503050406030204" pitchFamily="18" charset="0"/>
                        </a:rPr>
                        <m:t>U</m:t>
                      </m:r>
                      <m:r>
                        <a:rPr lang="en-US" i="0">
                          <a:latin typeface="Cambria Math" panose="02040503050406030204" pitchFamily="18" charset="0"/>
                        </a:rPr>
                        <m:t> + </m:t>
                      </m:r>
                      <m:d>
                        <m:dPr>
                          <m:ctrlPr>
                            <a:rPr lang="en-US" i="1">
                              <a:solidFill>
                                <a:srgbClr val="836967"/>
                              </a:solidFill>
                              <a:latin typeface="Cambria Math" panose="02040503050406030204" pitchFamily="18" charset="0"/>
                            </a:rPr>
                          </m:ctrlPr>
                        </m:dPr>
                        <m:e>
                          <m:r>
                            <a:rPr lang="en-US" i="0">
                              <a:latin typeface="Cambria Math" panose="02040503050406030204" pitchFamily="18" charset="0"/>
                            </a:rPr>
                            <m:t>2 × 0.2992</m:t>
                          </m:r>
                        </m:e>
                      </m:d>
                      <m:acc>
                        <m:accPr>
                          <m:chr m:val="̇"/>
                          <m:ctrlPr>
                            <a:rPr lang="en-US" i="1">
                              <a:solidFill>
                                <a:srgbClr val="836967"/>
                              </a:solidFill>
                              <a:latin typeface="Cambria Math" panose="02040503050406030204" pitchFamily="18" charset="0"/>
                            </a:rPr>
                          </m:ctrlPr>
                        </m:accPr>
                        <m:e>
                          <m:r>
                            <m:rPr>
                              <m:sty m:val="p"/>
                            </m:rPr>
                            <a:rPr lang="en-US" i="0">
                              <a:latin typeface="Cambria Math" panose="02040503050406030204" pitchFamily="18" charset="0"/>
                            </a:rPr>
                            <m:t>U</m:t>
                          </m:r>
                        </m:e>
                      </m:acc>
                      <m:r>
                        <a:rPr lang="en-US" i="0">
                          <a:latin typeface="Cambria Math" panose="02040503050406030204" pitchFamily="18" charset="0"/>
                        </a:rPr>
                        <m:t> – 1.428 </m:t>
                      </m:r>
                      <m:sSup>
                        <m:sSupPr>
                          <m:ctrlPr>
                            <a:rPr lang="en-US" i="1">
                              <a:solidFill>
                                <a:srgbClr val="836967"/>
                              </a:solidFill>
                              <a:latin typeface="Cambria Math" panose="02040503050406030204" pitchFamily="18" charset="0"/>
                            </a:rPr>
                          </m:ctrlPr>
                        </m:sSupPr>
                        <m:e>
                          <m:r>
                            <m:rPr>
                              <m:sty m:val="p"/>
                            </m:rPr>
                            <a:rPr lang="en-US" i="0">
                              <a:latin typeface="Cambria Math" panose="02040503050406030204" pitchFamily="18" charset="0"/>
                            </a:rPr>
                            <m:t>U</m:t>
                          </m:r>
                        </m:e>
                        <m:sup>
                          <m:r>
                            <a:rPr lang="en-US" i="0">
                              <a:latin typeface="Cambria Math" panose="02040503050406030204" pitchFamily="18" charset="0"/>
                            </a:rPr>
                            <m:t>3</m:t>
                          </m:r>
                        </m:sup>
                      </m:sSup>
                      <m:r>
                        <a:rPr lang="en-US" i="0">
                          <a:latin typeface="Cambria Math" panose="02040503050406030204" pitchFamily="18" charset="0"/>
                        </a:rPr>
                        <m:t>−0.019 </m:t>
                      </m:r>
                      <m:sSup>
                        <m:sSupPr>
                          <m:ctrlPr>
                            <a:rPr lang="en-US" i="1">
                              <a:solidFill>
                                <a:srgbClr val="836967"/>
                              </a:solidFill>
                              <a:latin typeface="Cambria Math" panose="02040503050406030204" pitchFamily="18" charset="0"/>
                            </a:rPr>
                          </m:ctrlPr>
                        </m:sSupPr>
                        <m:e>
                          <m:acc>
                            <m:accPr>
                              <m:chr m:val="̇"/>
                              <m:ctrlPr>
                                <a:rPr lang="en-US" i="1">
                                  <a:solidFill>
                                    <a:srgbClr val="836967"/>
                                  </a:solidFill>
                                  <a:latin typeface="Cambria Math" panose="02040503050406030204" pitchFamily="18" charset="0"/>
                                </a:rPr>
                              </m:ctrlPr>
                            </m:accPr>
                            <m:e>
                              <m:r>
                                <m:rPr>
                                  <m:sty m:val="p"/>
                                </m:rPr>
                                <a:rPr lang="en-US" i="0">
                                  <a:latin typeface="Cambria Math" panose="02040503050406030204" pitchFamily="18" charset="0"/>
                                </a:rPr>
                                <m:t>U</m:t>
                              </m:r>
                            </m:e>
                          </m:acc>
                        </m:e>
                        <m:sup>
                          <m:r>
                            <a:rPr lang="en-US" i="0">
                              <a:latin typeface="Cambria Math" panose="02040503050406030204" pitchFamily="18" charset="0"/>
                            </a:rPr>
                            <m:t>3</m:t>
                          </m:r>
                        </m:sup>
                      </m:sSup>
                      <m:r>
                        <a:rPr lang="en-US" i="0">
                          <a:latin typeface="Cambria Math" panose="02040503050406030204" pitchFamily="18" charset="0"/>
                        </a:rPr>
                        <m:t>−0.0222 </m:t>
                      </m:r>
                      <m:r>
                        <m:rPr>
                          <m:sty m:val="p"/>
                        </m:rPr>
                        <a:rPr lang="en-US" i="0">
                          <a:latin typeface="Cambria Math" panose="02040503050406030204" pitchFamily="18" charset="0"/>
                        </a:rPr>
                        <m:t>Cos</m:t>
                      </m:r>
                      <m:d>
                        <m:dPr>
                          <m:ctrlPr>
                            <a:rPr lang="en-US" i="1">
                              <a:solidFill>
                                <a:srgbClr val="836967"/>
                              </a:solidFill>
                              <a:latin typeface="Cambria Math" panose="02040503050406030204" pitchFamily="18" charset="0"/>
                            </a:rPr>
                          </m:ctrlPr>
                        </m:dPr>
                        <m:e>
                          <m:r>
                            <m:rPr>
                              <m:sty m:val="p"/>
                            </m:rPr>
                            <a:rPr lang="en-US" i="0">
                              <a:latin typeface="Cambria Math" panose="02040503050406030204" pitchFamily="18" charset="0"/>
                            </a:rPr>
                            <m:t>τ</m:t>
                          </m:r>
                        </m:e>
                      </m:d>
                      <m:r>
                        <a:rPr lang="en-US" i="0">
                          <a:latin typeface="Cambria Math" panose="02040503050406030204" pitchFamily="18" charset="0"/>
                        </a:rPr>
                        <m:t>+0.0223 </m:t>
                      </m:r>
                      <m:r>
                        <m:rPr>
                          <m:sty m:val="p"/>
                        </m:rPr>
                        <a:rPr lang="en-US" i="0">
                          <a:latin typeface="Cambria Math" panose="02040503050406030204" pitchFamily="18" charset="0"/>
                        </a:rPr>
                        <m:t>Cos</m:t>
                      </m:r>
                      <m:d>
                        <m:dPr>
                          <m:ctrlPr>
                            <a:rPr lang="en-US" i="1">
                              <a:solidFill>
                                <a:srgbClr val="836967"/>
                              </a:solidFill>
                              <a:latin typeface="Cambria Math" panose="02040503050406030204" pitchFamily="18" charset="0"/>
                            </a:rPr>
                          </m:ctrlPr>
                        </m:dPr>
                        <m:e>
                          <m:r>
                            <a:rPr lang="en-US" i="0">
                              <a:latin typeface="Cambria Math" panose="02040503050406030204" pitchFamily="18" charset="0"/>
                            </a:rPr>
                            <m:t>2</m:t>
                          </m:r>
                          <m:r>
                            <m:rPr>
                              <m:sty m:val="p"/>
                            </m:rPr>
                            <a:rPr lang="en-US" i="0">
                              <a:latin typeface="Cambria Math" panose="02040503050406030204" pitchFamily="18" charset="0"/>
                            </a:rPr>
                            <m:t>τ</m:t>
                          </m:r>
                        </m:e>
                      </m:d>
                      <m:r>
                        <a:rPr lang="en-US" i="0">
                          <a:latin typeface="Cambria Math" panose="02040503050406030204" pitchFamily="18" charset="0"/>
                        </a:rPr>
                        <m:t>−0.0035 </m:t>
                      </m:r>
                      <m:r>
                        <m:rPr>
                          <m:sty m:val="p"/>
                        </m:rPr>
                        <a:rPr lang="en-US" i="0">
                          <a:latin typeface="Cambria Math" panose="02040503050406030204" pitchFamily="18" charset="0"/>
                        </a:rPr>
                        <m:t>Cos</m:t>
                      </m:r>
                      <m:d>
                        <m:dPr>
                          <m:ctrlPr>
                            <a:rPr lang="en-US" i="1">
                              <a:solidFill>
                                <a:srgbClr val="836967"/>
                              </a:solidFill>
                              <a:latin typeface="Cambria Math" panose="02040503050406030204" pitchFamily="18" charset="0"/>
                            </a:rPr>
                          </m:ctrlPr>
                        </m:dPr>
                        <m:e>
                          <m:r>
                            <a:rPr lang="en-US" i="0">
                              <a:latin typeface="Cambria Math" panose="02040503050406030204" pitchFamily="18" charset="0"/>
                            </a:rPr>
                            <m:t>3</m:t>
                          </m:r>
                          <m:r>
                            <m:rPr>
                              <m:sty m:val="p"/>
                            </m:rPr>
                            <a:rPr lang="en-US" i="0">
                              <a:latin typeface="Cambria Math" panose="02040503050406030204" pitchFamily="18" charset="0"/>
                            </a:rPr>
                            <m:t>τ</m:t>
                          </m:r>
                        </m:e>
                      </m:d>
                      <m:r>
                        <a:rPr lang="en-US" i="0">
                          <a:latin typeface="Cambria Math" panose="02040503050406030204" pitchFamily="18" charset="0"/>
                        </a:rPr>
                        <m:t>−0.0018 </m:t>
                      </m:r>
                      <m:r>
                        <m:rPr>
                          <m:sty m:val="p"/>
                        </m:rPr>
                        <a:rPr lang="en-US" i="0">
                          <a:latin typeface="Cambria Math" panose="02040503050406030204" pitchFamily="18" charset="0"/>
                        </a:rPr>
                        <m:t>Cos</m:t>
                      </m:r>
                      <m:d>
                        <m:dPr>
                          <m:ctrlPr>
                            <a:rPr lang="en-US" i="1">
                              <a:solidFill>
                                <a:srgbClr val="836967"/>
                              </a:solidFill>
                              <a:latin typeface="Cambria Math" panose="02040503050406030204" pitchFamily="18" charset="0"/>
                            </a:rPr>
                          </m:ctrlPr>
                        </m:dPr>
                        <m:e>
                          <m:r>
                            <a:rPr lang="en-US" i="0">
                              <a:latin typeface="Cambria Math" panose="02040503050406030204" pitchFamily="18" charset="0"/>
                            </a:rPr>
                            <m:t>4</m:t>
                          </m:r>
                          <m:r>
                            <m:rPr>
                              <m:sty m:val="p"/>
                            </m:rPr>
                            <a:rPr lang="en-US" i="0">
                              <a:latin typeface="Cambria Math" panose="02040503050406030204" pitchFamily="18" charset="0"/>
                            </a:rPr>
                            <m:t>τ</m:t>
                          </m:r>
                        </m:e>
                      </m:d>
                      <m:r>
                        <a:rPr lang="en-US" i="0">
                          <a:latin typeface="Cambria Math" panose="02040503050406030204" pitchFamily="18" charset="0"/>
                        </a:rPr>
                        <m:t>+0.0063 </m:t>
                      </m:r>
                      <m:r>
                        <m:rPr>
                          <m:sty m:val="p"/>
                        </m:rPr>
                        <a:rPr lang="en-US" i="0">
                          <a:latin typeface="Cambria Math" panose="02040503050406030204" pitchFamily="18" charset="0"/>
                        </a:rPr>
                        <m:t>Cos</m:t>
                      </m:r>
                      <m:d>
                        <m:dPr>
                          <m:ctrlPr>
                            <a:rPr lang="en-US" i="1">
                              <a:solidFill>
                                <a:srgbClr val="836967"/>
                              </a:solidFill>
                              <a:latin typeface="Cambria Math" panose="02040503050406030204" pitchFamily="18" charset="0"/>
                            </a:rPr>
                          </m:ctrlPr>
                        </m:dPr>
                        <m:e>
                          <m:r>
                            <a:rPr lang="en-US" i="0">
                              <a:latin typeface="Cambria Math" panose="02040503050406030204" pitchFamily="18" charset="0"/>
                            </a:rPr>
                            <m:t>5</m:t>
                          </m:r>
                          <m:r>
                            <m:rPr>
                              <m:sty m:val="p"/>
                            </m:rPr>
                            <a:rPr lang="en-US" i="0">
                              <a:latin typeface="Cambria Math" panose="02040503050406030204" pitchFamily="18" charset="0"/>
                            </a:rPr>
                            <m:t>τ</m:t>
                          </m:r>
                        </m:e>
                      </m:d>
                    </m:oMath>
                  </m:oMathPara>
                </a14:m>
                <a:endParaRPr lang="en-US" dirty="0"/>
              </a:p>
            </p:txBody>
          </p:sp>
        </mc:Choice>
        <mc:Fallback xmlns="">
          <p:sp>
            <p:nvSpPr>
              <p:cNvPr id="20" name="TextBox 19">
                <a:extLst>
                  <a:ext uri="{FF2B5EF4-FFF2-40B4-BE49-F238E27FC236}">
                    <a16:creationId xmlns:a16="http://schemas.microsoft.com/office/drawing/2014/main" id="{E6A1FB1A-86F0-4A89-A139-53733145B11A}"/>
                  </a:ext>
                </a:extLst>
              </p:cNvPr>
              <p:cNvSpPr txBox="1">
                <a:spLocks noRot="1" noChangeAspect="1" noMove="1" noResize="1" noEditPoints="1" noAdjustHandles="1" noChangeArrowheads="1" noChangeShapeType="1" noTextEdit="1"/>
              </p:cNvSpPr>
              <p:nvPr/>
            </p:nvSpPr>
            <p:spPr>
              <a:xfrm>
                <a:off x="352698" y="1668275"/>
                <a:ext cx="11839302" cy="1035155"/>
              </a:xfrm>
              <a:prstGeom prst="rect">
                <a:avLst/>
              </a:prstGeom>
              <a:blipFill>
                <a:blip r:embed="rId2"/>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908A2D06-5669-5FB2-0A5E-0082B559B247}"/>
              </a:ext>
            </a:extLst>
          </p:cNvPr>
          <p:cNvSpPr txBox="1"/>
          <p:nvPr/>
        </p:nvSpPr>
        <p:spPr>
          <a:xfrm>
            <a:off x="844731" y="1328057"/>
            <a:ext cx="2151018" cy="369332"/>
          </a:xfrm>
          <a:prstGeom prst="rect">
            <a:avLst/>
          </a:prstGeom>
          <a:noFill/>
        </p:spPr>
        <p:txBody>
          <a:bodyPr wrap="square" rtlCol="0">
            <a:spAutoFit/>
          </a:bodyPr>
          <a:lstStyle/>
          <a:p>
            <a:pPr marL="285750" indent="-285750">
              <a:buFont typeface="Wingdings" panose="05000000000000000000" pitchFamily="2" charset="2"/>
              <a:buChar char="ü"/>
            </a:pPr>
            <a:r>
              <a:rPr lang="de-DE" sz="1800" dirty="0">
                <a:latin typeface="Arial" panose="020B0604020202020204" pitchFamily="34" charset="0"/>
                <a:cs typeface="Arial" panose="020B0604020202020204" pitchFamily="34" charset="0"/>
              </a:rPr>
              <a:t>Voltage readout</a:t>
            </a:r>
            <a:endParaRPr lang="en-US" sz="18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8DBF9A21-D86E-F2A6-AA3C-51271600D848}"/>
              </a:ext>
            </a:extLst>
          </p:cNvPr>
          <p:cNvSpPr txBox="1"/>
          <p:nvPr/>
        </p:nvSpPr>
        <p:spPr>
          <a:xfrm>
            <a:off x="997131" y="2987040"/>
            <a:ext cx="2429692" cy="646331"/>
          </a:xfrm>
          <a:prstGeom prst="rect">
            <a:avLst/>
          </a:prstGeom>
          <a:noFill/>
        </p:spPr>
        <p:txBody>
          <a:bodyPr wrap="square" rtlCol="0">
            <a:spAutoFit/>
          </a:bodyPr>
          <a:lstStyle/>
          <a:p>
            <a:pPr marL="285750" indent="-285750">
              <a:buFont typeface="Wingdings" panose="05000000000000000000" pitchFamily="2" charset="2"/>
              <a:buChar char="ü"/>
            </a:pPr>
            <a:r>
              <a:rPr lang="de-DE" sz="1800" dirty="0">
                <a:latin typeface="Arial" panose="020B0604020202020204" pitchFamily="34" charset="0"/>
                <a:cs typeface="Arial" panose="020B0604020202020204" pitchFamily="34" charset="0"/>
              </a:rPr>
              <a:t>Displacement readout</a:t>
            </a:r>
            <a:endParaRPr lang="en-US" sz="18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D410AFF-0CE1-6ABD-FF14-1E3CDCD09768}"/>
                  </a:ext>
                </a:extLst>
              </p:cNvPr>
              <p:cNvSpPr txBox="1"/>
              <p:nvPr/>
            </p:nvSpPr>
            <p:spPr>
              <a:xfrm>
                <a:off x="389373" y="3639982"/>
                <a:ext cx="11602329" cy="10351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836967"/>
                              </a:solidFill>
                              <a:latin typeface="Cambria Math" panose="02040503050406030204" pitchFamily="18" charset="0"/>
                            </a:rPr>
                          </m:ctrlPr>
                        </m:accPr>
                        <m:e>
                          <m:r>
                            <m:rPr>
                              <m:sty m:val="p"/>
                            </m:rPr>
                            <a:rPr lang="en-US">
                              <a:latin typeface="Cambria Math" panose="02040503050406030204" pitchFamily="18" charset="0"/>
                            </a:rPr>
                            <m:t>U</m:t>
                          </m:r>
                        </m:e>
                      </m:acc>
                      <m:r>
                        <a:rPr lang="en-US" i="0">
                          <a:latin typeface="Cambria Math" panose="02040503050406030204" pitchFamily="18" charset="0"/>
                        </a:rPr>
                        <m:t>=−39.4905 </m:t>
                      </m:r>
                      <m:r>
                        <m:rPr>
                          <m:sty m:val="p"/>
                        </m:rPr>
                        <a:rPr lang="en-US" i="0">
                          <a:latin typeface="Cambria Math" panose="02040503050406030204" pitchFamily="18" charset="0"/>
                        </a:rPr>
                        <m:t>U</m:t>
                      </m:r>
                      <m:r>
                        <a:rPr lang="en-US" i="0">
                          <a:latin typeface="Cambria Math" panose="02040503050406030204" pitchFamily="18" charset="0"/>
                        </a:rPr>
                        <m:t> −  </m:t>
                      </m:r>
                      <m:d>
                        <m:dPr>
                          <m:ctrlPr>
                            <a:rPr lang="en-US" i="1">
                              <a:solidFill>
                                <a:srgbClr val="836967"/>
                              </a:solidFill>
                              <a:latin typeface="Cambria Math" panose="02040503050406030204" pitchFamily="18" charset="0"/>
                            </a:rPr>
                          </m:ctrlPr>
                        </m:dPr>
                        <m:e>
                          <m:r>
                            <a:rPr lang="en-US" i="0">
                              <a:latin typeface="Cambria Math" panose="02040503050406030204" pitchFamily="18" charset="0"/>
                            </a:rPr>
                            <m:t>2×0.0002</m:t>
                          </m:r>
                        </m:e>
                      </m:d>
                      <m:acc>
                        <m:accPr>
                          <m:chr m:val="̇"/>
                          <m:ctrlPr>
                            <a:rPr lang="en-US" i="1">
                              <a:solidFill>
                                <a:srgbClr val="836967"/>
                              </a:solidFill>
                              <a:latin typeface="Cambria Math" panose="02040503050406030204" pitchFamily="18" charset="0"/>
                            </a:rPr>
                          </m:ctrlPr>
                        </m:accPr>
                        <m:e>
                          <m:r>
                            <m:rPr>
                              <m:sty m:val="p"/>
                            </m:rPr>
                            <a:rPr lang="en-US" i="0">
                              <a:latin typeface="Cambria Math" panose="02040503050406030204" pitchFamily="18" charset="0"/>
                            </a:rPr>
                            <m:t>U</m:t>
                          </m:r>
                        </m:e>
                      </m:acc>
                      <m:r>
                        <a:rPr lang="en-US" i="0">
                          <a:latin typeface="Cambria Math" panose="02040503050406030204" pitchFamily="18" charset="0"/>
                        </a:rPr>
                        <m:t>+0.0040 </m:t>
                      </m:r>
                      <m:r>
                        <m:rPr>
                          <m:sty m:val="p"/>
                        </m:rPr>
                        <a:rPr lang="en-US" i="0">
                          <a:latin typeface="Cambria Math" panose="02040503050406030204" pitchFamily="18" charset="0"/>
                        </a:rPr>
                        <m:t>Cos</m:t>
                      </m:r>
                      <m:d>
                        <m:dPr>
                          <m:ctrlPr>
                            <a:rPr lang="en-US" i="1">
                              <a:solidFill>
                                <a:srgbClr val="836967"/>
                              </a:solidFill>
                              <a:latin typeface="Cambria Math" panose="02040503050406030204" pitchFamily="18" charset="0"/>
                            </a:rPr>
                          </m:ctrlPr>
                        </m:dPr>
                        <m:e>
                          <m:r>
                            <m:rPr>
                              <m:sty m:val="p"/>
                            </m:rPr>
                            <a:rPr lang="en-US" i="0">
                              <a:latin typeface="Cambria Math" panose="02040503050406030204" pitchFamily="18" charset="0"/>
                            </a:rPr>
                            <m:t>τ</m:t>
                          </m:r>
                        </m:e>
                      </m:d>
                      <m:r>
                        <a:rPr lang="en-US" i="0">
                          <a:latin typeface="Cambria Math" panose="02040503050406030204" pitchFamily="18" charset="0"/>
                        </a:rPr>
                        <m:t>−0.0007 </m:t>
                      </m:r>
                      <m:r>
                        <m:rPr>
                          <m:sty m:val="p"/>
                        </m:rPr>
                        <a:rPr lang="en-US" i="0">
                          <a:latin typeface="Cambria Math" panose="02040503050406030204" pitchFamily="18" charset="0"/>
                        </a:rPr>
                        <m:t>Cos</m:t>
                      </m:r>
                      <m:d>
                        <m:dPr>
                          <m:ctrlPr>
                            <a:rPr lang="en-US" i="1">
                              <a:solidFill>
                                <a:srgbClr val="836967"/>
                              </a:solidFill>
                              <a:latin typeface="Cambria Math" panose="02040503050406030204" pitchFamily="18" charset="0"/>
                            </a:rPr>
                          </m:ctrlPr>
                        </m:dPr>
                        <m:e>
                          <m:r>
                            <a:rPr lang="en-US" i="0">
                              <a:latin typeface="Cambria Math" panose="02040503050406030204" pitchFamily="18" charset="0"/>
                            </a:rPr>
                            <m:t>2</m:t>
                          </m:r>
                          <m:r>
                            <m:rPr>
                              <m:sty m:val="p"/>
                            </m:rPr>
                            <a:rPr lang="en-US" i="0">
                              <a:latin typeface="Cambria Math" panose="02040503050406030204" pitchFamily="18" charset="0"/>
                            </a:rPr>
                            <m:t>τ</m:t>
                          </m:r>
                        </m:e>
                      </m:d>
                      <m:r>
                        <a:rPr lang="en-US" i="0">
                          <a:latin typeface="Cambria Math" panose="02040503050406030204" pitchFamily="18" charset="0"/>
                        </a:rPr>
                        <m:t>− 0.0046 </m:t>
                      </m:r>
                      <m:r>
                        <m:rPr>
                          <m:sty m:val="p"/>
                        </m:rPr>
                        <a:rPr lang="en-US" i="0">
                          <a:latin typeface="Cambria Math" panose="02040503050406030204" pitchFamily="18" charset="0"/>
                        </a:rPr>
                        <m:t>Cos</m:t>
                      </m:r>
                      <m:d>
                        <m:dPr>
                          <m:ctrlPr>
                            <a:rPr lang="en-US" i="1">
                              <a:solidFill>
                                <a:srgbClr val="836967"/>
                              </a:solidFill>
                              <a:latin typeface="Cambria Math" panose="02040503050406030204" pitchFamily="18" charset="0"/>
                            </a:rPr>
                          </m:ctrlPr>
                        </m:dPr>
                        <m:e>
                          <m:r>
                            <a:rPr lang="en-US" i="0">
                              <a:latin typeface="Cambria Math" panose="02040503050406030204" pitchFamily="18" charset="0"/>
                            </a:rPr>
                            <m:t>3</m:t>
                          </m:r>
                          <m:r>
                            <m:rPr>
                              <m:sty m:val="p"/>
                            </m:rPr>
                            <a:rPr lang="en-US" i="0">
                              <a:latin typeface="Cambria Math" panose="02040503050406030204" pitchFamily="18" charset="0"/>
                            </a:rPr>
                            <m:t>τ</m:t>
                          </m:r>
                        </m:e>
                      </m:d>
                      <m:r>
                        <a:rPr lang="en-US" i="0">
                          <a:latin typeface="Cambria Math" panose="02040503050406030204" pitchFamily="18" charset="0"/>
                        </a:rPr>
                        <m:t>−0.0060  </m:t>
                      </m:r>
                      <m:r>
                        <m:rPr>
                          <m:sty m:val="p"/>
                        </m:rPr>
                        <a:rPr lang="en-US" i="0">
                          <a:latin typeface="Cambria Math" panose="02040503050406030204" pitchFamily="18" charset="0"/>
                        </a:rPr>
                        <m:t>Cos</m:t>
                      </m:r>
                      <m:d>
                        <m:dPr>
                          <m:ctrlPr>
                            <a:rPr lang="en-US" i="1">
                              <a:solidFill>
                                <a:srgbClr val="836967"/>
                              </a:solidFill>
                              <a:latin typeface="Cambria Math" panose="02040503050406030204" pitchFamily="18" charset="0"/>
                            </a:rPr>
                          </m:ctrlPr>
                        </m:dPr>
                        <m:e>
                          <m:r>
                            <a:rPr lang="en-US" i="0">
                              <a:latin typeface="Cambria Math" panose="02040503050406030204" pitchFamily="18" charset="0"/>
                            </a:rPr>
                            <m:t>4</m:t>
                          </m:r>
                          <m:r>
                            <m:rPr>
                              <m:sty m:val="p"/>
                            </m:rPr>
                            <a:rPr lang="en-US" i="0">
                              <a:latin typeface="Cambria Math" panose="02040503050406030204" pitchFamily="18" charset="0"/>
                            </a:rPr>
                            <m:t>τ</m:t>
                          </m:r>
                        </m:e>
                      </m:d>
                      <m:r>
                        <a:rPr lang="en-US" i="0">
                          <a:latin typeface="Cambria Math" panose="02040503050406030204" pitchFamily="18" charset="0"/>
                        </a:rPr>
                        <m:t> </m:t>
                      </m:r>
                    </m:oMath>
                  </m:oMathPara>
                </a14:m>
                <a:endParaRPr lang="en-US" dirty="0"/>
              </a:p>
            </p:txBody>
          </p:sp>
        </mc:Choice>
        <mc:Fallback xmlns="">
          <p:sp>
            <p:nvSpPr>
              <p:cNvPr id="24" name="TextBox 23">
                <a:extLst>
                  <a:ext uri="{FF2B5EF4-FFF2-40B4-BE49-F238E27FC236}">
                    <a16:creationId xmlns:a16="http://schemas.microsoft.com/office/drawing/2014/main" id="{0D410AFF-0CE1-6ABD-FF14-1E3CDCD09768}"/>
                  </a:ext>
                </a:extLst>
              </p:cNvPr>
              <p:cNvSpPr txBox="1">
                <a:spLocks noRot="1" noChangeAspect="1" noMove="1" noResize="1" noEditPoints="1" noAdjustHandles="1" noChangeArrowheads="1" noChangeShapeType="1" noTextEdit="1"/>
              </p:cNvSpPr>
              <p:nvPr/>
            </p:nvSpPr>
            <p:spPr>
              <a:xfrm>
                <a:off x="389373" y="3639982"/>
                <a:ext cx="11602329" cy="103515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CC32A55-E463-E076-37D8-3BE31B67F43A}"/>
                  </a:ext>
                </a:extLst>
              </p:cNvPr>
              <p:cNvSpPr txBox="1"/>
              <p:nvPr/>
            </p:nvSpPr>
            <p:spPr>
              <a:xfrm>
                <a:off x="352698" y="1673917"/>
                <a:ext cx="11839302" cy="10351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836967"/>
                              </a:solidFill>
                              <a:latin typeface="Cambria Math" panose="02040503050406030204" pitchFamily="18" charset="0"/>
                            </a:rPr>
                          </m:ctrlPr>
                        </m:accPr>
                        <m:e>
                          <m:r>
                            <m:rPr>
                              <m:sty m:val="p"/>
                            </m:rPr>
                            <a:rPr lang="en-US">
                              <a:latin typeface="Cambria Math" panose="02040503050406030204" pitchFamily="18" charset="0"/>
                            </a:rPr>
                            <m:t>U</m:t>
                          </m:r>
                        </m:e>
                      </m:acc>
                      <m:r>
                        <a:rPr lang="en-US" i="0">
                          <a:latin typeface="Cambria Math" panose="02040503050406030204" pitchFamily="18" charset="0"/>
                        </a:rPr>
                        <m:t>=−</m:t>
                      </m:r>
                      <m:r>
                        <a:rPr lang="en-US" i="0" smtClean="0">
                          <a:solidFill>
                            <a:srgbClr val="00B050"/>
                          </a:solidFill>
                          <a:latin typeface="Cambria Math" panose="02040503050406030204" pitchFamily="18" charset="0"/>
                        </a:rPr>
                        <m:t>38.33 </m:t>
                      </m:r>
                      <m:r>
                        <m:rPr>
                          <m:sty m:val="p"/>
                        </m:rPr>
                        <a:rPr lang="en-US" i="0" smtClean="0">
                          <a:solidFill>
                            <a:srgbClr val="00B050"/>
                          </a:solidFill>
                          <a:latin typeface="Cambria Math" panose="02040503050406030204" pitchFamily="18" charset="0"/>
                        </a:rPr>
                        <m:t>U</m:t>
                      </m:r>
                      <m:r>
                        <a:rPr lang="en-US" i="0" smtClean="0">
                          <a:solidFill>
                            <a:srgbClr val="00B050"/>
                          </a:solidFill>
                          <a:latin typeface="Cambria Math" panose="02040503050406030204" pitchFamily="18" charset="0"/>
                        </a:rPr>
                        <m:t> + </m:t>
                      </m:r>
                      <m:d>
                        <m:dPr>
                          <m:ctrlPr>
                            <a:rPr lang="en-US" i="1" smtClean="0">
                              <a:solidFill>
                                <a:srgbClr val="00B0F0"/>
                              </a:solidFill>
                              <a:latin typeface="Cambria Math" panose="02040503050406030204" pitchFamily="18" charset="0"/>
                            </a:rPr>
                          </m:ctrlPr>
                        </m:dPr>
                        <m:e>
                          <m:r>
                            <a:rPr lang="en-US" i="0">
                              <a:solidFill>
                                <a:srgbClr val="00B0F0"/>
                              </a:solidFill>
                              <a:latin typeface="Cambria Math" panose="02040503050406030204" pitchFamily="18" charset="0"/>
                            </a:rPr>
                            <m:t>2 × 0.2992</m:t>
                          </m:r>
                        </m:e>
                      </m:d>
                      <m:acc>
                        <m:accPr>
                          <m:chr m:val="̇"/>
                          <m:ctrlPr>
                            <a:rPr lang="en-US" i="1">
                              <a:solidFill>
                                <a:srgbClr val="00B0F0"/>
                              </a:solidFill>
                              <a:latin typeface="Cambria Math" panose="02040503050406030204" pitchFamily="18" charset="0"/>
                            </a:rPr>
                          </m:ctrlPr>
                        </m:accPr>
                        <m:e>
                          <m:r>
                            <m:rPr>
                              <m:sty m:val="p"/>
                            </m:rPr>
                            <a:rPr lang="en-US" i="0">
                              <a:solidFill>
                                <a:srgbClr val="00B0F0"/>
                              </a:solidFill>
                              <a:latin typeface="Cambria Math" panose="02040503050406030204" pitchFamily="18" charset="0"/>
                            </a:rPr>
                            <m:t>U</m:t>
                          </m:r>
                        </m:e>
                      </m:acc>
                      <m:r>
                        <a:rPr lang="en-US" i="0">
                          <a:latin typeface="Cambria Math" panose="02040503050406030204" pitchFamily="18" charset="0"/>
                        </a:rPr>
                        <m:t> – </m:t>
                      </m:r>
                      <m:r>
                        <a:rPr lang="en-US" i="0" smtClean="0">
                          <a:solidFill>
                            <a:srgbClr val="00B050"/>
                          </a:solidFill>
                          <a:latin typeface="Cambria Math" panose="02040503050406030204" pitchFamily="18" charset="0"/>
                        </a:rPr>
                        <m:t>1.428 </m:t>
                      </m:r>
                      <m:sSup>
                        <m:sSupPr>
                          <m:ctrlPr>
                            <a:rPr lang="en-US" i="1">
                              <a:solidFill>
                                <a:srgbClr val="00B050"/>
                              </a:solidFill>
                              <a:latin typeface="Cambria Math" panose="02040503050406030204" pitchFamily="18" charset="0"/>
                            </a:rPr>
                          </m:ctrlPr>
                        </m:sSupPr>
                        <m:e>
                          <m:r>
                            <m:rPr>
                              <m:sty m:val="p"/>
                            </m:rPr>
                            <a:rPr lang="en-US" i="0">
                              <a:solidFill>
                                <a:srgbClr val="00B050"/>
                              </a:solidFill>
                              <a:latin typeface="Cambria Math" panose="02040503050406030204" pitchFamily="18" charset="0"/>
                            </a:rPr>
                            <m:t>U</m:t>
                          </m:r>
                        </m:e>
                        <m:sup>
                          <m:r>
                            <a:rPr lang="en-US" i="0">
                              <a:solidFill>
                                <a:srgbClr val="00B050"/>
                              </a:solidFill>
                              <a:latin typeface="Cambria Math" panose="02040503050406030204" pitchFamily="18" charset="0"/>
                            </a:rPr>
                            <m:t>3</m:t>
                          </m:r>
                        </m:sup>
                      </m:sSup>
                      <m:r>
                        <a:rPr lang="en-US" i="0" smtClean="0">
                          <a:solidFill>
                            <a:schemeClr val="tx1"/>
                          </a:solidFill>
                          <a:latin typeface="Cambria Math" panose="02040503050406030204" pitchFamily="18" charset="0"/>
                        </a:rPr>
                        <m:t>−</m:t>
                      </m:r>
                      <m:r>
                        <a:rPr lang="en-US" i="0" smtClean="0">
                          <a:solidFill>
                            <a:srgbClr val="00B0F0"/>
                          </a:solidFill>
                          <a:latin typeface="Cambria Math" panose="02040503050406030204" pitchFamily="18" charset="0"/>
                        </a:rPr>
                        <m:t>0.019 </m:t>
                      </m:r>
                      <m:sSup>
                        <m:sSupPr>
                          <m:ctrlPr>
                            <a:rPr lang="en-US" i="1">
                              <a:solidFill>
                                <a:srgbClr val="00B0F0"/>
                              </a:solidFill>
                              <a:latin typeface="Cambria Math" panose="02040503050406030204" pitchFamily="18" charset="0"/>
                            </a:rPr>
                          </m:ctrlPr>
                        </m:sSupPr>
                        <m:e>
                          <m:acc>
                            <m:accPr>
                              <m:chr m:val="̇"/>
                              <m:ctrlPr>
                                <a:rPr lang="en-US" i="1">
                                  <a:solidFill>
                                    <a:srgbClr val="00B0F0"/>
                                  </a:solidFill>
                                  <a:latin typeface="Cambria Math" panose="02040503050406030204" pitchFamily="18" charset="0"/>
                                </a:rPr>
                              </m:ctrlPr>
                            </m:accPr>
                            <m:e>
                              <m:r>
                                <m:rPr>
                                  <m:sty m:val="p"/>
                                </m:rPr>
                                <a:rPr lang="en-US" i="0">
                                  <a:solidFill>
                                    <a:srgbClr val="00B0F0"/>
                                  </a:solidFill>
                                  <a:latin typeface="Cambria Math" panose="02040503050406030204" pitchFamily="18" charset="0"/>
                                </a:rPr>
                                <m:t>U</m:t>
                              </m:r>
                            </m:e>
                          </m:acc>
                        </m:e>
                        <m:sup>
                          <m:r>
                            <a:rPr lang="en-US" i="0">
                              <a:solidFill>
                                <a:srgbClr val="00B0F0"/>
                              </a:solidFill>
                              <a:latin typeface="Cambria Math" panose="02040503050406030204" pitchFamily="18" charset="0"/>
                            </a:rPr>
                            <m:t>3</m:t>
                          </m:r>
                        </m:sup>
                      </m:sSup>
                      <m:r>
                        <a:rPr lang="en-US" i="0">
                          <a:latin typeface="Cambria Math" panose="02040503050406030204" pitchFamily="18" charset="0"/>
                        </a:rPr>
                        <m:t>−</m:t>
                      </m:r>
                      <m:r>
                        <a:rPr lang="en-US" i="0" smtClean="0">
                          <a:solidFill>
                            <a:srgbClr val="EE7612"/>
                          </a:solidFill>
                          <a:latin typeface="Cambria Math" panose="02040503050406030204" pitchFamily="18" charset="0"/>
                        </a:rPr>
                        <m:t>0.0222 </m:t>
                      </m:r>
                      <m:r>
                        <m:rPr>
                          <m:sty m:val="p"/>
                        </m:rPr>
                        <a:rPr lang="en-US" i="0" smtClean="0">
                          <a:solidFill>
                            <a:srgbClr val="EE7612"/>
                          </a:solidFill>
                          <a:latin typeface="Cambria Math" panose="02040503050406030204" pitchFamily="18" charset="0"/>
                        </a:rPr>
                        <m:t>Cos</m:t>
                      </m:r>
                      <m:d>
                        <m:dPr>
                          <m:ctrlPr>
                            <a:rPr lang="en-US" i="1">
                              <a:solidFill>
                                <a:srgbClr val="EE7612"/>
                              </a:solidFill>
                              <a:latin typeface="Cambria Math" panose="02040503050406030204" pitchFamily="18" charset="0"/>
                            </a:rPr>
                          </m:ctrlPr>
                        </m:dPr>
                        <m:e>
                          <m:r>
                            <m:rPr>
                              <m:sty m:val="p"/>
                            </m:rPr>
                            <a:rPr lang="en-US" i="0">
                              <a:solidFill>
                                <a:srgbClr val="EE7612"/>
                              </a:solidFill>
                              <a:latin typeface="Cambria Math" panose="02040503050406030204" pitchFamily="18" charset="0"/>
                            </a:rPr>
                            <m:t>τ</m:t>
                          </m:r>
                        </m:e>
                      </m:d>
                      <m:r>
                        <a:rPr lang="en-US" i="0" smtClean="0">
                          <a:solidFill>
                            <a:schemeClr val="tx1"/>
                          </a:solidFill>
                          <a:latin typeface="Cambria Math" panose="02040503050406030204" pitchFamily="18" charset="0"/>
                        </a:rPr>
                        <m:t>+</m:t>
                      </m:r>
                      <m:r>
                        <a:rPr lang="en-US" i="0" smtClean="0">
                          <a:solidFill>
                            <a:srgbClr val="7030A0"/>
                          </a:solidFill>
                          <a:latin typeface="Cambria Math" panose="02040503050406030204" pitchFamily="18" charset="0"/>
                        </a:rPr>
                        <m:t>0.0223 </m:t>
                      </m:r>
                      <m:r>
                        <m:rPr>
                          <m:sty m:val="p"/>
                        </m:rPr>
                        <a:rPr lang="en-US" i="0" smtClean="0">
                          <a:solidFill>
                            <a:srgbClr val="7030A0"/>
                          </a:solidFill>
                          <a:latin typeface="Cambria Math" panose="02040503050406030204" pitchFamily="18" charset="0"/>
                        </a:rPr>
                        <m:t>Cos</m:t>
                      </m:r>
                      <m:d>
                        <m:dPr>
                          <m:ctrlPr>
                            <a:rPr lang="en-US" i="1">
                              <a:solidFill>
                                <a:srgbClr val="7030A0"/>
                              </a:solidFill>
                              <a:latin typeface="Cambria Math" panose="02040503050406030204" pitchFamily="18" charset="0"/>
                            </a:rPr>
                          </m:ctrlPr>
                        </m:dPr>
                        <m:e>
                          <m:r>
                            <a:rPr lang="en-US" i="0">
                              <a:solidFill>
                                <a:srgbClr val="7030A0"/>
                              </a:solidFill>
                              <a:latin typeface="Cambria Math" panose="02040503050406030204" pitchFamily="18" charset="0"/>
                            </a:rPr>
                            <m:t>2</m:t>
                          </m:r>
                          <m:r>
                            <m:rPr>
                              <m:sty m:val="p"/>
                            </m:rPr>
                            <a:rPr lang="en-US" i="0">
                              <a:solidFill>
                                <a:srgbClr val="7030A0"/>
                              </a:solidFill>
                              <a:latin typeface="Cambria Math" panose="02040503050406030204" pitchFamily="18" charset="0"/>
                            </a:rPr>
                            <m:t>τ</m:t>
                          </m:r>
                        </m:e>
                      </m:d>
                      <m:r>
                        <a:rPr lang="en-US" i="0" smtClean="0">
                          <a:solidFill>
                            <a:schemeClr val="tx1"/>
                          </a:solidFill>
                          <a:latin typeface="Cambria Math" panose="02040503050406030204" pitchFamily="18" charset="0"/>
                        </a:rPr>
                        <m:t>−</m:t>
                      </m:r>
                      <m:r>
                        <a:rPr lang="en-US" i="0" smtClean="0">
                          <a:solidFill>
                            <a:srgbClr val="7030A0"/>
                          </a:solidFill>
                          <a:latin typeface="Cambria Math" panose="02040503050406030204" pitchFamily="18" charset="0"/>
                        </a:rPr>
                        <m:t>0.0035 </m:t>
                      </m:r>
                      <m:r>
                        <m:rPr>
                          <m:sty m:val="p"/>
                        </m:rPr>
                        <a:rPr lang="en-US" i="0" smtClean="0">
                          <a:solidFill>
                            <a:srgbClr val="7030A0"/>
                          </a:solidFill>
                          <a:latin typeface="Cambria Math" panose="02040503050406030204" pitchFamily="18" charset="0"/>
                        </a:rPr>
                        <m:t>Cos</m:t>
                      </m:r>
                      <m:d>
                        <m:dPr>
                          <m:ctrlPr>
                            <a:rPr lang="en-US" i="1">
                              <a:solidFill>
                                <a:srgbClr val="7030A0"/>
                              </a:solidFill>
                              <a:latin typeface="Cambria Math" panose="02040503050406030204" pitchFamily="18" charset="0"/>
                            </a:rPr>
                          </m:ctrlPr>
                        </m:dPr>
                        <m:e>
                          <m:r>
                            <a:rPr lang="en-US" i="0">
                              <a:solidFill>
                                <a:srgbClr val="7030A0"/>
                              </a:solidFill>
                              <a:latin typeface="Cambria Math" panose="02040503050406030204" pitchFamily="18" charset="0"/>
                            </a:rPr>
                            <m:t>3</m:t>
                          </m:r>
                          <m:r>
                            <m:rPr>
                              <m:sty m:val="p"/>
                            </m:rPr>
                            <a:rPr lang="en-US" i="0">
                              <a:solidFill>
                                <a:srgbClr val="7030A0"/>
                              </a:solidFill>
                              <a:latin typeface="Cambria Math" panose="02040503050406030204" pitchFamily="18" charset="0"/>
                            </a:rPr>
                            <m:t>τ</m:t>
                          </m:r>
                        </m:e>
                      </m:d>
                      <m:r>
                        <a:rPr lang="en-US" i="0" smtClean="0">
                          <a:solidFill>
                            <a:schemeClr val="tx1"/>
                          </a:solidFill>
                          <a:latin typeface="Cambria Math" panose="02040503050406030204" pitchFamily="18" charset="0"/>
                        </a:rPr>
                        <m:t>−</m:t>
                      </m:r>
                      <m:r>
                        <a:rPr lang="en-US" i="0" smtClean="0">
                          <a:solidFill>
                            <a:srgbClr val="7030A0"/>
                          </a:solidFill>
                          <a:latin typeface="Cambria Math" panose="02040503050406030204" pitchFamily="18" charset="0"/>
                        </a:rPr>
                        <m:t>0.0018 </m:t>
                      </m:r>
                      <m:r>
                        <m:rPr>
                          <m:sty m:val="p"/>
                        </m:rPr>
                        <a:rPr lang="en-US" i="0" smtClean="0">
                          <a:solidFill>
                            <a:srgbClr val="7030A0"/>
                          </a:solidFill>
                          <a:latin typeface="Cambria Math" panose="02040503050406030204" pitchFamily="18" charset="0"/>
                        </a:rPr>
                        <m:t>Cos</m:t>
                      </m:r>
                      <m:d>
                        <m:dPr>
                          <m:ctrlPr>
                            <a:rPr lang="en-US" i="1">
                              <a:solidFill>
                                <a:srgbClr val="7030A0"/>
                              </a:solidFill>
                              <a:latin typeface="Cambria Math" panose="02040503050406030204" pitchFamily="18" charset="0"/>
                            </a:rPr>
                          </m:ctrlPr>
                        </m:dPr>
                        <m:e>
                          <m:r>
                            <a:rPr lang="en-US" i="0">
                              <a:solidFill>
                                <a:srgbClr val="7030A0"/>
                              </a:solidFill>
                              <a:latin typeface="Cambria Math" panose="02040503050406030204" pitchFamily="18" charset="0"/>
                            </a:rPr>
                            <m:t>4</m:t>
                          </m:r>
                          <m:r>
                            <m:rPr>
                              <m:sty m:val="p"/>
                            </m:rPr>
                            <a:rPr lang="en-US" i="0">
                              <a:solidFill>
                                <a:srgbClr val="7030A0"/>
                              </a:solidFill>
                              <a:latin typeface="Cambria Math" panose="02040503050406030204" pitchFamily="18" charset="0"/>
                            </a:rPr>
                            <m:t>τ</m:t>
                          </m:r>
                        </m:e>
                      </m:d>
                      <m:r>
                        <a:rPr lang="en-US" i="0" smtClean="0">
                          <a:solidFill>
                            <a:schemeClr val="tx1"/>
                          </a:solidFill>
                          <a:latin typeface="Cambria Math" panose="02040503050406030204" pitchFamily="18" charset="0"/>
                        </a:rPr>
                        <m:t>+</m:t>
                      </m:r>
                      <m:r>
                        <a:rPr lang="en-US" i="0" smtClean="0">
                          <a:solidFill>
                            <a:srgbClr val="7030A0"/>
                          </a:solidFill>
                          <a:latin typeface="Cambria Math" panose="02040503050406030204" pitchFamily="18" charset="0"/>
                        </a:rPr>
                        <m:t>0.0063 </m:t>
                      </m:r>
                      <m:r>
                        <m:rPr>
                          <m:sty m:val="p"/>
                        </m:rPr>
                        <a:rPr lang="en-US" i="0" smtClean="0">
                          <a:solidFill>
                            <a:srgbClr val="7030A0"/>
                          </a:solidFill>
                          <a:latin typeface="Cambria Math" panose="02040503050406030204" pitchFamily="18" charset="0"/>
                        </a:rPr>
                        <m:t>Cos</m:t>
                      </m:r>
                      <m:d>
                        <m:dPr>
                          <m:ctrlPr>
                            <a:rPr lang="en-US" i="1">
                              <a:solidFill>
                                <a:srgbClr val="7030A0"/>
                              </a:solidFill>
                              <a:latin typeface="Cambria Math" panose="02040503050406030204" pitchFamily="18" charset="0"/>
                            </a:rPr>
                          </m:ctrlPr>
                        </m:dPr>
                        <m:e>
                          <m:r>
                            <a:rPr lang="en-US" i="0">
                              <a:solidFill>
                                <a:srgbClr val="7030A0"/>
                              </a:solidFill>
                              <a:latin typeface="Cambria Math" panose="02040503050406030204" pitchFamily="18" charset="0"/>
                            </a:rPr>
                            <m:t>5</m:t>
                          </m:r>
                          <m:r>
                            <m:rPr>
                              <m:sty m:val="p"/>
                            </m:rPr>
                            <a:rPr lang="en-US" i="0">
                              <a:solidFill>
                                <a:srgbClr val="7030A0"/>
                              </a:solidFill>
                              <a:latin typeface="Cambria Math" panose="02040503050406030204" pitchFamily="18" charset="0"/>
                            </a:rPr>
                            <m:t>τ</m:t>
                          </m:r>
                        </m:e>
                      </m:d>
                    </m:oMath>
                  </m:oMathPara>
                </a14:m>
                <a:endParaRPr lang="en-US" dirty="0"/>
              </a:p>
            </p:txBody>
          </p:sp>
        </mc:Choice>
        <mc:Fallback xmlns="">
          <p:sp>
            <p:nvSpPr>
              <p:cNvPr id="25" name="TextBox 24">
                <a:extLst>
                  <a:ext uri="{FF2B5EF4-FFF2-40B4-BE49-F238E27FC236}">
                    <a16:creationId xmlns:a16="http://schemas.microsoft.com/office/drawing/2014/main" id="{CCC32A55-E463-E076-37D8-3BE31B67F43A}"/>
                  </a:ext>
                </a:extLst>
              </p:cNvPr>
              <p:cNvSpPr txBox="1">
                <a:spLocks noRot="1" noChangeAspect="1" noMove="1" noResize="1" noEditPoints="1" noAdjustHandles="1" noChangeArrowheads="1" noChangeShapeType="1" noTextEdit="1"/>
              </p:cNvSpPr>
              <p:nvPr/>
            </p:nvSpPr>
            <p:spPr>
              <a:xfrm>
                <a:off x="352698" y="1673917"/>
                <a:ext cx="11839302" cy="103515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0BC7263-739B-C43D-DC54-84E0191FC25B}"/>
                  </a:ext>
                </a:extLst>
              </p:cNvPr>
              <p:cNvSpPr txBox="1"/>
              <p:nvPr/>
            </p:nvSpPr>
            <p:spPr>
              <a:xfrm>
                <a:off x="389373" y="3645624"/>
                <a:ext cx="11602329" cy="10351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836967"/>
                              </a:solidFill>
                              <a:latin typeface="Cambria Math" panose="02040503050406030204" pitchFamily="18" charset="0"/>
                            </a:rPr>
                          </m:ctrlPr>
                        </m:accPr>
                        <m:e>
                          <m:r>
                            <m:rPr>
                              <m:sty m:val="p"/>
                            </m:rPr>
                            <a:rPr lang="en-US">
                              <a:latin typeface="Cambria Math" panose="02040503050406030204" pitchFamily="18" charset="0"/>
                            </a:rPr>
                            <m:t>U</m:t>
                          </m:r>
                        </m:e>
                      </m:acc>
                      <m:r>
                        <a:rPr lang="en-US" i="0">
                          <a:latin typeface="Cambria Math" panose="02040503050406030204" pitchFamily="18" charset="0"/>
                        </a:rPr>
                        <m:t>=</m:t>
                      </m:r>
                      <m:r>
                        <a:rPr lang="en-US" i="0" smtClean="0">
                          <a:solidFill>
                            <a:schemeClr val="tx1"/>
                          </a:solidFill>
                          <a:latin typeface="Cambria Math" panose="02040503050406030204" pitchFamily="18" charset="0"/>
                        </a:rPr>
                        <m:t>−</m:t>
                      </m:r>
                      <m:r>
                        <a:rPr lang="en-US" i="0" smtClean="0">
                          <a:solidFill>
                            <a:srgbClr val="00B050"/>
                          </a:solidFill>
                          <a:latin typeface="Cambria Math" panose="02040503050406030204" pitchFamily="18" charset="0"/>
                        </a:rPr>
                        <m:t>39.4905 </m:t>
                      </m:r>
                      <m:r>
                        <m:rPr>
                          <m:sty m:val="p"/>
                        </m:rPr>
                        <a:rPr lang="en-US" i="0" smtClean="0">
                          <a:solidFill>
                            <a:srgbClr val="00B050"/>
                          </a:solidFill>
                          <a:latin typeface="Cambria Math" panose="02040503050406030204" pitchFamily="18" charset="0"/>
                        </a:rPr>
                        <m:t>U</m:t>
                      </m:r>
                      <m:r>
                        <a:rPr lang="en-US" i="0" smtClean="0">
                          <a:solidFill>
                            <a:srgbClr val="00B050"/>
                          </a:solidFill>
                          <a:latin typeface="Cambria Math" panose="02040503050406030204" pitchFamily="18" charset="0"/>
                        </a:rPr>
                        <m:t> −  </m:t>
                      </m:r>
                      <m:d>
                        <m:dPr>
                          <m:ctrlPr>
                            <a:rPr lang="en-US" i="1" smtClean="0">
                              <a:solidFill>
                                <a:srgbClr val="00B0F0"/>
                              </a:solidFill>
                              <a:latin typeface="Cambria Math" panose="02040503050406030204" pitchFamily="18" charset="0"/>
                            </a:rPr>
                          </m:ctrlPr>
                        </m:dPr>
                        <m:e>
                          <m:r>
                            <a:rPr lang="en-US" i="0">
                              <a:solidFill>
                                <a:srgbClr val="00B0F0"/>
                              </a:solidFill>
                              <a:latin typeface="Cambria Math" panose="02040503050406030204" pitchFamily="18" charset="0"/>
                            </a:rPr>
                            <m:t>2×0.0002</m:t>
                          </m:r>
                        </m:e>
                      </m:d>
                      <m:acc>
                        <m:accPr>
                          <m:chr m:val="̇"/>
                          <m:ctrlPr>
                            <a:rPr lang="en-US" i="1">
                              <a:solidFill>
                                <a:srgbClr val="00B0F0"/>
                              </a:solidFill>
                              <a:latin typeface="Cambria Math" panose="02040503050406030204" pitchFamily="18" charset="0"/>
                            </a:rPr>
                          </m:ctrlPr>
                        </m:accPr>
                        <m:e>
                          <m:r>
                            <m:rPr>
                              <m:sty m:val="p"/>
                            </m:rPr>
                            <a:rPr lang="en-US" i="0">
                              <a:solidFill>
                                <a:srgbClr val="00B0F0"/>
                              </a:solidFill>
                              <a:latin typeface="Cambria Math" panose="02040503050406030204" pitchFamily="18" charset="0"/>
                            </a:rPr>
                            <m:t>U</m:t>
                          </m:r>
                        </m:e>
                      </m:acc>
                      <m:r>
                        <a:rPr lang="en-US" i="0">
                          <a:latin typeface="Cambria Math" panose="02040503050406030204" pitchFamily="18" charset="0"/>
                        </a:rPr>
                        <m:t>+</m:t>
                      </m:r>
                      <m:r>
                        <a:rPr lang="en-US" i="0" smtClean="0">
                          <a:solidFill>
                            <a:srgbClr val="EE7612"/>
                          </a:solidFill>
                          <a:latin typeface="Cambria Math" panose="02040503050406030204" pitchFamily="18" charset="0"/>
                        </a:rPr>
                        <m:t>0.0040 </m:t>
                      </m:r>
                      <m:r>
                        <m:rPr>
                          <m:sty m:val="p"/>
                        </m:rPr>
                        <a:rPr lang="en-US" i="0" smtClean="0">
                          <a:solidFill>
                            <a:srgbClr val="EE7612"/>
                          </a:solidFill>
                          <a:latin typeface="Cambria Math" panose="02040503050406030204" pitchFamily="18" charset="0"/>
                        </a:rPr>
                        <m:t>Cos</m:t>
                      </m:r>
                      <m:d>
                        <m:dPr>
                          <m:ctrlPr>
                            <a:rPr lang="en-US" i="1">
                              <a:solidFill>
                                <a:srgbClr val="EE7612"/>
                              </a:solidFill>
                              <a:latin typeface="Cambria Math" panose="02040503050406030204" pitchFamily="18" charset="0"/>
                            </a:rPr>
                          </m:ctrlPr>
                        </m:dPr>
                        <m:e>
                          <m:r>
                            <m:rPr>
                              <m:sty m:val="p"/>
                            </m:rPr>
                            <a:rPr lang="en-US" i="0">
                              <a:solidFill>
                                <a:srgbClr val="EE7612"/>
                              </a:solidFill>
                              <a:latin typeface="Cambria Math" panose="02040503050406030204" pitchFamily="18" charset="0"/>
                            </a:rPr>
                            <m:t>τ</m:t>
                          </m:r>
                        </m:e>
                      </m:d>
                      <m:r>
                        <a:rPr lang="en-US" i="0" smtClean="0">
                          <a:solidFill>
                            <a:schemeClr val="tx1"/>
                          </a:solidFill>
                          <a:latin typeface="Cambria Math" panose="02040503050406030204" pitchFamily="18" charset="0"/>
                        </a:rPr>
                        <m:t>−</m:t>
                      </m:r>
                      <m:r>
                        <a:rPr lang="en-US" i="0" smtClean="0">
                          <a:solidFill>
                            <a:srgbClr val="7030A0"/>
                          </a:solidFill>
                          <a:latin typeface="Cambria Math" panose="02040503050406030204" pitchFamily="18" charset="0"/>
                        </a:rPr>
                        <m:t>0.0007 </m:t>
                      </m:r>
                      <m:r>
                        <m:rPr>
                          <m:sty m:val="p"/>
                        </m:rPr>
                        <a:rPr lang="en-US" i="0" smtClean="0">
                          <a:solidFill>
                            <a:srgbClr val="7030A0"/>
                          </a:solidFill>
                          <a:latin typeface="Cambria Math" panose="02040503050406030204" pitchFamily="18" charset="0"/>
                        </a:rPr>
                        <m:t>Cos</m:t>
                      </m:r>
                      <m:d>
                        <m:dPr>
                          <m:ctrlPr>
                            <a:rPr lang="en-US" i="1">
                              <a:solidFill>
                                <a:srgbClr val="7030A0"/>
                              </a:solidFill>
                              <a:latin typeface="Cambria Math" panose="02040503050406030204" pitchFamily="18" charset="0"/>
                            </a:rPr>
                          </m:ctrlPr>
                        </m:dPr>
                        <m:e>
                          <m:r>
                            <a:rPr lang="en-US" i="0">
                              <a:solidFill>
                                <a:srgbClr val="7030A0"/>
                              </a:solidFill>
                              <a:latin typeface="Cambria Math" panose="02040503050406030204" pitchFamily="18" charset="0"/>
                            </a:rPr>
                            <m:t>2</m:t>
                          </m:r>
                          <m:r>
                            <m:rPr>
                              <m:sty m:val="p"/>
                            </m:rPr>
                            <a:rPr lang="en-US" i="0">
                              <a:solidFill>
                                <a:srgbClr val="7030A0"/>
                              </a:solidFill>
                              <a:latin typeface="Cambria Math" panose="02040503050406030204" pitchFamily="18" charset="0"/>
                            </a:rPr>
                            <m:t>τ</m:t>
                          </m:r>
                        </m:e>
                      </m:d>
                      <m:r>
                        <a:rPr lang="en-US" i="0" smtClean="0">
                          <a:solidFill>
                            <a:schemeClr val="tx1"/>
                          </a:solidFill>
                          <a:latin typeface="Cambria Math" panose="02040503050406030204" pitchFamily="18" charset="0"/>
                        </a:rPr>
                        <m:t>−</m:t>
                      </m:r>
                      <m:r>
                        <a:rPr lang="en-US" i="0">
                          <a:solidFill>
                            <a:srgbClr val="EE7612"/>
                          </a:solidFill>
                          <a:latin typeface="Cambria Math" panose="02040503050406030204" pitchFamily="18" charset="0"/>
                        </a:rPr>
                        <m:t> </m:t>
                      </m:r>
                      <m:r>
                        <a:rPr lang="en-US" i="0" smtClean="0">
                          <a:solidFill>
                            <a:srgbClr val="7030A0"/>
                          </a:solidFill>
                          <a:latin typeface="Cambria Math" panose="02040503050406030204" pitchFamily="18" charset="0"/>
                        </a:rPr>
                        <m:t>0.0046 </m:t>
                      </m:r>
                      <m:r>
                        <m:rPr>
                          <m:sty m:val="p"/>
                        </m:rPr>
                        <a:rPr lang="en-US" i="0" smtClean="0">
                          <a:solidFill>
                            <a:srgbClr val="7030A0"/>
                          </a:solidFill>
                          <a:latin typeface="Cambria Math" panose="02040503050406030204" pitchFamily="18" charset="0"/>
                        </a:rPr>
                        <m:t>Cos</m:t>
                      </m:r>
                      <m:d>
                        <m:dPr>
                          <m:ctrlPr>
                            <a:rPr lang="en-US" i="1">
                              <a:solidFill>
                                <a:srgbClr val="7030A0"/>
                              </a:solidFill>
                              <a:latin typeface="Cambria Math" panose="02040503050406030204" pitchFamily="18" charset="0"/>
                            </a:rPr>
                          </m:ctrlPr>
                        </m:dPr>
                        <m:e>
                          <m:r>
                            <a:rPr lang="en-US" i="0">
                              <a:solidFill>
                                <a:srgbClr val="7030A0"/>
                              </a:solidFill>
                              <a:latin typeface="Cambria Math" panose="02040503050406030204" pitchFamily="18" charset="0"/>
                            </a:rPr>
                            <m:t>3</m:t>
                          </m:r>
                          <m:r>
                            <m:rPr>
                              <m:sty m:val="p"/>
                            </m:rPr>
                            <a:rPr lang="en-US" i="0">
                              <a:solidFill>
                                <a:srgbClr val="7030A0"/>
                              </a:solidFill>
                              <a:latin typeface="Cambria Math" panose="02040503050406030204" pitchFamily="18" charset="0"/>
                            </a:rPr>
                            <m:t>τ</m:t>
                          </m:r>
                        </m:e>
                      </m:d>
                      <m:r>
                        <a:rPr lang="en-US" i="0" smtClean="0">
                          <a:solidFill>
                            <a:schemeClr val="tx1"/>
                          </a:solidFill>
                          <a:latin typeface="Cambria Math" panose="02040503050406030204" pitchFamily="18" charset="0"/>
                        </a:rPr>
                        <m:t>−</m:t>
                      </m:r>
                      <m:r>
                        <a:rPr lang="en-US" i="0" smtClean="0">
                          <a:solidFill>
                            <a:srgbClr val="7030A0"/>
                          </a:solidFill>
                          <a:latin typeface="Cambria Math" panose="02040503050406030204" pitchFamily="18" charset="0"/>
                        </a:rPr>
                        <m:t>0.0060  </m:t>
                      </m:r>
                      <m:r>
                        <m:rPr>
                          <m:sty m:val="p"/>
                        </m:rPr>
                        <a:rPr lang="en-US" i="0" smtClean="0">
                          <a:solidFill>
                            <a:srgbClr val="7030A0"/>
                          </a:solidFill>
                          <a:latin typeface="Cambria Math" panose="02040503050406030204" pitchFamily="18" charset="0"/>
                        </a:rPr>
                        <m:t>Cos</m:t>
                      </m:r>
                      <m:d>
                        <m:dPr>
                          <m:ctrlPr>
                            <a:rPr lang="en-US" i="1">
                              <a:solidFill>
                                <a:srgbClr val="7030A0"/>
                              </a:solidFill>
                              <a:latin typeface="Cambria Math" panose="02040503050406030204" pitchFamily="18" charset="0"/>
                            </a:rPr>
                          </m:ctrlPr>
                        </m:dPr>
                        <m:e>
                          <m:r>
                            <a:rPr lang="en-US" i="0">
                              <a:solidFill>
                                <a:srgbClr val="7030A0"/>
                              </a:solidFill>
                              <a:latin typeface="Cambria Math" panose="02040503050406030204" pitchFamily="18" charset="0"/>
                            </a:rPr>
                            <m:t>4</m:t>
                          </m:r>
                          <m:r>
                            <m:rPr>
                              <m:sty m:val="p"/>
                            </m:rPr>
                            <a:rPr lang="en-US" i="0">
                              <a:solidFill>
                                <a:srgbClr val="7030A0"/>
                              </a:solidFill>
                              <a:latin typeface="Cambria Math" panose="02040503050406030204" pitchFamily="18" charset="0"/>
                            </a:rPr>
                            <m:t>τ</m:t>
                          </m:r>
                        </m:e>
                      </m:d>
                      <m:r>
                        <a:rPr lang="en-US" i="0">
                          <a:solidFill>
                            <a:srgbClr val="7030A0"/>
                          </a:solidFill>
                          <a:latin typeface="Cambria Math" panose="02040503050406030204" pitchFamily="18" charset="0"/>
                        </a:rPr>
                        <m:t> </m:t>
                      </m:r>
                      <m:r>
                        <a:rPr lang="en-US" i="1" smtClean="0">
                          <a:solidFill>
                            <a:schemeClr val="tx1"/>
                          </a:solidFill>
                          <a:latin typeface="Cambria Math" panose="02040503050406030204" pitchFamily="18" charset="0"/>
                        </a:rPr>
                        <m:t>−</m:t>
                      </m:r>
                      <m:r>
                        <a:rPr lang="en-US" smtClean="0">
                          <a:solidFill>
                            <a:srgbClr val="7030A0"/>
                          </a:solidFill>
                          <a:latin typeface="Cambria Math" panose="02040503050406030204" pitchFamily="18" charset="0"/>
                        </a:rPr>
                        <m:t>0.0043 </m:t>
                      </m:r>
                      <m:r>
                        <m:rPr>
                          <m:sty m:val="p"/>
                        </m:rPr>
                        <a:rPr lang="en-US" smtClean="0">
                          <a:solidFill>
                            <a:srgbClr val="7030A0"/>
                          </a:solidFill>
                          <a:latin typeface="Cambria Math" panose="02040503050406030204" pitchFamily="18" charset="0"/>
                        </a:rPr>
                        <m:t>Cos</m:t>
                      </m:r>
                      <m:d>
                        <m:dPr>
                          <m:ctrlPr>
                            <a:rPr lang="en-US" i="1">
                              <a:solidFill>
                                <a:srgbClr val="7030A0"/>
                              </a:solidFill>
                              <a:latin typeface="Cambria Math" panose="02040503050406030204" pitchFamily="18" charset="0"/>
                            </a:rPr>
                          </m:ctrlPr>
                        </m:dPr>
                        <m:e>
                          <m:r>
                            <a:rPr lang="en-US">
                              <a:solidFill>
                                <a:srgbClr val="7030A0"/>
                              </a:solidFill>
                              <a:latin typeface="Cambria Math" panose="02040503050406030204" pitchFamily="18" charset="0"/>
                            </a:rPr>
                            <m:t>5</m:t>
                          </m:r>
                          <m:r>
                            <m:rPr>
                              <m:sty m:val="p"/>
                            </m:rPr>
                            <a:rPr lang="en-US">
                              <a:solidFill>
                                <a:srgbClr val="7030A0"/>
                              </a:solidFill>
                              <a:latin typeface="Cambria Math" panose="02040503050406030204" pitchFamily="18" charset="0"/>
                            </a:rPr>
                            <m:t>τ</m:t>
                          </m:r>
                        </m:e>
                      </m:d>
                    </m:oMath>
                  </m:oMathPara>
                </a14:m>
                <a:endParaRPr lang="en-US" dirty="0"/>
              </a:p>
            </p:txBody>
          </p:sp>
        </mc:Choice>
        <mc:Fallback xmlns="">
          <p:sp>
            <p:nvSpPr>
              <p:cNvPr id="26" name="TextBox 25">
                <a:extLst>
                  <a:ext uri="{FF2B5EF4-FFF2-40B4-BE49-F238E27FC236}">
                    <a16:creationId xmlns:a16="http://schemas.microsoft.com/office/drawing/2014/main" id="{E0BC7263-739B-C43D-DC54-84E0191FC25B}"/>
                  </a:ext>
                </a:extLst>
              </p:cNvPr>
              <p:cNvSpPr txBox="1">
                <a:spLocks noRot="1" noChangeAspect="1" noMove="1" noResize="1" noEditPoints="1" noAdjustHandles="1" noChangeArrowheads="1" noChangeShapeType="1" noTextEdit="1"/>
              </p:cNvSpPr>
              <p:nvPr/>
            </p:nvSpPr>
            <p:spPr>
              <a:xfrm>
                <a:off x="389373" y="3645624"/>
                <a:ext cx="11602329" cy="1035155"/>
              </a:xfrm>
              <a:prstGeom prst="rect">
                <a:avLst/>
              </a:prstGeom>
              <a:blipFill>
                <a:blip r:embed="rId5"/>
                <a:stretch>
                  <a:fillRect/>
                </a:stretch>
              </a:blipFill>
            </p:spPr>
            <p:txBody>
              <a:bodyPr/>
              <a:lstStyle/>
              <a:p>
                <a:r>
                  <a:rPr lang="en-US">
                    <a:noFill/>
                  </a:rPr>
                  <a:t> </a:t>
                </a:r>
              </a:p>
            </p:txBody>
          </p:sp>
        </mc:Fallback>
      </mc:AlternateContent>
      <p:sp>
        <p:nvSpPr>
          <p:cNvPr id="27" name="Flowchart: Connector 26">
            <a:extLst>
              <a:ext uri="{FF2B5EF4-FFF2-40B4-BE49-F238E27FC236}">
                <a16:creationId xmlns:a16="http://schemas.microsoft.com/office/drawing/2014/main" id="{72C23D20-F9A7-FD28-EC2D-BF8EEB86D62E}"/>
              </a:ext>
            </a:extLst>
          </p:cNvPr>
          <p:cNvSpPr/>
          <p:nvPr/>
        </p:nvSpPr>
        <p:spPr bwMode="auto">
          <a:xfrm>
            <a:off x="7593874" y="5310969"/>
            <a:ext cx="78377" cy="87085"/>
          </a:xfrm>
          <a:prstGeom prst="flowChartConnector">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28" name="Flowchart: Connector 27">
            <a:extLst>
              <a:ext uri="{FF2B5EF4-FFF2-40B4-BE49-F238E27FC236}">
                <a16:creationId xmlns:a16="http://schemas.microsoft.com/office/drawing/2014/main" id="{C58AF414-C20A-9A00-456F-682C9AF605F0}"/>
              </a:ext>
            </a:extLst>
          </p:cNvPr>
          <p:cNvSpPr/>
          <p:nvPr/>
        </p:nvSpPr>
        <p:spPr bwMode="auto">
          <a:xfrm>
            <a:off x="7593873" y="5068188"/>
            <a:ext cx="78377" cy="87085"/>
          </a:xfrm>
          <a:prstGeom prst="flowChartConnector">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29" name="Flowchart: Connector 28">
            <a:extLst>
              <a:ext uri="{FF2B5EF4-FFF2-40B4-BE49-F238E27FC236}">
                <a16:creationId xmlns:a16="http://schemas.microsoft.com/office/drawing/2014/main" id="{A08ECD49-A162-201A-B444-858CC4B8FC6A}"/>
              </a:ext>
            </a:extLst>
          </p:cNvPr>
          <p:cNvSpPr/>
          <p:nvPr/>
        </p:nvSpPr>
        <p:spPr bwMode="auto">
          <a:xfrm>
            <a:off x="7593873" y="5570110"/>
            <a:ext cx="78377" cy="87085"/>
          </a:xfrm>
          <a:prstGeom prst="flowChartConnector">
            <a:avLst/>
          </a:prstGeom>
          <a:solidFill>
            <a:srgbClr val="EE761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sp>
        <p:nvSpPr>
          <p:cNvPr id="32" name="TextBox 31">
            <a:extLst>
              <a:ext uri="{FF2B5EF4-FFF2-40B4-BE49-F238E27FC236}">
                <a16:creationId xmlns:a16="http://schemas.microsoft.com/office/drawing/2014/main" id="{6AB6AF05-F878-D8AA-E051-0776C3E6E226}"/>
              </a:ext>
            </a:extLst>
          </p:cNvPr>
          <p:cNvSpPr txBox="1"/>
          <p:nvPr/>
        </p:nvSpPr>
        <p:spPr>
          <a:xfrm>
            <a:off x="7295214" y="4949913"/>
            <a:ext cx="3532681" cy="1106113"/>
          </a:xfrm>
          <a:prstGeom prst="rect">
            <a:avLst/>
          </a:prstGeom>
          <a:noFill/>
        </p:spPr>
        <p:txBody>
          <a:bodyPr wrap="square" rtlCol="0">
            <a:noAutofit/>
          </a:bodyPr>
          <a:lstStyle/>
          <a:p>
            <a:r>
              <a:rPr lang="de-DE" sz="1600" dirty="0">
                <a:latin typeface="Arial" panose="020B0604020202020204" pitchFamily="34" charset="0"/>
                <a:cs typeface="Arial" panose="020B0604020202020204" pitchFamily="34" charset="0"/>
              </a:rPr>
              <a:t>       </a:t>
            </a:r>
            <a:r>
              <a:rPr lang="de-DE" sz="1600" dirty="0">
                <a:solidFill>
                  <a:srgbClr val="00B0F0"/>
                </a:solidFill>
                <a:latin typeface="Arial" panose="020B0604020202020204" pitchFamily="34" charset="0"/>
                <a:cs typeface="Arial" panose="020B0604020202020204" pitchFamily="34" charset="0"/>
              </a:rPr>
              <a:t>Damping</a:t>
            </a:r>
          </a:p>
          <a:p>
            <a:r>
              <a:rPr lang="de-DE" sz="1600" dirty="0">
                <a:latin typeface="Arial" panose="020B0604020202020204" pitchFamily="34" charset="0"/>
                <a:cs typeface="Arial" panose="020B0604020202020204" pitchFamily="34" charset="0"/>
              </a:rPr>
              <a:t>       </a:t>
            </a:r>
            <a:r>
              <a:rPr lang="de-DE" sz="1600" dirty="0">
                <a:solidFill>
                  <a:srgbClr val="00B050"/>
                </a:solidFill>
                <a:latin typeface="Arial" panose="020B0604020202020204" pitchFamily="34" charset="0"/>
                <a:cs typeface="Arial" panose="020B0604020202020204" pitchFamily="34" charset="0"/>
              </a:rPr>
              <a:t>Stiffness</a:t>
            </a:r>
          </a:p>
          <a:p>
            <a:r>
              <a:rPr lang="de-DE" sz="1600" dirty="0">
                <a:solidFill>
                  <a:srgbClr val="00B050"/>
                </a:solidFill>
                <a:latin typeface="Arial" panose="020B0604020202020204" pitchFamily="34" charset="0"/>
                <a:cs typeface="Arial" panose="020B0604020202020204" pitchFamily="34" charset="0"/>
              </a:rPr>
              <a:t>       </a:t>
            </a:r>
            <a:r>
              <a:rPr lang="de-DE" sz="1600" dirty="0">
                <a:solidFill>
                  <a:srgbClr val="EE7612"/>
                </a:solidFill>
                <a:latin typeface="Arial" panose="020B0604020202020204" pitchFamily="34" charset="0"/>
                <a:cs typeface="Arial" panose="020B0604020202020204" pitchFamily="34" charset="0"/>
              </a:rPr>
              <a:t>Excitation frequency contribution</a:t>
            </a:r>
          </a:p>
          <a:p>
            <a:r>
              <a:rPr lang="de-DE" sz="1600" dirty="0">
                <a:solidFill>
                  <a:srgbClr val="00B050"/>
                </a:solidFill>
                <a:latin typeface="Arial" panose="020B0604020202020204" pitchFamily="34" charset="0"/>
                <a:cs typeface="Arial" panose="020B0604020202020204" pitchFamily="34" charset="0"/>
              </a:rPr>
              <a:t>        </a:t>
            </a:r>
            <a:r>
              <a:rPr lang="de-DE" sz="1600" dirty="0">
                <a:solidFill>
                  <a:srgbClr val="7030A0"/>
                </a:solidFill>
                <a:latin typeface="Arial" panose="020B0604020202020204" pitchFamily="34" charset="0"/>
                <a:cs typeface="Arial" panose="020B0604020202020204" pitchFamily="34" charset="0"/>
              </a:rPr>
              <a:t>Higher Harmonics contribution</a:t>
            </a:r>
          </a:p>
          <a:p>
            <a:endParaRPr lang="en-US" sz="1800" dirty="0">
              <a:latin typeface="Arial" panose="020B0604020202020204" pitchFamily="34" charset="0"/>
              <a:cs typeface="Arial" panose="020B0604020202020204" pitchFamily="34" charset="0"/>
            </a:endParaRPr>
          </a:p>
        </p:txBody>
      </p:sp>
      <p:sp>
        <p:nvSpPr>
          <p:cNvPr id="33" name="Flowchart: Connector 32">
            <a:extLst>
              <a:ext uri="{FF2B5EF4-FFF2-40B4-BE49-F238E27FC236}">
                <a16:creationId xmlns:a16="http://schemas.microsoft.com/office/drawing/2014/main" id="{C76FB255-D2B0-6338-A9CE-20A435CF0426}"/>
              </a:ext>
            </a:extLst>
          </p:cNvPr>
          <p:cNvSpPr/>
          <p:nvPr/>
        </p:nvSpPr>
        <p:spPr bwMode="auto">
          <a:xfrm>
            <a:off x="7593872" y="5829251"/>
            <a:ext cx="78377" cy="87085"/>
          </a:xfrm>
          <a:prstGeom prst="flowChartConnector">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pic>
        <p:nvPicPr>
          <p:cNvPr id="5" name="Picture 4" descr="A close-up of a logo&#10;&#10;Description automatically generated">
            <a:extLst>
              <a:ext uri="{FF2B5EF4-FFF2-40B4-BE49-F238E27FC236}">
                <a16:creationId xmlns:a16="http://schemas.microsoft.com/office/drawing/2014/main" id="{C17E9A9B-EEDD-1080-C21B-4C5904D0D723}"/>
              </a:ext>
            </a:extLst>
          </p:cNvPr>
          <p:cNvPicPr>
            <a:picLocks noChangeAspect="1"/>
          </p:cNvPicPr>
          <p:nvPr/>
        </p:nvPicPr>
        <p:blipFill>
          <a:blip r:embed="rId6"/>
          <a:stretch>
            <a:fillRect/>
          </a:stretch>
        </p:blipFill>
        <p:spPr>
          <a:xfrm>
            <a:off x="8051499" y="2712877"/>
            <a:ext cx="3103147" cy="1055166"/>
          </a:xfrm>
          <a:prstGeom prst="rect">
            <a:avLst/>
          </a:prstGeom>
        </p:spPr>
      </p:pic>
    </p:spTree>
    <p:extLst>
      <p:ext uri="{BB962C8B-B14F-4D97-AF65-F5344CB8AC3E}">
        <p14:creationId xmlns:p14="http://schemas.microsoft.com/office/powerpoint/2010/main" val="2196346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25</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46344" y="-20377"/>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Analyzing governing equations: Stiffness force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DE3740-4096-27B2-0D8B-1F7A1098687F}"/>
                  </a:ext>
                </a:extLst>
              </p:cNvPr>
              <p:cNvSpPr txBox="1"/>
              <p:nvPr/>
            </p:nvSpPr>
            <p:spPr>
              <a:xfrm>
                <a:off x="319834" y="442848"/>
                <a:ext cx="4822129" cy="652551"/>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solidFill>
                      <a:schemeClr val="bg1"/>
                    </a:solidFill>
                    <a:effectLst/>
                    <a:latin typeface="Times New Roman" panose="02020603050405020304" pitchFamily="18" charset="0"/>
                    <a:ea typeface="Calibri" panose="020F0502020204030204" pitchFamily="34" charset="0"/>
                  </a:rPr>
                  <a:t>Voltage readout (</a:t>
                </a:r>
                <a14:m>
                  <m:oMath xmlns:m="http://schemas.openxmlformats.org/officeDocument/2006/math">
                    <m:r>
                      <a:rPr lang="en-US" sz="1800" b="1"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𝟑𝟖</m:t>
                    </m:r>
                    <m:r>
                      <a:rPr lang="en-US" sz="1800" b="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𝟑𝟑</m:t>
                    </m:r>
                    <m:r>
                      <a:rPr lang="en-US" sz="1800" b="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1800" b="1"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𝐔</m:t>
                    </m:r>
                    <m:r>
                      <a:rPr lang="en-US" sz="1800" b="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𝟏</m:t>
                    </m:r>
                    <m:r>
                      <a:rPr lang="en-US" sz="1800" b="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𝟒𝟐𝟖</m:t>
                    </m:r>
                    <m:r>
                      <a:rPr lang="en-US" sz="1800" b="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𝐔</m:t>
                        </m:r>
                      </m:e>
                      <m:sup>
                        <m: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𝟑</m:t>
                        </m:r>
                      </m:sup>
                    </m:sSup>
                  </m:oMath>
                </a14:m>
                <a:r>
                  <a:rPr lang="en-US" sz="1800" dirty="0">
                    <a:solidFill>
                      <a:schemeClr val="bg1"/>
                    </a:solidFill>
                    <a:effectLst/>
                    <a:latin typeface="Times New Roman" panose="02020603050405020304" pitchFamily="18" charset="0"/>
                    <a:ea typeface="Calibri" panose="020F0502020204030204" pitchFamily="34" charset="0"/>
                  </a:rPr>
                  <a:t>)                                                           </a:t>
                </a:r>
              </a:p>
              <a:p>
                <a:pPr marL="285750" indent="-285750">
                  <a:buFont typeface="Wingdings" panose="05000000000000000000" pitchFamily="2" charset="2"/>
                  <a:buChar char="ü"/>
                </a:pPr>
                <a:r>
                  <a:rPr lang="en-US" sz="1800" dirty="0">
                    <a:solidFill>
                      <a:schemeClr val="bg1"/>
                    </a:solidFill>
                    <a:latin typeface="Times New Roman" panose="02020603050405020304" pitchFamily="18" charset="0"/>
                    <a:ea typeface="Calibri" panose="020F0502020204030204" pitchFamily="34" charset="0"/>
                  </a:rPr>
                  <a:t>D</a:t>
                </a:r>
                <a14:m>
                  <m:oMath xmlns:m="http://schemas.openxmlformats.org/officeDocument/2006/math">
                    <m:r>
                      <m:rPr>
                        <m:sty m:val="p"/>
                      </m:rPr>
                      <a:rPr lang="de-DE" sz="1800" b="0" i="0"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t>isplacement</m:t>
                    </m:r>
                    <m:r>
                      <a:rPr lang="de-DE" sz="1800" b="0" i="0"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t> </m:t>
                    </m:r>
                    <m:r>
                      <m:rPr>
                        <m:sty m:val="p"/>
                      </m:rPr>
                      <a:rPr lang="de-DE" sz="1800" b="0" i="0"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t>readout</m:t>
                    </m:r>
                    <m:r>
                      <a:rPr lang="en-US" sz="1800"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𝟑𝟗</m:t>
                    </m:r>
                    <m:r>
                      <a:rPr lang="en-US" sz="1800" b="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𝟒𝟗𝟎𝟓</m:t>
                    </m:r>
                    <m:r>
                      <a:rPr lang="en-US" sz="1800" b="1">
                        <a:solidFill>
                          <a:schemeClr val="bg1"/>
                        </a:solidFill>
                        <a:latin typeface="Cambria Math" panose="02040503050406030204" pitchFamily="18" charset="0"/>
                        <a:ea typeface="Calibri" panose="020F0502020204030204" pitchFamily="34" charset="0"/>
                        <a:cs typeface="Times New Roman" panose="02020603050405020304" pitchFamily="18" charset="0"/>
                      </a:rPr>
                      <m:t> </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𝐔</m:t>
                    </m:r>
                    <m:r>
                      <a:rPr lang="en-US" sz="1800">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chemeClr val="bg1"/>
                    </a:solidFill>
                    <a:latin typeface="Times New Roman" panose="02020603050405020304" pitchFamily="18" charset="0"/>
                    <a:ea typeface="Calibri" panose="020F0502020204030204" pitchFamily="34" charset="0"/>
                  </a:rPr>
                  <a:t> </a:t>
                </a:r>
                <a:r>
                  <a:rPr lang="en-US" sz="1800" dirty="0">
                    <a:solidFill>
                      <a:schemeClr val="bg1"/>
                    </a:solidFill>
                    <a:effectLst/>
                    <a:latin typeface="Times New Roman" panose="02020603050405020304" pitchFamily="18" charset="0"/>
                    <a:ea typeface="Calibri" panose="020F0502020204030204" pitchFamily="34" charset="0"/>
                  </a:rPr>
                  <a:t> </a:t>
                </a:r>
                <a:endParaRPr lang="en-US" sz="1800" dirty="0">
                  <a:solidFill>
                    <a:schemeClr val="bg1"/>
                  </a:solidFill>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84DE3740-4096-27B2-0D8B-1F7A1098687F}"/>
                  </a:ext>
                </a:extLst>
              </p:cNvPr>
              <p:cNvSpPr txBox="1">
                <a:spLocks noRot="1" noChangeAspect="1" noMove="1" noResize="1" noEditPoints="1" noAdjustHandles="1" noChangeArrowheads="1" noChangeShapeType="1" noTextEdit="1"/>
              </p:cNvSpPr>
              <p:nvPr/>
            </p:nvSpPr>
            <p:spPr>
              <a:xfrm>
                <a:off x="319834" y="442848"/>
                <a:ext cx="4822129" cy="652551"/>
              </a:xfrm>
              <a:prstGeom prst="rect">
                <a:avLst/>
              </a:prstGeom>
              <a:blipFill>
                <a:blip r:embed="rId2"/>
                <a:stretch>
                  <a:fillRect l="-759" t="-4673" r="-59924" b="-14019"/>
                </a:stretch>
              </a:blipFill>
            </p:spPr>
            <p:txBody>
              <a:bodyPr/>
              <a:lstStyle/>
              <a:p>
                <a:r>
                  <a:rPr lang="en-US">
                    <a:noFill/>
                  </a:rPr>
                  <a:t> </a:t>
                </a:r>
              </a:p>
            </p:txBody>
          </p:sp>
        </mc:Fallback>
      </mc:AlternateContent>
      <p:pic>
        <p:nvPicPr>
          <p:cNvPr id="3" name="Picture 2" descr="A graph of a voltage&#10;&#10;Description automatically generated">
            <a:extLst>
              <a:ext uri="{FF2B5EF4-FFF2-40B4-BE49-F238E27FC236}">
                <a16:creationId xmlns:a16="http://schemas.microsoft.com/office/drawing/2014/main" id="{1E970F78-C01D-8C35-AFC3-85A1005B204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2896818"/>
            <a:ext cx="4217080" cy="3162466"/>
          </a:xfrm>
          <a:prstGeom prst="rect">
            <a:avLst/>
          </a:prstGeom>
        </p:spPr>
      </p:pic>
      <p:pic>
        <p:nvPicPr>
          <p:cNvPr id="7" name="Picture 6" descr="A graph of a normalized line&#10;&#10;Description automatically generated">
            <a:extLst>
              <a:ext uri="{FF2B5EF4-FFF2-40B4-BE49-F238E27FC236}">
                <a16:creationId xmlns:a16="http://schemas.microsoft.com/office/drawing/2014/main" id="{58C7412A-F6FE-C5DB-4F3D-4A93E4AF840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333404" y="2759602"/>
            <a:ext cx="4583374" cy="3437141"/>
          </a:xfrm>
          <a:prstGeom prst="rect">
            <a:avLst/>
          </a:prstGeom>
        </p:spPr>
      </p:pic>
      <p:pic>
        <p:nvPicPr>
          <p:cNvPr id="8" name="Picture 7" descr="A graph of a function&#10;&#10;Description automatically generated">
            <a:extLst>
              <a:ext uri="{FF2B5EF4-FFF2-40B4-BE49-F238E27FC236}">
                <a16:creationId xmlns:a16="http://schemas.microsoft.com/office/drawing/2014/main" id="{58177413-FEB6-5C35-BA8B-D79D89CA017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870824" y="1135707"/>
            <a:ext cx="3677514" cy="2258830"/>
          </a:xfrm>
          <a:prstGeom prst="rect">
            <a:avLst/>
          </a:prstGeom>
        </p:spPr>
      </p:pic>
      <p:sp>
        <p:nvSpPr>
          <p:cNvPr id="9" name="TextBox 8">
            <a:extLst>
              <a:ext uri="{FF2B5EF4-FFF2-40B4-BE49-F238E27FC236}">
                <a16:creationId xmlns:a16="http://schemas.microsoft.com/office/drawing/2014/main" id="{E7552206-6B54-4AC5-A95F-0A70FE6A7CF7}"/>
              </a:ext>
            </a:extLst>
          </p:cNvPr>
          <p:cNvSpPr txBox="1"/>
          <p:nvPr/>
        </p:nvSpPr>
        <p:spPr>
          <a:xfrm>
            <a:off x="2019809" y="6415152"/>
            <a:ext cx="7379543"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Expected (top) and found (bottom) Stiffness fore vs. displacement characteristics</a:t>
            </a:r>
          </a:p>
        </p:txBody>
      </p:sp>
      <p:sp>
        <p:nvSpPr>
          <p:cNvPr id="10" name="TextBox 9">
            <a:extLst>
              <a:ext uri="{FF2B5EF4-FFF2-40B4-BE49-F238E27FC236}">
                <a16:creationId xmlns:a16="http://schemas.microsoft.com/office/drawing/2014/main" id="{A0435572-A145-7225-9241-6D5C351FB5E7}"/>
              </a:ext>
            </a:extLst>
          </p:cNvPr>
          <p:cNvSpPr txBox="1"/>
          <p:nvPr/>
        </p:nvSpPr>
        <p:spPr>
          <a:xfrm>
            <a:off x="336550" y="1246820"/>
            <a:ext cx="1805759"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What to expect</a:t>
            </a:r>
            <a:r>
              <a:rPr lang="en-US" sz="1800" dirty="0">
                <a:solidFill>
                  <a:srgbClr val="05088D"/>
                </a:solidFill>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4358B4FA-64CA-6A86-D5ED-D3C6DCF3FA34}"/>
              </a:ext>
            </a:extLst>
          </p:cNvPr>
          <p:cNvSpPr txBox="1"/>
          <p:nvPr/>
        </p:nvSpPr>
        <p:spPr>
          <a:xfrm>
            <a:off x="319834" y="2589041"/>
            <a:ext cx="1699975"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What is found:</a:t>
            </a:r>
          </a:p>
        </p:txBody>
      </p:sp>
      <p:sp>
        <p:nvSpPr>
          <p:cNvPr id="16" name="TextBox 15">
            <a:extLst>
              <a:ext uri="{FF2B5EF4-FFF2-40B4-BE49-F238E27FC236}">
                <a16:creationId xmlns:a16="http://schemas.microsoft.com/office/drawing/2014/main" id="{499DC32B-7DA5-6815-F32A-25B5EF50E109}"/>
              </a:ext>
            </a:extLst>
          </p:cNvPr>
          <p:cNvSpPr txBox="1"/>
          <p:nvPr/>
        </p:nvSpPr>
        <p:spPr>
          <a:xfrm>
            <a:off x="9531521" y="1163961"/>
            <a:ext cx="2323929" cy="276999"/>
          </a:xfrm>
          <a:prstGeom prst="rect">
            <a:avLst/>
          </a:prstGeom>
          <a:noFill/>
        </p:spPr>
        <p:txBody>
          <a:bodyPr wrap="square">
            <a:spAutoFit/>
          </a:bodyPr>
          <a:lstStyle/>
          <a:p>
            <a:r>
              <a:rPr lang="en-US" sz="1200" dirty="0">
                <a:solidFill>
                  <a:srgbClr val="000000"/>
                </a:solidFill>
                <a:effectLst/>
                <a:latin typeface="Times New Roman" panose="02020603050405020304" pitchFamily="18" charset="0"/>
                <a:ea typeface="Calibri" panose="020F0502020204030204" pitchFamily="34" charset="0"/>
              </a:rPr>
              <a:t>DOI: </a:t>
            </a:r>
            <a:r>
              <a:rPr lang="en-US" sz="1200" u="sng" dirty="0">
                <a:effectLst/>
                <a:latin typeface="Times New Roman" panose="02020603050405020304" pitchFamily="18" charset="0"/>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10.1002/9780470977859.ch2</a:t>
            </a:r>
            <a:endParaRPr lang="en-US" dirty="0"/>
          </a:p>
        </p:txBody>
      </p:sp>
      <p:sp>
        <p:nvSpPr>
          <p:cNvPr id="4" name="TextBox 3">
            <a:extLst>
              <a:ext uri="{FF2B5EF4-FFF2-40B4-BE49-F238E27FC236}">
                <a16:creationId xmlns:a16="http://schemas.microsoft.com/office/drawing/2014/main" id="{0D267184-F823-34C7-7E11-A0B66D0CA7CF}"/>
              </a:ext>
            </a:extLst>
          </p:cNvPr>
          <p:cNvSpPr txBox="1"/>
          <p:nvPr/>
        </p:nvSpPr>
        <p:spPr>
          <a:xfrm>
            <a:off x="3870824" y="5114686"/>
            <a:ext cx="1558834" cy="646331"/>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Hardening Oscillator</a:t>
            </a:r>
            <a:endParaRPr lang="en-US" sz="18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1924BDB-54E6-F3C3-1154-B6B53326F547}"/>
              </a:ext>
            </a:extLst>
          </p:cNvPr>
          <p:cNvSpPr txBox="1"/>
          <p:nvPr/>
        </p:nvSpPr>
        <p:spPr>
          <a:xfrm>
            <a:off x="5982927" y="5114685"/>
            <a:ext cx="1558834" cy="646331"/>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Linear Oscillator</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6671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26</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46344" y="-20377"/>
            <a:ext cx="8789041" cy="954107"/>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Analyzing governing equations: Analogous Two-spring system</a:t>
            </a:r>
          </a:p>
        </p:txBody>
      </p:sp>
      <p:sp>
        <p:nvSpPr>
          <p:cNvPr id="10" name="TextBox 9">
            <a:extLst>
              <a:ext uri="{FF2B5EF4-FFF2-40B4-BE49-F238E27FC236}">
                <a16:creationId xmlns:a16="http://schemas.microsoft.com/office/drawing/2014/main" id="{A0435572-A145-7225-9241-6D5C351FB5E7}"/>
              </a:ext>
            </a:extLst>
          </p:cNvPr>
          <p:cNvSpPr txBox="1"/>
          <p:nvPr/>
        </p:nvSpPr>
        <p:spPr>
          <a:xfrm>
            <a:off x="237009" y="1138830"/>
            <a:ext cx="2519253"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The two-spring system</a:t>
            </a:r>
            <a:r>
              <a:rPr lang="en-US" sz="1600" b="1" dirty="0">
                <a:solidFill>
                  <a:srgbClr val="05088D"/>
                </a:solidFill>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4358B4FA-64CA-6A86-D5ED-D3C6DCF3FA34}"/>
              </a:ext>
            </a:extLst>
          </p:cNvPr>
          <p:cNvSpPr txBox="1"/>
          <p:nvPr/>
        </p:nvSpPr>
        <p:spPr>
          <a:xfrm>
            <a:off x="5550545" y="1136837"/>
            <a:ext cx="2139123"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The ME cantilever:</a:t>
            </a:r>
          </a:p>
        </p:txBody>
      </p:sp>
      <p:sp>
        <p:nvSpPr>
          <p:cNvPr id="16" name="TextBox 15">
            <a:extLst>
              <a:ext uri="{FF2B5EF4-FFF2-40B4-BE49-F238E27FC236}">
                <a16:creationId xmlns:a16="http://schemas.microsoft.com/office/drawing/2014/main" id="{499DC32B-7DA5-6815-F32A-25B5EF50E109}"/>
              </a:ext>
            </a:extLst>
          </p:cNvPr>
          <p:cNvSpPr txBox="1"/>
          <p:nvPr/>
        </p:nvSpPr>
        <p:spPr>
          <a:xfrm>
            <a:off x="363172" y="6491247"/>
            <a:ext cx="3002691" cy="307777"/>
          </a:xfrm>
          <a:prstGeom prst="rect">
            <a:avLst/>
          </a:prstGeom>
          <a:noFill/>
        </p:spPr>
        <p:txBody>
          <a:bodyPr wrap="square">
            <a:spAutoFit/>
          </a:bodyPr>
          <a:lstStyle/>
          <a:p>
            <a:r>
              <a:rPr lang="en-US" sz="1400" dirty="0">
                <a:solidFill>
                  <a:srgbClr val="000000"/>
                </a:solidFill>
                <a:effectLst/>
                <a:latin typeface="Times New Roman" panose="02020603050405020304" pitchFamily="18" charset="0"/>
                <a:ea typeface="Calibri" panose="020F0502020204030204" pitchFamily="34" charset="0"/>
              </a:rPr>
              <a:t>DOI: </a:t>
            </a:r>
            <a:r>
              <a:rPr lang="en-US" sz="1400" u="sng" dirty="0">
                <a:effectLst/>
                <a:latin typeface="Times New Roman" panose="02020603050405020304" pitchFamily="18"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10.1002/9780470977859.ch2</a:t>
            </a:r>
            <a:endParaRPr lang="en-US" sz="1400" dirty="0"/>
          </a:p>
        </p:txBody>
      </p:sp>
      <p:pic>
        <p:nvPicPr>
          <p:cNvPr id="4" name="Picture 3" descr="A diagram of a triangle with a wire connected to it&#10;&#10;Description automatically generated">
            <a:extLst>
              <a:ext uri="{FF2B5EF4-FFF2-40B4-BE49-F238E27FC236}">
                <a16:creationId xmlns:a16="http://schemas.microsoft.com/office/drawing/2014/main" id="{9C600C16-2DF5-EC24-2691-5C7113701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066" y="1554632"/>
            <a:ext cx="2572950" cy="2533438"/>
          </a:xfrm>
          <a:prstGeom prst="rect">
            <a:avLst/>
          </a:prstGeom>
        </p:spPr>
      </p:pic>
      <p:sp>
        <p:nvSpPr>
          <p:cNvPr id="12" name="TextBox 11">
            <a:extLst>
              <a:ext uri="{FF2B5EF4-FFF2-40B4-BE49-F238E27FC236}">
                <a16:creationId xmlns:a16="http://schemas.microsoft.com/office/drawing/2014/main" id="{A66BFE6D-1C40-D79F-1707-290FB6DFADF1}"/>
              </a:ext>
            </a:extLst>
          </p:cNvPr>
          <p:cNvSpPr txBox="1"/>
          <p:nvPr/>
        </p:nvSpPr>
        <p:spPr>
          <a:xfrm>
            <a:off x="5707364" y="1951672"/>
            <a:ext cx="6650927" cy="1477328"/>
          </a:xfrm>
          <a:prstGeom prst="rect">
            <a:avLst/>
          </a:prstGeom>
          <a:noFill/>
        </p:spPr>
        <p:txBody>
          <a:bodyPr wrap="square" rtlCol="0">
            <a:spAutoFit/>
          </a:bodyPr>
          <a:lstStyle/>
          <a:p>
            <a:pPr marL="342900" indent="-342900">
              <a:buFont typeface="+mj-lt"/>
              <a:buAutoNum type="arabicPeriod"/>
            </a:pPr>
            <a:r>
              <a:rPr lang="de-DE" sz="1800" dirty="0">
                <a:latin typeface="Arial" panose="020B0604020202020204" pitchFamily="34" charset="0"/>
                <a:cs typeface="Arial" panose="020B0604020202020204" pitchFamily="34" charset="0"/>
              </a:rPr>
              <a:t>Rotation of domain wall : y</a:t>
            </a:r>
          </a:p>
          <a:p>
            <a:pPr marL="342900" indent="-342900">
              <a:buFont typeface="+mj-lt"/>
              <a:buAutoNum type="arabicPeriod"/>
            </a:pPr>
            <a:r>
              <a:rPr lang="de-DE" sz="1800" dirty="0">
                <a:latin typeface="Arial" panose="020B0604020202020204" pitchFamily="34" charset="0"/>
                <a:cs typeface="Arial" panose="020B0604020202020204" pitchFamily="34" charset="0"/>
              </a:rPr>
              <a:t>Adjacent domains: the springs</a:t>
            </a:r>
          </a:p>
          <a:p>
            <a:pPr marL="342900" indent="-342900">
              <a:buFont typeface="+mj-lt"/>
              <a:buAutoNum type="arabicPeriod"/>
            </a:pPr>
            <a:r>
              <a:rPr lang="de-DE" sz="1800" dirty="0">
                <a:latin typeface="Arial" panose="020B0604020202020204" pitchFamily="34" charset="0"/>
                <a:cs typeface="Arial" panose="020B0604020202020204" pitchFamily="34" charset="0"/>
              </a:rPr>
              <a:t>Accomodation provided by adjacent domains for a specific domain wall rotation: change of length of the springs</a:t>
            </a:r>
          </a:p>
          <a:p>
            <a:endParaRPr lang="en-US" sz="18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7802E5E-E2E7-47FF-5FFC-8E8BB5C34703}"/>
              </a:ext>
            </a:extLst>
          </p:cNvPr>
          <p:cNvSpPr txBox="1"/>
          <p:nvPr/>
        </p:nvSpPr>
        <p:spPr>
          <a:xfrm>
            <a:off x="276809" y="4293170"/>
            <a:ext cx="4104548" cy="646331"/>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Voltage measurement: </a:t>
            </a:r>
            <a:r>
              <a:rPr lang="de-DE" sz="1800" i="1" dirty="0">
                <a:latin typeface="Arial" panose="020B0604020202020204" pitchFamily="34" charset="0"/>
                <a:cs typeface="Arial" panose="020B0604020202020204" pitchFamily="34" charset="0"/>
              </a:rPr>
              <a:t>Specific domain wall rotation </a:t>
            </a:r>
            <a:r>
              <a:rPr lang="de-DE" sz="1800" dirty="0">
                <a:latin typeface="Arial" panose="020B0604020202020204" pitchFamily="34" charset="0"/>
                <a:cs typeface="Arial" panose="020B0604020202020204" pitchFamily="34" charset="0"/>
              </a:rPr>
              <a:t>information is lost</a:t>
            </a:r>
            <a:endParaRPr lang="en-US" sz="18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978366EF-F4BB-C783-EC4F-6606E8647E7F}"/>
              </a:ext>
            </a:extLst>
          </p:cNvPr>
          <p:cNvSpPr txBox="1"/>
          <p:nvPr/>
        </p:nvSpPr>
        <p:spPr>
          <a:xfrm>
            <a:off x="6096000" y="4123776"/>
            <a:ext cx="6003973" cy="646331"/>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Displacement measurement: ‘Accomodation of the adjacent domains‘ information is lost</a:t>
            </a:r>
            <a:endParaRPr lang="en-US" sz="18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BDF30C3-07CD-7111-93E8-BB57295A49C8}"/>
              </a:ext>
            </a:extLst>
          </p:cNvPr>
          <p:cNvSpPr txBox="1"/>
          <p:nvPr/>
        </p:nvSpPr>
        <p:spPr>
          <a:xfrm>
            <a:off x="326066" y="5355034"/>
            <a:ext cx="5481382" cy="923330"/>
          </a:xfrm>
          <a:prstGeom prst="rect">
            <a:avLst/>
          </a:prstGeom>
          <a:noFill/>
        </p:spPr>
        <p:txBody>
          <a:bodyPr wrap="square" rtlCol="0">
            <a:spAutoFit/>
          </a:bodyPr>
          <a:lstStyle/>
          <a:p>
            <a:r>
              <a:rPr lang="de-DE" sz="1800" b="1" dirty="0">
                <a:latin typeface="Arial" panose="020B0604020202020204" pitchFamily="34" charset="0"/>
                <a:cs typeface="Arial" panose="020B0604020202020204" pitchFamily="34" charset="0"/>
              </a:rPr>
              <a:t>Might be overcome by</a:t>
            </a:r>
            <a:r>
              <a:rPr lang="de-DE" sz="1800" dirty="0">
                <a:latin typeface="Arial" panose="020B0604020202020204" pitchFamily="34" charset="0"/>
                <a:cs typeface="Arial" panose="020B0604020202020204" pitchFamily="34" charset="0"/>
              </a:rPr>
              <a:t>: Two LASER spots (tip and the middle) whose size is comparable to the size of a domain wall.</a:t>
            </a:r>
            <a:endParaRPr lang="en-US" sz="18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2ED0139-92F9-956B-2BC6-731B0DEB2279}"/>
              </a:ext>
            </a:extLst>
          </p:cNvPr>
          <p:cNvSpPr txBox="1"/>
          <p:nvPr/>
        </p:nvSpPr>
        <p:spPr>
          <a:xfrm>
            <a:off x="6096000" y="5355034"/>
            <a:ext cx="5481382" cy="923330"/>
          </a:xfrm>
          <a:prstGeom prst="rect">
            <a:avLst/>
          </a:prstGeom>
          <a:noFill/>
        </p:spPr>
        <p:txBody>
          <a:bodyPr wrap="square" rtlCol="0">
            <a:spAutoFit/>
          </a:bodyPr>
          <a:lstStyle/>
          <a:p>
            <a:pPr marL="285750" indent="-285750">
              <a:buFont typeface="Arial" panose="020B0604020202020204" pitchFamily="34" charset="0"/>
              <a:buChar char="•"/>
            </a:pPr>
            <a:r>
              <a:rPr lang="de-DE" sz="1800" dirty="0">
                <a:latin typeface="Arial" panose="020B0604020202020204" pitchFamily="34" charset="0"/>
                <a:cs typeface="Arial" panose="020B0604020202020204" pitchFamily="34" charset="0"/>
              </a:rPr>
              <a:t>Readout of the sopts: domain wall rotation</a:t>
            </a:r>
          </a:p>
          <a:p>
            <a:pPr marL="285750" indent="-285750">
              <a:buFont typeface="Arial" panose="020B0604020202020204" pitchFamily="34" charset="0"/>
              <a:buChar char="•"/>
            </a:pPr>
            <a:r>
              <a:rPr lang="de-DE" sz="1800" dirty="0">
                <a:latin typeface="Arial" panose="020B0604020202020204" pitchFamily="34" charset="0"/>
                <a:cs typeface="Arial" panose="020B0604020202020204" pitchFamily="34" charset="0"/>
              </a:rPr>
              <a:t>Difference between the readouts: accomodation of adjacent domains</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9673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27</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83248" y="-26612"/>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Analyzing governing equations: Stiffness/P.E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DE3740-4096-27B2-0D8B-1F7A1098687F}"/>
                  </a:ext>
                </a:extLst>
              </p:cNvPr>
              <p:cNvSpPr txBox="1"/>
              <p:nvPr/>
            </p:nvSpPr>
            <p:spPr>
              <a:xfrm>
                <a:off x="319834" y="442848"/>
                <a:ext cx="4822129" cy="652551"/>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solidFill>
                      <a:schemeClr val="bg1"/>
                    </a:solidFill>
                    <a:effectLst/>
                    <a:latin typeface="Times New Roman" panose="02020603050405020304" pitchFamily="18" charset="0"/>
                    <a:ea typeface="Calibri" panose="020F0502020204030204" pitchFamily="34" charset="0"/>
                  </a:rPr>
                  <a:t>Voltage readout (</a:t>
                </a:r>
                <a14:m>
                  <m:oMath xmlns:m="http://schemas.openxmlformats.org/officeDocument/2006/math">
                    <m:r>
                      <a:rPr lang="en-US" sz="1800" b="1"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𝟑𝟖</m:t>
                    </m:r>
                    <m:r>
                      <a:rPr lang="en-US" sz="1800" b="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𝟑𝟑</m:t>
                    </m:r>
                    <m:r>
                      <a:rPr lang="en-US" sz="1800" b="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1800" b="1"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𝐔</m:t>
                    </m:r>
                    <m:r>
                      <a:rPr lang="en-US" sz="1800" b="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𝟏</m:t>
                    </m:r>
                    <m:r>
                      <a:rPr lang="en-US" sz="1800" b="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𝟒𝟐𝟖</m:t>
                    </m:r>
                    <m:r>
                      <a:rPr lang="en-US" sz="1800" b="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𝐔</m:t>
                        </m:r>
                      </m:e>
                      <m:sup>
                        <m:r>
                          <a:rPr lang="en-US" sz="18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𝟑</m:t>
                        </m:r>
                      </m:sup>
                    </m:sSup>
                  </m:oMath>
                </a14:m>
                <a:r>
                  <a:rPr lang="en-US" sz="1800" dirty="0">
                    <a:solidFill>
                      <a:schemeClr val="bg1"/>
                    </a:solidFill>
                    <a:effectLst/>
                    <a:latin typeface="Times New Roman" panose="02020603050405020304" pitchFamily="18" charset="0"/>
                    <a:ea typeface="Calibri" panose="020F0502020204030204" pitchFamily="34" charset="0"/>
                  </a:rPr>
                  <a:t>)                                                           </a:t>
                </a:r>
              </a:p>
              <a:p>
                <a:pPr marL="285750" indent="-285750">
                  <a:buFont typeface="Wingdings" panose="05000000000000000000" pitchFamily="2" charset="2"/>
                  <a:buChar char="ü"/>
                </a:pPr>
                <a:r>
                  <a:rPr lang="en-US" sz="1800" dirty="0">
                    <a:solidFill>
                      <a:schemeClr val="bg1"/>
                    </a:solidFill>
                    <a:latin typeface="Times New Roman" panose="02020603050405020304" pitchFamily="18" charset="0"/>
                    <a:ea typeface="Calibri" panose="020F0502020204030204" pitchFamily="34" charset="0"/>
                  </a:rPr>
                  <a:t>D</a:t>
                </a:r>
                <a14:m>
                  <m:oMath xmlns:m="http://schemas.openxmlformats.org/officeDocument/2006/math">
                    <m:r>
                      <m:rPr>
                        <m:sty m:val="p"/>
                      </m:rPr>
                      <a:rPr lang="de-DE" sz="1800" b="0" i="0"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t>isplacement</m:t>
                    </m:r>
                    <m:r>
                      <a:rPr lang="de-DE" sz="1800" b="0" i="0"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t> </m:t>
                    </m:r>
                    <m:r>
                      <m:rPr>
                        <m:sty m:val="p"/>
                      </m:rPr>
                      <a:rPr lang="de-DE" sz="1800" b="0" i="0"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t>readout</m:t>
                    </m:r>
                    <m:r>
                      <a:rPr lang="en-US" sz="1800"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𝟑𝟗</m:t>
                    </m:r>
                    <m:r>
                      <a:rPr lang="en-US" sz="1800" b="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𝟒𝟗𝟎𝟓</m:t>
                    </m:r>
                    <m:r>
                      <a:rPr lang="en-US" sz="1800" b="1">
                        <a:solidFill>
                          <a:schemeClr val="bg1"/>
                        </a:solidFill>
                        <a:latin typeface="Cambria Math" panose="02040503050406030204" pitchFamily="18" charset="0"/>
                        <a:ea typeface="Calibri" panose="020F0502020204030204" pitchFamily="34" charset="0"/>
                        <a:cs typeface="Times New Roman" panose="02020603050405020304" pitchFamily="18" charset="0"/>
                      </a:rPr>
                      <m:t> </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𝐔</m:t>
                    </m:r>
                    <m:r>
                      <a:rPr lang="en-US" sz="1800">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chemeClr val="bg1"/>
                    </a:solidFill>
                    <a:latin typeface="Times New Roman" panose="02020603050405020304" pitchFamily="18" charset="0"/>
                    <a:ea typeface="Calibri" panose="020F0502020204030204" pitchFamily="34" charset="0"/>
                  </a:rPr>
                  <a:t> </a:t>
                </a:r>
                <a:r>
                  <a:rPr lang="en-US" sz="1800" dirty="0">
                    <a:solidFill>
                      <a:schemeClr val="bg1"/>
                    </a:solidFill>
                    <a:effectLst/>
                    <a:latin typeface="Times New Roman" panose="02020603050405020304" pitchFamily="18" charset="0"/>
                    <a:ea typeface="Calibri" panose="020F0502020204030204" pitchFamily="34" charset="0"/>
                  </a:rPr>
                  <a:t> </a:t>
                </a:r>
                <a:endParaRPr lang="en-US" sz="1800" dirty="0">
                  <a:solidFill>
                    <a:schemeClr val="bg1"/>
                  </a:solidFill>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84DE3740-4096-27B2-0D8B-1F7A1098687F}"/>
                  </a:ext>
                </a:extLst>
              </p:cNvPr>
              <p:cNvSpPr txBox="1">
                <a:spLocks noRot="1" noChangeAspect="1" noMove="1" noResize="1" noEditPoints="1" noAdjustHandles="1" noChangeArrowheads="1" noChangeShapeType="1" noTextEdit="1"/>
              </p:cNvSpPr>
              <p:nvPr/>
            </p:nvSpPr>
            <p:spPr>
              <a:xfrm>
                <a:off x="319834" y="442848"/>
                <a:ext cx="4822129" cy="652551"/>
              </a:xfrm>
              <a:prstGeom prst="rect">
                <a:avLst/>
              </a:prstGeom>
              <a:blipFill>
                <a:blip r:embed="rId2"/>
                <a:stretch>
                  <a:fillRect l="-759" t="-4673" r="-59924" b="-1401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7552206-6B54-4AC5-A95F-0A70FE6A7CF7}"/>
              </a:ext>
            </a:extLst>
          </p:cNvPr>
          <p:cNvSpPr txBox="1"/>
          <p:nvPr/>
        </p:nvSpPr>
        <p:spPr>
          <a:xfrm>
            <a:off x="1101634" y="6460009"/>
            <a:ext cx="8363829"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Expected (top) and found (bottom) Potential energy (P.E) vs. displacement characteristics</a:t>
            </a:r>
          </a:p>
        </p:txBody>
      </p:sp>
      <p:sp>
        <p:nvSpPr>
          <p:cNvPr id="10" name="TextBox 9">
            <a:extLst>
              <a:ext uri="{FF2B5EF4-FFF2-40B4-BE49-F238E27FC236}">
                <a16:creationId xmlns:a16="http://schemas.microsoft.com/office/drawing/2014/main" id="{A0435572-A145-7225-9241-6D5C351FB5E7}"/>
              </a:ext>
            </a:extLst>
          </p:cNvPr>
          <p:cNvSpPr txBox="1"/>
          <p:nvPr/>
        </p:nvSpPr>
        <p:spPr>
          <a:xfrm>
            <a:off x="265257" y="1249664"/>
            <a:ext cx="1763840"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What to expect</a:t>
            </a:r>
            <a:r>
              <a:rPr lang="en-US" sz="1600" b="1" dirty="0">
                <a:solidFill>
                  <a:srgbClr val="05088D"/>
                </a:solidFill>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4358B4FA-64CA-6A86-D5ED-D3C6DCF3FA34}"/>
              </a:ext>
            </a:extLst>
          </p:cNvPr>
          <p:cNvSpPr txBox="1"/>
          <p:nvPr/>
        </p:nvSpPr>
        <p:spPr>
          <a:xfrm>
            <a:off x="245253" y="2532437"/>
            <a:ext cx="1783844"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What is found:</a:t>
            </a:r>
          </a:p>
        </p:txBody>
      </p:sp>
      <p:sp>
        <p:nvSpPr>
          <p:cNvPr id="16" name="TextBox 15">
            <a:extLst>
              <a:ext uri="{FF2B5EF4-FFF2-40B4-BE49-F238E27FC236}">
                <a16:creationId xmlns:a16="http://schemas.microsoft.com/office/drawing/2014/main" id="{499DC32B-7DA5-6815-F32A-25B5EF50E109}"/>
              </a:ext>
            </a:extLst>
          </p:cNvPr>
          <p:cNvSpPr txBox="1"/>
          <p:nvPr/>
        </p:nvSpPr>
        <p:spPr>
          <a:xfrm>
            <a:off x="9139647" y="1163961"/>
            <a:ext cx="2715804" cy="307777"/>
          </a:xfrm>
          <a:prstGeom prst="rect">
            <a:avLst/>
          </a:prstGeom>
          <a:noFill/>
        </p:spPr>
        <p:txBody>
          <a:bodyPr wrap="square">
            <a:spAutoFit/>
          </a:bodyPr>
          <a:lstStyle/>
          <a:p>
            <a:r>
              <a:rPr lang="en-US" sz="1400" dirty="0">
                <a:solidFill>
                  <a:srgbClr val="000000"/>
                </a:solidFill>
                <a:effectLst/>
                <a:latin typeface="Times New Roman" panose="02020603050405020304" pitchFamily="18" charset="0"/>
                <a:ea typeface="Calibri" panose="020F0502020204030204" pitchFamily="34" charset="0"/>
              </a:rPr>
              <a:t>DOI: </a:t>
            </a:r>
            <a:r>
              <a:rPr lang="en-US" sz="1400" u="sng" dirty="0">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10.1002/9780470977859.ch2</a:t>
            </a:r>
            <a:endParaRPr lang="en-US" sz="1400" dirty="0"/>
          </a:p>
        </p:txBody>
      </p:sp>
      <p:pic>
        <p:nvPicPr>
          <p:cNvPr id="4" name="Picture 3" descr="A graph of a function&#10;&#10;Description automatically generated">
            <a:extLst>
              <a:ext uri="{FF2B5EF4-FFF2-40B4-BE49-F238E27FC236}">
                <a16:creationId xmlns:a16="http://schemas.microsoft.com/office/drawing/2014/main" id="{CCB03BAD-5710-5D5D-B2D7-08F727F25CC9}"/>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t="5552"/>
          <a:stretch/>
        </p:blipFill>
        <p:spPr>
          <a:xfrm>
            <a:off x="4323558" y="1212177"/>
            <a:ext cx="2829560" cy="2006152"/>
          </a:xfrm>
          <a:prstGeom prst="rect">
            <a:avLst/>
          </a:prstGeom>
        </p:spPr>
      </p:pic>
      <p:pic>
        <p:nvPicPr>
          <p:cNvPr id="12" name="Picture 11" descr="A graph of a voltage&#10;&#10;Description automatically generated">
            <a:extLst>
              <a:ext uri="{FF2B5EF4-FFF2-40B4-BE49-F238E27FC236}">
                <a16:creationId xmlns:a16="http://schemas.microsoft.com/office/drawing/2014/main" id="{ED838AB4-8742-2560-7090-2218B2DBBE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9834" y="2976465"/>
            <a:ext cx="4106713" cy="3406763"/>
          </a:xfrm>
          <a:prstGeom prst="rect">
            <a:avLst/>
          </a:prstGeom>
        </p:spPr>
      </p:pic>
      <p:pic>
        <p:nvPicPr>
          <p:cNvPr id="14" name="Picture 13" descr="A graph of a normalized curve&#10;&#10;Description automatically generated">
            <a:extLst>
              <a:ext uri="{FF2B5EF4-FFF2-40B4-BE49-F238E27FC236}">
                <a16:creationId xmlns:a16="http://schemas.microsoft.com/office/drawing/2014/main" id="{39BC6CD8-037F-E0D1-A43E-5C3F570E47E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29437" y="2965573"/>
            <a:ext cx="4106713" cy="3414789"/>
          </a:xfrm>
          <a:prstGeom prst="rect">
            <a:avLst/>
          </a:prstGeom>
        </p:spPr>
      </p:pic>
      <p:sp>
        <p:nvSpPr>
          <p:cNvPr id="3" name="TextBox 2">
            <a:extLst>
              <a:ext uri="{FF2B5EF4-FFF2-40B4-BE49-F238E27FC236}">
                <a16:creationId xmlns:a16="http://schemas.microsoft.com/office/drawing/2014/main" id="{12E66361-A4C1-9F10-5877-FA9588ADD724}"/>
              </a:ext>
            </a:extLst>
          </p:cNvPr>
          <p:cNvSpPr txBox="1"/>
          <p:nvPr/>
        </p:nvSpPr>
        <p:spPr>
          <a:xfrm>
            <a:off x="4027420" y="4315055"/>
            <a:ext cx="1850571" cy="646331"/>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Single well potential energy</a:t>
            </a:r>
            <a:endParaRPr lang="en-US" sz="1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5ED09F0-B120-7A9A-EF01-72F1D6934D15}"/>
              </a:ext>
            </a:extLst>
          </p:cNvPr>
          <p:cNvSpPr txBox="1"/>
          <p:nvPr/>
        </p:nvSpPr>
        <p:spPr>
          <a:xfrm>
            <a:off x="5738338" y="5322656"/>
            <a:ext cx="1850571" cy="646331"/>
          </a:xfrm>
          <a:prstGeom prst="rect">
            <a:avLst/>
          </a:prstGeom>
          <a:noFill/>
        </p:spPr>
        <p:txBody>
          <a:bodyPr wrap="square" rtlCol="0">
            <a:spAutoFit/>
          </a:bodyPr>
          <a:lstStyle/>
          <a:p>
            <a:r>
              <a:rPr lang="de-DE" sz="1800" dirty="0">
                <a:latin typeface="Arial" panose="020B0604020202020204" pitchFamily="34" charset="0"/>
                <a:cs typeface="Arial" panose="020B0604020202020204" pitchFamily="34" charset="0"/>
              </a:rPr>
              <a:t>Linear potential energy</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5858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28</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42244" y="-30416"/>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Analyzing governing equations: Damping force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DE3740-4096-27B2-0D8B-1F7A1098687F}"/>
                  </a:ext>
                </a:extLst>
              </p:cNvPr>
              <p:cNvSpPr txBox="1"/>
              <p:nvPr/>
            </p:nvSpPr>
            <p:spPr>
              <a:xfrm>
                <a:off x="1035965" y="635593"/>
                <a:ext cx="5653166" cy="377989"/>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solidFill>
                      <a:schemeClr val="bg1"/>
                    </a:solidFill>
                    <a:effectLst/>
                    <a:latin typeface="Times New Roman" panose="02020603050405020304" pitchFamily="18" charset="0"/>
                    <a:ea typeface="Calibri" panose="020F0502020204030204" pitchFamily="34" charset="0"/>
                  </a:rPr>
                  <a:t>Voltage readout </a:t>
                </a:r>
                <a14:m>
                  <m:oMath xmlns:m="http://schemas.openxmlformats.org/officeDocument/2006/math">
                    <m:d>
                      <m:dPr>
                        <m:ctrlPr>
                          <a:rPr lang="en-US" sz="1800" b="1" i="1">
                            <a:solidFill>
                              <a:schemeClr val="bg1"/>
                            </a:solidFill>
                            <a:latin typeface="Cambria Math" panose="02040503050406030204" pitchFamily="18" charset="0"/>
                            <a:cs typeface="Times New Roman" panose="02020603050405020304" pitchFamily="18" charset="0"/>
                          </a:rPr>
                        </m:ctrlPr>
                      </m:dPr>
                      <m:e>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𝟐</m:t>
                        </m:r>
                        <m:r>
                          <a:rPr lang="en-US" sz="1800" b="1">
                            <a:solidFill>
                              <a:schemeClr val="bg1"/>
                            </a:solidFill>
                            <a:latin typeface="Cambria Math" panose="02040503050406030204" pitchFamily="18" charset="0"/>
                            <a:ea typeface="Calibri" panose="020F0502020204030204" pitchFamily="34" charset="0"/>
                            <a:cs typeface="Times New Roman" panose="02020603050405020304" pitchFamily="18" charset="0"/>
                          </a:rPr>
                          <m:t> × </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𝟎</m:t>
                        </m:r>
                        <m:r>
                          <a:rPr lang="en-US" sz="1800" b="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𝟐𝟗𝟗𝟐</m:t>
                        </m:r>
                      </m:e>
                    </m:d>
                    <m:acc>
                      <m:accPr>
                        <m:chr m:val="̇"/>
                        <m:ctrlPr>
                          <a:rPr lang="en-US" sz="1800" b="1" i="1">
                            <a:solidFill>
                              <a:schemeClr val="bg1"/>
                            </a:solidFill>
                            <a:latin typeface="Cambria Math" panose="02040503050406030204" pitchFamily="18" charset="0"/>
                            <a:cs typeface="Times New Roman" panose="02020603050405020304" pitchFamily="18" charset="0"/>
                          </a:rPr>
                        </m:ctrlPr>
                      </m:accPr>
                      <m:e>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𝐔</m:t>
                        </m:r>
                      </m:e>
                    </m:acc>
                    <m:r>
                      <a:rPr lang="en-US" sz="1800" b="1">
                        <a:solidFill>
                          <a:schemeClr val="bg1"/>
                        </a:solidFill>
                        <a:latin typeface="Cambria Math" panose="02040503050406030204" pitchFamily="18" charset="0"/>
                        <a:ea typeface="Calibri" panose="020F0502020204030204" pitchFamily="34" charset="0"/>
                        <a:cs typeface="Times New Roman" panose="02020603050405020304" pitchFamily="18" charset="0"/>
                      </a:rPr>
                      <m:t> </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𝟎</m:t>
                    </m:r>
                    <m:r>
                      <a:rPr lang="en-US" sz="1800" b="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𝟎𝟏𝟗</m:t>
                    </m:r>
                    <m:r>
                      <a:rPr lang="en-US" sz="1800" b="1">
                        <a:solidFill>
                          <a:schemeClr val="bg1"/>
                        </a:solidFill>
                        <a:latin typeface="Cambria Math" panose="02040503050406030204" pitchFamily="18" charset="0"/>
                        <a:ea typeface="Calibri" panose="020F0502020204030204" pitchFamily="34" charset="0"/>
                        <a:cs typeface="Times New Roman" panose="02020603050405020304" pitchFamily="18" charset="0"/>
                      </a:rPr>
                      <m:t> </m:t>
                    </m:r>
                    <m:sSup>
                      <m:sSupPr>
                        <m:ctrlPr>
                          <a:rPr lang="en-US" sz="1800" b="1" i="1">
                            <a:solidFill>
                              <a:schemeClr val="bg1"/>
                            </a:solidFill>
                            <a:latin typeface="Cambria Math" panose="02040503050406030204" pitchFamily="18" charset="0"/>
                            <a:cs typeface="Times New Roman" panose="02020603050405020304" pitchFamily="18" charset="0"/>
                          </a:rPr>
                        </m:ctrlPr>
                      </m:sSupPr>
                      <m:e>
                        <m:acc>
                          <m:accPr>
                            <m:chr m:val="̇"/>
                            <m:ctrlPr>
                              <a:rPr lang="en-US" sz="1800" b="1" i="1">
                                <a:solidFill>
                                  <a:schemeClr val="bg1"/>
                                </a:solidFill>
                                <a:latin typeface="Cambria Math" panose="02040503050406030204" pitchFamily="18" charset="0"/>
                                <a:cs typeface="Times New Roman" panose="02020603050405020304" pitchFamily="18" charset="0"/>
                              </a:rPr>
                            </m:ctrlPr>
                          </m:accPr>
                          <m:e>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𝐔</m:t>
                            </m:r>
                          </m:e>
                        </m:acc>
                      </m:e>
                      <m:sup>
                        <m:r>
                          <a:rPr lang="en-US" sz="1800" b="1" i="1">
                            <a:solidFill>
                              <a:schemeClr val="bg1"/>
                            </a:solidFill>
                            <a:latin typeface="Cambria Math" panose="02040503050406030204" pitchFamily="18" charset="0"/>
                            <a:ea typeface="Calibri" panose="020F0502020204030204" pitchFamily="34" charset="0"/>
                            <a:cs typeface="Times New Roman" panose="02020603050405020304" pitchFamily="18" charset="0"/>
                          </a:rPr>
                          <m:t>𝟑</m:t>
                        </m:r>
                      </m:sup>
                    </m:sSup>
                  </m:oMath>
                </a14:m>
                <a:r>
                  <a:rPr lang="en-US" sz="1800" dirty="0">
                    <a:solidFill>
                      <a:schemeClr val="bg1"/>
                    </a:solidFill>
                    <a:latin typeface="Times New Roman" panose="02020603050405020304" pitchFamily="18" charset="0"/>
                    <a:ea typeface="Calibri" panose="020F0502020204030204" pitchFamily="34" charset="0"/>
                  </a:rPr>
                  <a:t>)</a:t>
                </a:r>
                <a:endParaRPr lang="en-US" sz="1800" dirty="0">
                  <a:solidFill>
                    <a:schemeClr val="bg1"/>
                  </a:solidFill>
                  <a:effectLst/>
                  <a:latin typeface="Times New Roman" panose="02020603050405020304" pitchFamily="18" charset="0"/>
                  <a:ea typeface="Calibri" panose="020F0502020204030204" pitchFamily="34" charset="0"/>
                </a:endParaRPr>
              </a:p>
            </p:txBody>
          </p:sp>
        </mc:Choice>
        <mc:Fallback xmlns="">
          <p:sp>
            <p:nvSpPr>
              <p:cNvPr id="2" name="TextBox 1">
                <a:extLst>
                  <a:ext uri="{FF2B5EF4-FFF2-40B4-BE49-F238E27FC236}">
                    <a16:creationId xmlns:a16="http://schemas.microsoft.com/office/drawing/2014/main" id="{84DE3740-4096-27B2-0D8B-1F7A1098687F}"/>
                  </a:ext>
                </a:extLst>
              </p:cNvPr>
              <p:cNvSpPr txBox="1">
                <a:spLocks noRot="1" noChangeAspect="1" noMove="1" noResize="1" noEditPoints="1" noAdjustHandles="1" noChangeArrowheads="1" noChangeShapeType="1" noTextEdit="1"/>
              </p:cNvSpPr>
              <p:nvPr/>
            </p:nvSpPr>
            <p:spPr>
              <a:xfrm>
                <a:off x="1035965" y="635593"/>
                <a:ext cx="5653166" cy="377989"/>
              </a:xfrm>
              <a:prstGeom prst="rect">
                <a:avLst/>
              </a:prstGeom>
              <a:blipFill>
                <a:blip r:embed="rId2"/>
                <a:stretch>
                  <a:fillRect l="-755" t="-4839" b="-2580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7552206-6B54-4AC5-A95F-0A70FE6A7CF7}"/>
              </a:ext>
            </a:extLst>
          </p:cNvPr>
          <p:cNvSpPr txBox="1"/>
          <p:nvPr/>
        </p:nvSpPr>
        <p:spPr>
          <a:xfrm>
            <a:off x="148771" y="6367534"/>
            <a:ext cx="6888761"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The found and Expected Phase portraits for voltage readouts</a:t>
            </a:r>
          </a:p>
        </p:txBody>
      </p:sp>
      <p:sp>
        <p:nvSpPr>
          <p:cNvPr id="10" name="TextBox 9">
            <a:extLst>
              <a:ext uri="{FF2B5EF4-FFF2-40B4-BE49-F238E27FC236}">
                <a16:creationId xmlns:a16="http://schemas.microsoft.com/office/drawing/2014/main" id="{A0435572-A145-7225-9241-6D5C351FB5E7}"/>
              </a:ext>
            </a:extLst>
          </p:cNvPr>
          <p:cNvSpPr txBox="1"/>
          <p:nvPr/>
        </p:nvSpPr>
        <p:spPr>
          <a:xfrm>
            <a:off x="6367525" y="5244504"/>
            <a:ext cx="1780642"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What to expect:</a:t>
            </a:r>
          </a:p>
        </p:txBody>
      </p:sp>
      <p:sp>
        <p:nvSpPr>
          <p:cNvPr id="11" name="TextBox 10">
            <a:extLst>
              <a:ext uri="{FF2B5EF4-FFF2-40B4-BE49-F238E27FC236}">
                <a16:creationId xmlns:a16="http://schemas.microsoft.com/office/drawing/2014/main" id="{4358B4FA-64CA-6A86-D5ED-D3C6DCF3FA34}"/>
              </a:ext>
            </a:extLst>
          </p:cNvPr>
          <p:cNvSpPr txBox="1"/>
          <p:nvPr/>
        </p:nvSpPr>
        <p:spPr>
          <a:xfrm>
            <a:off x="2715836" y="1018317"/>
            <a:ext cx="1905677"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What is found</a:t>
            </a:r>
            <a:r>
              <a:rPr lang="en-US" sz="1600" b="1" dirty="0">
                <a:solidFill>
                  <a:srgbClr val="05088D"/>
                </a:solidFill>
                <a:latin typeface="Times New Roman" panose="02020603050405020304" pitchFamily="18" charset="0"/>
                <a:cs typeface="Times New Roman" panose="02020603050405020304" pitchFamily="18" charset="0"/>
              </a:rPr>
              <a:t>:</a:t>
            </a:r>
          </a:p>
        </p:txBody>
      </p:sp>
      <p:sp>
        <p:nvSpPr>
          <p:cNvPr id="16" name="TextBox 15">
            <a:extLst>
              <a:ext uri="{FF2B5EF4-FFF2-40B4-BE49-F238E27FC236}">
                <a16:creationId xmlns:a16="http://schemas.microsoft.com/office/drawing/2014/main" id="{499DC32B-7DA5-6815-F32A-25B5EF50E109}"/>
              </a:ext>
            </a:extLst>
          </p:cNvPr>
          <p:cNvSpPr txBox="1"/>
          <p:nvPr/>
        </p:nvSpPr>
        <p:spPr>
          <a:xfrm>
            <a:off x="7916093" y="6383228"/>
            <a:ext cx="3764876" cy="477054"/>
          </a:xfrm>
          <a:prstGeom prst="rect">
            <a:avLst/>
          </a:prstGeom>
          <a:noFill/>
        </p:spPr>
        <p:txBody>
          <a:bodyPr wrap="square">
            <a:spAutoFit/>
          </a:bodyPr>
          <a:lstStyle/>
          <a:p>
            <a:r>
              <a:rPr lang="en-US" sz="1400" dirty="0" err="1">
                <a:effectLst/>
                <a:latin typeface="Times New Roman" panose="02020603050405020304" pitchFamily="18" charset="0"/>
                <a:ea typeface="Calibri" panose="020F0502020204030204" pitchFamily="34" charset="0"/>
              </a:rPr>
              <a:t>DOI:</a:t>
            </a:r>
            <a:r>
              <a:rPr lang="en-US" sz="1400" u="sng" kern="100" dirty="0" err="1">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a:t>
            </a:r>
            <a:r>
              <a:rPr lang="en-US" sz="1400" u="sng" kern="100" dirty="0">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://doi.org/10.1002/9780470977859.ch3</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100" dirty="0">
                <a:solidFill>
                  <a:srgbClr val="000000"/>
                </a:solidFill>
                <a:effectLst/>
                <a:latin typeface="Times New Roman" panose="02020603050405020304" pitchFamily="18" charset="0"/>
                <a:ea typeface="Calibri" panose="020F0502020204030204" pitchFamily="34" charset="0"/>
              </a:rPr>
              <a:t> </a:t>
            </a:r>
            <a:endParaRPr lang="en-US" sz="1100" dirty="0"/>
          </a:p>
        </p:txBody>
      </p:sp>
      <p:pic>
        <p:nvPicPr>
          <p:cNvPr id="14" name="Picture 13" descr="A black circle with a circle in center&#10;&#10;Description automatically generated">
            <a:extLst>
              <a:ext uri="{FF2B5EF4-FFF2-40B4-BE49-F238E27FC236}">
                <a16:creationId xmlns:a16="http://schemas.microsoft.com/office/drawing/2014/main" id="{D46C10A6-783F-10CD-3464-3FCD004339E2}"/>
              </a:ext>
            </a:extLst>
          </p:cNvPr>
          <p:cNvPicPr>
            <a:picLocks noChangeAspect="1"/>
          </p:cNvPicPr>
          <p:nvPr/>
        </p:nvPicPr>
        <p:blipFill>
          <a:blip r:embed="rId4"/>
          <a:stretch>
            <a:fillRect/>
          </a:stretch>
        </p:blipFill>
        <p:spPr>
          <a:xfrm>
            <a:off x="9368929" y="3429000"/>
            <a:ext cx="2674300" cy="2738630"/>
          </a:xfrm>
          <a:prstGeom prst="rect">
            <a:avLst/>
          </a:prstGeom>
        </p:spPr>
      </p:pic>
      <p:pic>
        <p:nvPicPr>
          <p:cNvPr id="7" name="Picture 6" descr="A blue line with white lines&#10;&#10;Description automatically generated">
            <a:extLst>
              <a:ext uri="{FF2B5EF4-FFF2-40B4-BE49-F238E27FC236}">
                <a16:creationId xmlns:a16="http://schemas.microsoft.com/office/drawing/2014/main" id="{8FB3936C-99B2-59EE-61D5-A1C232AD03A1}"/>
              </a:ext>
            </a:extLst>
          </p:cNvPr>
          <p:cNvPicPr>
            <a:picLocks noChangeAspect="1"/>
          </p:cNvPicPr>
          <p:nvPr/>
        </p:nvPicPr>
        <p:blipFill>
          <a:blip r:embed="rId5"/>
          <a:stretch>
            <a:fillRect/>
          </a:stretch>
        </p:blipFill>
        <p:spPr>
          <a:xfrm>
            <a:off x="4897659" y="1354401"/>
            <a:ext cx="4424814" cy="3318611"/>
          </a:xfrm>
          <a:prstGeom prst="rect">
            <a:avLst/>
          </a:prstGeom>
          <a:solidFill>
            <a:srgbClr val="92D050"/>
          </a:solidFill>
          <a:effectLst>
            <a:glow rad="127000">
              <a:srgbClr val="92D050"/>
            </a:glow>
            <a:outerShdw blurRad="50800" dist="50800" dir="5400000" algn="ctr" rotWithShape="0">
              <a:schemeClr val="bg1"/>
            </a:outerShdw>
          </a:effectLst>
        </p:spPr>
      </p:pic>
      <p:pic>
        <p:nvPicPr>
          <p:cNvPr id="13" name="Picture 12" descr="A diagram of a voltage distribution&#10;&#10;Description automatically generated with medium confidence">
            <a:extLst>
              <a:ext uri="{FF2B5EF4-FFF2-40B4-BE49-F238E27FC236}">
                <a16:creationId xmlns:a16="http://schemas.microsoft.com/office/drawing/2014/main" id="{B9EA2EF3-6CE2-36D1-3B03-AE72255AC204}"/>
              </a:ext>
            </a:extLst>
          </p:cNvPr>
          <p:cNvPicPr>
            <a:picLocks noChangeAspect="1"/>
          </p:cNvPicPr>
          <p:nvPr/>
        </p:nvPicPr>
        <p:blipFill>
          <a:blip r:embed="rId6"/>
          <a:stretch>
            <a:fillRect/>
          </a:stretch>
        </p:blipFill>
        <p:spPr>
          <a:xfrm>
            <a:off x="148771" y="1405972"/>
            <a:ext cx="4320718" cy="3240539"/>
          </a:xfrm>
          <a:prstGeom prst="rect">
            <a:avLst/>
          </a:prstGeom>
        </p:spPr>
      </p:pic>
      <p:sp>
        <p:nvSpPr>
          <p:cNvPr id="18" name="Rectangle 17">
            <a:extLst>
              <a:ext uri="{FF2B5EF4-FFF2-40B4-BE49-F238E27FC236}">
                <a16:creationId xmlns:a16="http://schemas.microsoft.com/office/drawing/2014/main" id="{08C2F150-17B7-29C8-29EE-4F1F6508AF53}"/>
              </a:ext>
            </a:extLst>
          </p:cNvPr>
          <p:cNvSpPr/>
          <p:nvPr/>
        </p:nvSpPr>
        <p:spPr bwMode="auto">
          <a:xfrm>
            <a:off x="2648890" y="2952323"/>
            <a:ext cx="159917" cy="123013"/>
          </a:xfrm>
          <a:prstGeom prst="rect">
            <a:avLst/>
          </a:prstGeom>
          <a:solidFill>
            <a:srgbClr val="92D050">
              <a:alpha val="16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cxnSp>
        <p:nvCxnSpPr>
          <p:cNvPr id="20" name="Straight Arrow Connector 19">
            <a:extLst>
              <a:ext uri="{FF2B5EF4-FFF2-40B4-BE49-F238E27FC236}">
                <a16:creationId xmlns:a16="http://schemas.microsoft.com/office/drawing/2014/main" id="{33ED4EAF-FCE4-72E5-26E8-0A724F3C1E7B}"/>
              </a:ext>
            </a:extLst>
          </p:cNvPr>
          <p:cNvCxnSpPr>
            <a:cxnSpLocks/>
          </p:cNvCxnSpPr>
          <p:nvPr/>
        </p:nvCxnSpPr>
        <p:spPr bwMode="auto">
          <a:xfrm flipV="1">
            <a:off x="2808807" y="1405972"/>
            <a:ext cx="1972199" cy="1546351"/>
          </a:xfrm>
          <a:prstGeom prst="straightConnector1">
            <a:avLst/>
          </a:prstGeom>
          <a:solidFill>
            <a:schemeClr val="accent1"/>
          </a:solidFill>
          <a:ln w="9525" cap="flat" cmpd="sng" algn="ctr">
            <a:solidFill>
              <a:srgbClr val="92D050"/>
            </a:solidFill>
            <a:prstDash val="sysDot"/>
            <a:round/>
            <a:headEnd type="none" w="med" len="med"/>
            <a:tailEnd type="triangle"/>
          </a:ln>
          <a:effectLst/>
        </p:spPr>
      </p:cxnSp>
      <p:cxnSp>
        <p:nvCxnSpPr>
          <p:cNvPr id="23" name="Straight Arrow Connector 22">
            <a:extLst>
              <a:ext uri="{FF2B5EF4-FFF2-40B4-BE49-F238E27FC236}">
                <a16:creationId xmlns:a16="http://schemas.microsoft.com/office/drawing/2014/main" id="{C7158435-C856-AB09-A28A-AE055E6B7A47}"/>
              </a:ext>
            </a:extLst>
          </p:cNvPr>
          <p:cNvCxnSpPr>
            <a:cxnSpLocks/>
          </p:cNvCxnSpPr>
          <p:nvPr/>
        </p:nvCxnSpPr>
        <p:spPr bwMode="auto">
          <a:xfrm>
            <a:off x="2808807" y="3075336"/>
            <a:ext cx="1972199" cy="1540207"/>
          </a:xfrm>
          <a:prstGeom prst="straightConnector1">
            <a:avLst/>
          </a:prstGeom>
          <a:solidFill>
            <a:schemeClr val="accent1"/>
          </a:solidFill>
          <a:ln w="9525" cap="flat" cmpd="sng" algn="ctr">
            <a:solidFill>
              <a:srgbClr val="92D050"/>
            </a:solidFill>
            <a:prstDash val="sysDot"/>
            <a:round/>
            <a:headEnd type="none" w="med" len="med"/>
            <a:tailEnd type="triangle"/>
          </a:ln>
          <a:effectLst/>
        </p:spPr>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4352D30-51C0-0DB1-EF07-F94B48C5F96A}"/>
                  </a:ext>
                </a:extLst>
              </p:cNvPr>
              <p:cNvSpPr txBox="1"/>
              <p:nvPr/>
            </p:nvSpPr>
            <p:spPr>
              <a:xfrm>
                <a:off x="849137" y="5065402"/>
                <a:ext cx="4193125" cy="923330"/>
              </a:xfrm>
              <a:prstGeom prst="rect">
                <a:avLst/>
              </a:prstGeom>
              <a:noFill/>
            </p:spPr>
            <p:txBody>
              <a:bodyPr wrap="square" rtlCol="0">
                <a:spAutoFit/>
              </a:bodyPr>
              <a:lstStyle/>
              <a:p>
                <a14:m>
                  <m:oMath xmlns:m="http://schemas.openxmlformats.org/officeDocument/2006/math">
                    <m:r>
                      <m:rPr>
                        <m:sty m:val="p"/>
                      </m:rPr>
                      <a:rPr lang="en-US" sz="1800" smtClean="0">
                        <a:effectLst/>
                        <a:latin typeface="Cambria Math" panose="02040503050406030204" pitchFamily="18" charset="0"/>
                        <a:ea typeface="Calibri" panose="020F0502020204030204" pitchFamily="34" charset="0"/>
                        <a:cs typeface="Times New Roman" panose="02020603050405020304" pitchFamily="18" charset="0"/>
                      </a:rPr>
                      <m:t>ξμ</m:t>
                    </m:r>
                    <m:r>
                      <a:rPr lang="en-US" sz="1800" smtClean="0">
                        <a:effectLst/>
                        <a:latin typeface="Cambria Math" panose="02040503050406030204" pitchFamily="18" charset="0"/>
                        <a:ea typeface="Calibri" panose="020F0502020204030204" pitchFamily="34" charset="0"/>
                        <a:cs typeface="Times New Roman" panose="02020603050405020304" pitchFamily="18" charset="0"/>
                      </a:rPr>
                      <m:t>&lt;0</m:t>
                    </m:r>
                  </m:oMath>
                </a14:m>
                <a:r>
                  <a:rPr lang="en-US" sz="1800" dirty="0">
                    <a:latin typeface="Arial" panose="020B0604020202020204" pitchFamily="34" charset="0"/>
                    <a:cs typeface="Arial" panose="020B0604020202020204" pitchFamily="34" charset="0"/>
                  </a:rPr>
                  <a:t>    Two steady state amplitudes</a:t>
                </a:r>
              </a:p>
              <a:p>
                <a14:m>
                  <m:oMath xmlns:m="http://schemas.openxmlformats.org/officeDocument/2006/math">
                    <m:r>
                      <m:rPr>
                        <m:sty m:val="p"/>
                      </m:rPr>
                      <a:rPr lang="en-US" sz="1800" smtClean="0">
                        <a:effectLst/>
                        <a:latin typeface="Cambria Math" panose="02040503050406030204" pitchFamily="18" charset="0"/>
                        <a:ea typeface="Calibri" panose="020F0502020204030204" pitchFamily="34" charset="0"/>
                        <a:cs typeface="Times New Roman" panose="02020603050405020304" pitchFamily="18" charset="0"/>
                      </a:rPr>
                      <m:t>ξ</m:t>
                    </m:r>
                    <m:r>
                      <a:rPr lang="en-US" sz="1800" smtClean="0">
                        <a:effectLst/>
                        <a:latin typeface="Cambria Math" panose="02040503050406030204" pitchFamily="18" charset="0"/>
                        <a:ea typeface="Calibri" panose="020F0502020204030204" pitchFamily="34" charset="0"/>
                        <a:cs typeface="Times New Roman" panose="02020603050405020304" pitchFamily="18" charset="0"/>
                      </a:rPr>
                      <m:t>&lt;0</m:t>
                    </m:r>
                  </m:oMath>
                </a14:m>
                <a:r>
                  <a:rPr lang="en-US" sz="1800" dirty="0">
                    <a:latin typeface="Arial" panose="020B0604020202020204" pitchFamily="34" charset="0"/>
                    <a:cs typeface="Arial" panose="020B0604020202020204" pitchFamily="34" charset="0"/>
                  </a:rPr>
                  <a:t>      Self-excited oscillation</a:t>
                </a:r>
              </a:p>
              <a:p>
                <a14:m>
                  <m:oMath xmlns:m="http://schemas.openxmlformats.org/officeDocument/2006/math">
                    <m:r>
                      <m:rPr>
                        <m:sty m:val="p"/>
                      </m:rPr>
                      <a:rPr lang="en-US" sz="1800" smtClean="0">
                        <a:effectLst/>
                        <a:latin typeface="Cambria Math" panose="02040503050406030204" pitchFamily="18" charset="0"/>
                        <a:ea typeface="Calibri" panose="020F0502020204030204" pitchFamily="34" charset="0"/>
                        <a:cs typeface="Times New Roman" panose="02020603050405020304" pitchFamily="18" charset="0"/>
                      </a:rPr>
                      <m:t>μ</m:t>
                    </m:r>
                    <m:r>
                      <a:rPr lang="en-US" i="1">
                        <a:latin typeface="Cambria Math" panose="02040503050406030204" pitchFamily="18" charset="0"/>
                      </a:rPr>
                      <m:t>&gt;</m:t>
                    </m:r>
                    <m:r>
                      <a:rPr lang="en-US" sz="1800" smtClean="0">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1800" dirty="0">
                    <a:latin typeface="Arial" panose="020B0604020202020204" pitchFamily="34" charset="0"/>
                    <a:cs typeface="Arial" panose="020B0604020202020204" pitchFamily="34" charset="0"/>
                  </a:rPr>
                  <a:t>     Supercritical Hopf Bifurcation </a:t>
                </a:r>
              </a:p>
            </p:txBody>
          </p:sp>
        </mc:Choice>
        <mc:Fallback xmlns="">
          <p:sp>
            <p:nvSpPr>
              <p:cNvPr id="27" name="TextBox 26">
                <a:extLst>
                  <a:ext uri="{FF2B5EF4-FFF2-40B4-BE49-F238E27FC236}">
                    <a16:creationId xmlns:a16="http://schemas.microsoft.com/office/drawing/2014/main" id="{A4352D30-51C0-0DB1-EF07-F94B48C5F96A}"/>
                  </a:ext>
                </a:extLst>
              </p:cNvPr>
              <p:cNvSpPr txBox="1">
                <a:spLocks noRot="1" noChangeAspect="1" noMove="1" noResize="1" noEditPoints="1" noAdjustHandles="1" noChangeArrowheads="1" noChangeShapeType="1" noTextEdit="1"/>
              </p:cNvSpPr>
              <p:nvPr/>
            </p:nvSpPr>
            <p:spPr>
              <a:xfrm>
                <a:off x="849137" y="5065402"/>
                <a:ext cx="4193125" cy="923330"/>
              </a:xfrm>
              <a:prstGeom prst="rect">
                <a:avLst/>
              </a:prstGeom>
              <a:blipFill>
                <a:blip r:embed="rId7"/>
                <a:stretch>
                  <a:fillRect l="-436" t="-3974" b="-9934"/>
                </a:stretch>
              </a:blipFill>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E145DCF0-E0EE-B3ED-38D4-22C0819D7A36}"/>
              </a:ext>
            </a:extLst>
          </p:cNvPr>
          <p:cNvCxnSpPr>
            <a:cxnSpLocks/>
          </p:cNvCxnSpPr>
          <p:nvPr/>
        </p:nvCxnSpPr>
        <p:spPr bwMode="auto">
          <a:xfrm>
            <a:off x="1613316" y="5256220"/>
            <a:ext cx="171941"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7082FF2D-F3E1-4B85-FC71-9AA1A7537BE0}"/>
              </a:ext>
            </a:extLst>
          </p:cNvPr>
          <p:cNvCxnSpPr>
            <a:cxnSpLocks/>
          </p:cNvCxnSpPr>
          <p:nvPr/>
        </p:nvCxnSpPr>
        <p:spPr bwMode="auto">
          <a:xfrm>
            <a:off x="1613316" y="5552311"/>
            <a:ext cx="171941"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CA7091F0-36BD-DA12-82AB-F279226C77CB}"/>
              </a:ext>
            </a:extLst>
          </p:cNvPr>
          <p:cNvCxnSpPr>
            <a:cxnSpLocks/>
          </p:cNvCxnSpPr>
          <p:nvPr/>
        </p:nvCxnSpPr>
        <p:spPr bwMode="auto">
          <a:xfrm>
            <a:off x="1613316" y="5813568"/>
            <a:ext cx="171941"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677F55F0-61E9-CE80-E561-22A39302F1B6}"/>
              </a:ext>
            </a:extLst>
          </p:cNvPr>
          <p:cNvCxnSpPr>
            <a:cxnSpLocks/>
            <a:stCxn id="10" idx="1"/>
          </p:cNvCxnSpPr>
          <p:nvPr/>
        </p:nvCxnSpPr>
        <p:spPr bwMode="auto">
          <a:xfrm flipH="1" flipV="1">
            <a:off x="4994365" y="5413781"/>
            <a:ext cx="1373160" cy="1538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778B4324-ABF8-7D19-249A-1A134A3E2FE8}"/>
              </a:ext>
            </a:extLst>
          </p:cNvPr>
          <p:cNvCxnSpPr>
            <a:cxnSpLocks/>
            <a:stCxn id="10" idx="3"/>
          </p:cNvCxnSpPr>
          <p:nvPr/>
        </p:nvCxnSpPr>
        <p:spPr bwMode="auto">
          <a:xfrm flipV="1">
            <a:off x="8148167" y="5413781"/>
            <a:ext cx="1557535" cy="1538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787424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90EE45F-7B5F-4860-BF82-97CD131A59D9}"/>
              </a:ext>
            </a:extLst>
          </p:cNvPr>
          <p:cNvSpPr>
            <a:spLocks noGrp="1"/>
          </p:cNvSpPr>
          <p:nvPr>
            <p:ph type="sldNum" sz="quarter" idx="11"/>
          </p:nvPr>
        </p:nvSpPr>
        <p:spPr>
          <a:xfrm>
            <a:off x="11518900" y="6383228"/>
            <a:ext cx="673100" cy="333375"/>
          </a:xfrm>
        </p:spPr>
        <p:txBody>
          <a:bodyPr/>
          <a:lstStyle/>
          <a:p>
            <a:pPr>
              <a:defRPr/>
            </a:pPr>
            <a:fld id="{5F403BB7-FB0E-42F4-853B-C30323DD7E47}" type="slidenum">
              <a:rPr lang="en-US" sz="2000" smtClean="0">
                <a:latin typeface="Times New Roman" panose="02020603050405020304" pitchFamily="18" charset="0"/>
                <a:cs typeface="Times New Roman" panose="02020603050405020304" pitchFamily="18" charset="0"/>
              </a:rPr>
              <a:pPr>
                <a:defRPr/>
              </a:pPr>
              <a:t>29</a:t>
            </a:fld>
            <a:endParaRPr lang="en-US" sz="200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F97EE12-705D-44C6-A801-F58FE1958639}"/>
              </a:ext>
            </a:extLst>
          </p:cNvPr>
          <p:cNvSpPr/>
          <p:nvPr/>
        </p:nvSpPr>
        <p:spPr>
          <a:xfrm>
            <a:off x="142244" y="-30416"/>
            <a:ext cx="8789041" cy="523220"/>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Analyzing governing equations: Damping force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DE3740-4096-27B2-0D8B-1F7A1098687F}"/>
                  </a:ext>
                </a:extLst>
              </p:cNvPr>
              <p:cNvSpPr txBox="1"/>
              <p:nvPr/>
            </p:nvSpPr>
            <p:spPr>
              <a:xfrm>
                <a:off x="716425" y="565106"/>
                <a:ext cx="5653166" cy="377989"/>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solidFill>
                      <a:schemeClr val="bg1"/>
                    </a:solidFill>
                    <a:latin typeface="Times New Roman" panose="02020603050405020304" pitchFamily="18" charset="0"/>
                    <a:ea typeface="Calibri" panose="020F0502020204030204" pitchFamily="34" charset="0"/>
                  </a:rPr>
                  <a:t>D</a:t>
                </a:r>
                <a14:m>
                  <m:oMath xmlns:m="http://schemas.openxmlformats.org/officeDocument/2006/math">
                    <m:r>
                      <m:rPr>
                        <m:sty m:val="p"/>
                      </m:rPr>
                      <a:rPr lang="de-DE" sz="1800" b="0" i="0"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t>isplacement</m:t>
                    </m:r>
                    <m:r>
                      <a:rPr lang="de-DE" sz="1800" b="0" i="0"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t> </m:t>
                    </m:r>
                    <m:r>
                      <m:rPr>
                        <m:sty m:val="p"/>
                      </m:rPr>
                      <a:rPr lang="de-DE" sz="1800" b="0" i="0" smtClean="0">
                        <a:solidFill>
                          <a:schemeClr val="bg1"/>
                        </a:solidFill>
                        <a:latin typeface="Cambria Math" panose="02040503050406030204" pitchFamily="18" charset="0"/>
                        <a:ea typeface="Calibri" panose="020F0502020204030204" pitchFamily="34" charset="0"/>
                        <a:cs typeface="Times New Roman" panose="02020603050405020304" pitchFamily="18" charset="0"/>
                      </a:rPr>
                      <m:t>readout</m:t>
                    </m:r>
                    <m:r>
                      <m:rPr>
                        <m:nor/>
                      </m:rPr>
                      <a:rPr lang="en-US" sz="1800">
                        <a:solidFill>
                          <a:schemeClr val="bg1"/>
                        </a:solidFill>
                      </a:rPr>
                      <m:t>(</m:t>
                    </m:r>
                    <m:r>
                      <a:rPr lang="en-US" sz="1800" i="1">
                        <a:solidFill>
                          <a:schemeClr val="bg1"/>
                        </a:solidFill>
                        <a:latin typeface="Cambria Math" panose="02040503050406030204" pitchFamily="18" charset="0"/>
                      </a:rPr>
                      <m:t>−</m:t>
                    </m:r>
                    <m:r>
                      <a:rPr lang="en-US" sz="1800">
                        <a:solidFill>
                          <a:schemeClr val="bg1"/>
                        </a:solidFill>
                        <a:latin typeface="Cambria Math" panose="02040503050406030204" pitchFamily="18" charset="0"/>
                      </a:rPr>
                      <m:t>  </m:t>
                    </m:r>
                    <m:d>
                      <m:dPr>
                        <m:ctrlPr>
                          <a:rPr lang="en-US" sz="1800" i="1">
                            <a:solidFill>
                              <a:schemeClr val="bg1"/>
                            </a:solidFill>
                            <a:latin typeface="Cambria Math" panose="02040503050406030204" pitchFamily="18" charset="0"/>
                          </a:rPr>
                        </m:ctrlPr>
                      </m:dPr>
                      <m:e>
                        <m:r>
                          <a:rPr lang="en-US" sz="1800">
                            <a:solidFill>
                              <a:schemeClr val="bg1"/>
                            </a:solidFill>
                            <a:latin typeface="Cambria Math" panose="02040503050406030204" pitchFamily="18" charset="0"/>
                          </a:rPr>
                          <m:t>2×0.0002</m:t>
                        </m:r>
                      </m:e>
                    </m:d>
                    <m:acc>
                      <m:accPr>
                        <m:chr m:val="̇"/>
                        <m:ctrlPr>
                          <a:rPr lang="en-US" sz="1800" i="1">
                            <a:solidFill>
                              <a:schemeClr val="bg1"/>
                            </a:solidFill>
                            <a:latin typeface="Cambria Math" panose="02040503050406030204" pitchFamily="18" charset="0"/>
                          </a:rPr>
                        </m:ctrlPr>
                      </m:accPr>
                      <m:e>
                        <m:r>
                          <m:rPr>
                            <m:sty m:val="p"/>
                          </m:rPr>
                          <a:rPr lang="en-US" sz="1800">
                            <a:solidFill>
                              <a:schemeClr val="bg1"/>
                            </a:solidFill>
                            <a:latin typeface="Cambria Math" panose="02040503050406030204" pitchFamily="18" charset="0"/>
                          </a:rPr>
                          <m:t>U</m:t>
                        </m:r>
                      </m:e>
                    </m:acc>
                    <m:r>
                      <m:rPr>
                        <m:nor/>
                      </m:rPr>
                      <a:rPr lang="en-US" sz="1800">
                        <a:solidFill>
                          <a:schemeClr val="bg1"/>
                        </a:solidFill>
                      </a:rPr>
                      <m:t>)</m:t>
                    </m:r>
                  </m:oMath>
                </a14:m>
                <a:endParaRPr lang="en-US" sz="1800" dirty="0">
                  <a:solidFill>
                    <a:schemeClr val="bg1"/>
                  </a:solidFill>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84DE3740-4096-27B2-0D8B-1F7A1098687F}"/>
                  </a:ext>
                </a:extLst>
              </p:cNvPr>
              <p:cNvSpPr txBox="1">
                <a:spLocks noRot="1" noChangeAspect="1" noMove="1" noResize="1" noEditPoints="1" noAdjustHandles="1" noChangeArrowheads="1" noChangeShapeType="1" noTextEdit="1"/>
              </p:cNvSpPr>
              <p:nvPr/>
            </p:nvSpPr>
            <p:spPr>
              <a:xfrm>
                <a:off x="716425" y="565106"/>
                <a:ext cx="5653166" cy="377989"/>
              </a:xfrm>
              <a:prstGeom prst="rect">
                <a:avLst/>
              </a:prstGeom>
              <a:blipFill>
                <a:blip r:embed="rId2"/>
                <a:stretch>
                  <a:fillRect l="-755" t="-6452" b="-2580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7552206-6B54-4AC5-A95F-0A70FE6A7CF7}"/>
              </a:ext>
            </a:extLst>
          </p:cNvPr>
          <p:cNvSpPr txBox="1"/>
          <p:nvPr/>
        </p:nvSpPr>
        <p:spPr>
          <a:xfrm>
            <a:off x="1889760" y="5403445"/>
            <a:ext cx="6189761" cy="338554"/>
          </a:xfrm>
          <a:prstGeom prst="rect">
            <a:avLst/>
          </a:prstGeom>
          <a:noFill/>
        </p:spPr>
        <p:txBody>
          <a:bodyPr wrap="square" rtlCol="0">
            <a:spAutoFit/>
          </a:bodyPr>
          <a:lstStyle/>
          <a:p>
            <a:pPr algn="ctr"/>
            <a:r>
              <a:rPr lang="en-US" sz="1600" dirty="0">
                <a:solidFill>
                  <a:srgbClr val="05088D"/>
                </a:solidFill>
                <a:latin typeface="Times New Roman" panose="02020603050405020304" pitchFamily="18" charset="0"/>
                <a:cs typeface="Times New Roman" panose="02020603050405020304" pitchFamily="18" charset="0"/>
              </a:rPr>
              <a:t>Fig. : The found and Expected Phase portraits for displacement readouts.</a:t>
            </a:r>
          </a:p>
        </p:txBody>
      </p:sp>
      <p:sp>
        <p:nvSpPr>
          <p:cNvPr id="10" name="TextBox 9">
            <a:extLst>
              <a:ext uri="{FF2B5EF4-FFF2-40B4-BE49-F238E27FC236}">
                <a16:creationId xmlns:a16="http://schemas.microsoft.com/office/drawing/2014/main" id="{A0435572-A145-7225-9241-6D5C351FB5E7}"/>
              </a:ext>
            </a:extLst>
          </p:cNvPr>
          <p:cNvSpPr txBox="1"/>
          <p:nvPr/>
        </p:nvSpPr>
        <p:spPr>
          <a:xfrm>
            <a:off x="9640308" y="2616527"/>
            <a:ext cx="1776629"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What to expect</a:t>
            </a:r>
            <a:r>
              <a:rPr lang="en-US" sz="1600" b="1" dirty="0">
                <a:solidFill>
                  <a:srgbClr val="05088D"/>
                </a:solidFill>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4358B4FA-64CA-6A86-D5ED-D3C6DCF3FA34}"/>
              </a:ext>
            </a:extLst>
          </p:cNvPr>
          <p:cNvSpPr txBox="1"/>
          <p:nvPr/>
        </p:nvSpPr>
        <p:spPr>
          <a:xfrm>
            <a:off x="3393908" y="977251"/>
            <a:ext cx="1835187" cy="369332"/>
          </a:xfrm>
          <a:prstGeom prst="rect">
            <a:avLst/>
          </a:prstGeom>
          <a:noFill/>
        </p:spPr>
        <p:txBody>
          <a:bodyPr wrap="square" rtlCol="0">
            <a:spAutoFit/>
          </a:bodyPr>
          <a:lstStyle/>
          <a:p>
            <a:pPr algn="ctr"/>
            <a:r>
              <a:rPr lang="en-US" sz="1800" b="1" dirty="0">
                <a:solidFill>
                  <a:srgbClr val="05088D"/>
                </a:solidFill>
                <a:latin typeface="Times New Roman" panose="02020603050405020304" pitchFamily="18" charset="0"/>
                <a:cs typeface="Times New Roman" panose="02020603050405020304" pitchFamily="18" charset="0"/>
              </a:rPr>
              <a:t>What is found:</a:t>
            </a:r>
          </a:p>
        </p:txBody>
      </p:sp>
      <p:sp>
        <p:nvSpPr>
          <p:cNvPr id="16" name="TextBox 15">
            <a:extLst>
              <a:ext uri="{FF2B5EF4-FFF2-40B4-BE49-F238E27FC236}">
                <a16:creationId xmlns:a16="http://schemas.microsoft.com/office/drawing/2014/main" id="{499DC32B-7DA5-6815-F32A-25B5EF50E109}"/>
              </a:ext>
            </a:extLst>
          </p:cNvPr>
          <p:cNvSpPr txBox="1"/>
          <p:nvPr/>
        </p:nvSpPr>
        <p:spPr>
          <a:xfrm>
            <a:off x="7950926" y="6380946"/>
            <a:ext cx="3984171" cy="477054"/>
          </a:xfrm>
          <a:prstGeom prst="rect">
            <a:avLst/>
          </a:prstGeom>
          <a:noFill/>
        </p:spPr>
        <p:txBody>
          <a:bodyPr wrap="square">
            <a:spAutoFit/>
          </a:bodyPr>
          <a:lstStyle/>
          <a:p>
            <a:r>
              <a:rPr lang="en-US" sz="1400" dirty="0" err="1">
                <a:effectLst/>
                <a:latin typeface="Times New Roman" panose="02020603050405020304" pitchFamily="18" charset="0"/>
                <a:ea typeface="Calibri" panose="020F0502020204030204" pitchFamily="34" charset="0"/>
              </a:rPr>
              <a:t>DOI:</a:t>
            </a:r>
            <a:r>
              <a:rPr lang="en-US" sz="1400" u="sng" kern="100" dirty="0" err="1">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a:t>
            </a:r>
            <a:r>
              <a:rPr lang="en-US" sz="1400" u="sng" kern="100" dirty="0">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://doi.org/10.1002/9780470977859.ch3</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100" dirty="0">
                <a:solidFill>
                  <a:srgbClr val="000000"/>
                </a:solidFill>
                <a:effectLst/>
                <a:latin typeface="Times New Roman" panose="02020603050405020304" pitchFamily="18" charset="0"/>
                <a:ea typeface="Calibri" panose="020F0502020204030204" pitchFamily="34" charset="0"/>
              </a:rPr>
              <a:t> </a:t>
            </a:r>
            <a:endParaRPr lang="en-US" sz="1100" dirty="0"/>
          </a:p>
        </p:txBody>
      </p:sp>
      <p:pic>
        <p:nvPicPr>
          <p:cNvPr id="12" name="Picture 11" descr="A black circle with arrows&#10;&#10;Description automatically generated">
            <a:extLst>
              <a:ext uri="{FF2B5EF4-FFF2-40B4-BE49-F238E27FC236}">
                <a16:creationId xmlns:a16="http://schemas.microsoft.com/office/drawing/2014/main" id="{221D01A4-BDC4-DB80-A2D2-003324EC9FDA}"/>
              </a:ext>
            </a:extLst>
          </p:cNvPr>
          <p:cNvPicPr>
            <a:picLocks noChangeAspect="1"/>
          </p:cNvPicPr>
          <p:nvPr/>
        </p:nvPicPr>
        <p:blipFill>
          <a:blip r:embed="rId4"/>
          <a:stretch>
            <a:fillRect/>
          </a:stretch>
        </p:blipFill>
        <p:spPr>
          <a:xfrm>
            <a:off x="9174641" y="2924304"/>
            <a:ext cx="2650330" cy="2596930"/>
          </a:xfrm>
          <a:prstGeom prst="rect">
            <a:avLst/>
          </a:prstGeom>
        </p:spPr>
      </p:pic>
      <p:pic>
        <p:nvPicPr>
          <p:cNvPr id="4" name="Picture 3" descr="A diagram of a phase of displacement&#10;&#10;Description automatically generated">
            <a:extLst>
              <a:ext uri="{FF2B5EF4-FFF2-40B4-BE49-F238E27FC236}">
                <a16:creationId xmlns:a16="http://schemas.microsoft.com/office/drawing/2014/main" id="{596FD7B8-4045-3C96-92F4-73FE75E40BDD}"/>
              </a:ext>
            </a:extLst>
          </p:cNvPr>
          <p:cNvPicPr>
            <a:picLocks noChangeAspect="1"/>
          </p:cNvPicPr>
          <p:nvPr/>
        </p:nvPicPr>
        <p:blipFill>
          <a:blip r:embed="rId5"/>
          <a:stretch>
            <a:fillRect/>
          </a:stretch>
        </p:blipFill>
        <p:spPr>
          <a:xfrm>
            <a:off x="41510" y="1310640"/>
            <a:ext cx="4799399" cy="3599549"/>
          </a:xfrm>
          <a:prstGeom prst="rect">
            <a:avLst/>
          </a:prstGeom>
        </p:spPr>
      </p:pic>
      <p:pic>
        <p:nvPicPr>
          <p:cNvPr id="7" name="Picture 6" descr="A diagram of a circle and a diagram of a circle&#10;&#10;Description automatically generated">
            <a:extLst>
              <a:ext uri="{FF2B5EF4-FFF2-40B4-BE49-F238E27FC236}">
                <a16:creationId xmlns:a16="http://schemas.microsoft.com/office/drawing/2014/main" id="{685DCCC8-A850-5E87-166E-B50F46D0AC10}"/>
              </a:ext>
            </a:extLst>
          </p:cNvPr>
          <p:cNvPicPr>
            <a:picLocks noChangeAspect="1"/>
          </p:cNvPicPr>
          <p:nvPr/>
        </p:nvPicPr>
        <p:blipFill rotWithShape="1">
          <a:blip r:embed="rId6">
            <a:extLst>
              <a:ext uri="{28A0092B-C50C-407E-A947-70E740481C1C}">
                <a14:useLocalDpi xmlns:a14="http://schemas.microsoft.com/office/drawing/2010/main"/>
              </a:ext>
            </a:extLst>
          </a:blip>
          <a:srcRect l="46564"/>
          <a:stretch/>
        </p:blipFill>
        <p:spPr bwMode="auto">
          <a:xfrm>
            <a:off x="4840909" y="1570835"/>
            <a:ext cx="4228163" cy="3172658"/>
          </a:xfrm>
          <a:prstGeom prst="rect">
            <a:avLst/>
          </a:prstGeom>
          <a:noFill/>
          <a:effectLst>
            <a:glow rad="127000">
              <a:srgbClr val="92D050"/>
            </a:glow>
          </a:effectLst>
        </p:spPr>
      </p:pic>
      <p:sp>
        <p:nvSpPr>
          <p:cNvPr id="8" name="Rectangle 7">
            <a:extLst>
              <a:ext uri="{FF2B5EF4-FFF2-40B4-BE49-F238E27FC236}">
                <a16:creationId xmlns:a16="http://schemas.microsoft.com/office/drawing/2014/main" id="{DD0BEA0F-318B-CE53-88C2-EC9131E2AF84}"/>
              </a:ext>
            </a:extLst>
          </p:cNvPr>
          <p:cNvSpPr/>
          <p:nvPr/>
        </p:nvSpPr>
        <p:spPr bwMode="auto">
          <a:xfrm>
            <a:off x="2913017" y="4110446"/>
            <a:ext cx="148046" cy="108857"/>
          </a:xfrm>
          <a:prstGeom prst="rect">
            <a:avLst/>
          </a:prstGeom>
          <a:solidFill>
            <a:schemeClr val="accent1">
              <a:alpha val="20000"/>
            </a:schemeClr>
          </a:solidFill>
          <a:ln w="9525" cap="flat" cmpd="sng" algn="ctr">
            <a:solidFill>
              <a:schemeClr val="tx1"/>
            </a:solidFill>
            <a:prstDash val="solid"/>
            <a:round/>
            <a:headEnd type="none" w="med" len="med"/>
            <a:tailEnd type="none" w="med" len="med"/>
          </a:ln>
          <a:effectLst>
            <a:outerShdw blurRad="50800" dist="50800" dir="5400000" algn="ctr" rotWithShape="0">
              <a:srgbClr val="92D050">
                <a:alpha val="20000"/>
              </a:srgb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5" charset="0"/>
            </a:endParaRPr>
          </a:p>
        </p:txBody>
      </p:sp>
      <p:cxnSp>
        <p:nvCxnSpPr>
          <p:cNvPr id="18" name="Straight Arrow Connector 17">
            <a:extLst>
              <a:ext uri="{FF2B5EF4-FFF2-40B4-BE49-F238E27FC236}">
                <a16:creationId xmlns:a16="http://schemas.microsoft.com/office/drawing/2014/main" id="{19F74E3D-C745-A4FC-B7FF-66D885C79750}"/>
              </a:ext>
            </a:extLst>
          </p:cNvPr>
          <p:cNvCxnSpPr>
            <a:cxnSpLocks/>
          </p:cNvCxnSpPr>
          <p:nvPr/>
        </p:nvCxnSpPr>
        <p:spPr bwMode="auto">
          <a:xfrm flipV="1">
            <a:off x="3061063" y="1663337"/>
            <a:ext cx="1624148" cy="2447109"/>
          </a:xfrm>
          <a:prstGeom prst="straightConnector1">
            <a:avLst/>
          </a:prstGeom>
          <a:solidFill>
            <a:schemeClr val="accent1"/>
          </a:solidFill>
          <a:ln w="9525" cap="flat" cmpd="sng" algn="ctr">
            <a:solidFill>
              <a:srgbClr val="92D050"/>
            </a:solidFill>
            <a:prstDash val="sysDot"/>
            <a:round/>
            <a:headEnd type="none" w="med" len="med"/>
            <a:tailEnd type="triangle"/>
          </a:ln>
          <a:effectLst>
            <a:outerShdw blurRad="50800" dist="50800" dir="5400000" algn="ctr" rotWithShape="0">
              <a:srgbClr val="92D050">
                <a:alpha val="6000"/>
              </a:srgbClr>
            </a:outerShdw>
          </a:effectLst>
        </p:spPr>
      </p:cxnSp>
      <p:cxnSp>
        <p:nvCxnSpPr>
          <p:cNvPr id="20" name="Straight Arrow Connector 19">
            <a:extLst>
              <a:ext uri="{FF2B5EF4-FFF2-40B4-BE49-F238E27FC236}">
                <a16:creationId xmlns:a16="http://schemas.microsoft.com/office/drawing/2014/main" id="{355002CF-2CDE-6EF5-085E-94B9AD00AE7F}"/>
              </a:ext>
            </a:extLst>
          </p:cNvPr>
          <p:cNvCxnSpPr>
            <a:cxnSpLocks/>
          </p:cNvCxnSpPr>
          <p:nvPr/>
        </p:nvCxnSpPr>
        <p:spPr bwMode="auto">
          <a:xfrm>
            <a:off x="3091543" y="4219303"/>
            <a:ext cx="1593668" cy="483326"/>
          </a:xfrm>
          <a:prstGeom prst="straightConnector1">
            <a:avLst/>
          </a:prstGeom>
          <a:solidFill>
            <a:schemeClr val="accent1"/>
          </a:solidFill>
          <a:ln w="9525" cap="flat" cmpd="sng" algn="ctr">
            <a:solidFill>
              <a:srgbClr val="92D050"/>
            </a:solidFill>
            <a:prstDash val="sysDot"/>
            <a:round/>
            <a:headEnd type="none" w="med" len="med"/>
            <a:tailEnd type="triangle"/>
          </a:ln>
          <a:effectLst/>
        </p:spPr>
      </p:cxnSp>
    </p:spTree>
    <p:extLst>
      <p:ext uri="{BB962C8B-B14F-4D97-AF65-F5344CB8AC3E}">
        <p14:creationId xmlns:p14="http://schemas.microsoft.com/office/powerpoint/2010/main" val="3997655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BD98FB-C303-A516-6990-67A04162E608}"/>
              </a:ext>
            </a:extLst>
          </p:cNvPr>
          <p:cNvSpPr>
            <a:spLocks noGrp="1"/>
          </p:cNvSpPr>
          <p:nvPr>
            <p:ph type="sldNum" sz="quarter" idx="11"/>
          </p:nvPr>
        </p:nvSpPr>
        <p:spPr/>
        <p:txBody>
          <a:bodyPr/>
          <a:lstStyle/>
          <a:p>
            <a:pPr>
              <a:defRPr/>
            </a:pPr>
            <a:fld id="{5F403BB7-FB0E-42F4-853B-C30323DD7E47}" type="slidenum">
              <a:rPr lang="en-US" smtClean="0"/>
              <a:pPr>
                <a:defRPr/>
              </a:pPr>
              <a:t>30</a:t>
            </a:fld>
            <a:endParaRPr lang="en-US"/>
          </a:p>
        </p:txBody>
      </p:sp>
      <p:sp>
        <p:nvSpPr>
          <p:cNvPr id="5" name="TextBox 4">
            <a:extLst>
              <a:ext uri="{FF2B5EF4-FFF2-40B4-BE49-F238E27FC236}">
                <a16:creationId xmlns:a16="http://schemas.microsoft.com/office/drawing/2014/main" id="{9536D175-F637-BB7A-F6C8-0926EE60869D}"/>
              </a:ext>
            </a:extLst>
          </p:cNvPr>
          <p:cNvSpPr txBox="1"/>
          <p:nvPr/>
        </p:nvSpPr>
        <p:spPr>
          <a:xfrm>
            <a:off x="3733283" y="267702"/>
            <a:ext cx="3095838" cy="523220"/>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SINDy vs. ANN</a:t>
            </a:r>
            <a:endParaRPr lang="en-US" sz="2800" dirty="0">
              <a:solidFill>
                <a:schemeClr val="bg1"/>
              </a:solidFill>
              <a:latin typeface="Arial" panose="020B0604020202020204" pitchFamily="34" charset="0"/>
              <a:cs typeface="Arial" panose="020B0604020202020204" pitchFamily="34" charset="0"/>
            </a:endParaRPr>
          </a:p>
        </p:txBody>
      </p:sp>
      <p:graphicFrame>
        <p:nvGraphicFramePr>
          <p:cNvPr id="13" name="Chart 12">
            <a:extLst>
              <a:ext uri="{FF2B5EF4-FFF2-40B4-BE49-F238E27FC236}">
                <a16:creationId xmlns:a16="http://schemas.microsoft.com/office/drawing/2014/main" id="{AB9D4DFC-CB27-C3AE-E994-496B2FEC8F8C}"/>
              </a:ext>
            </a:extLst>
          </p:cNvPr>
          <p:cNvGraphicFramePr/>
          <p:nvPr>
            <p:extLst>
              <p:ext uri="{D42A27DB-BD31-4B8C-83A1-F6EECF244321}">
                <p14:modId xmlns:p14="http://schemas.microsoft.com/office/powerpoint/2010/main" val="3448722510"/>
              </p:ext>
            </p:extLst>
          </p:nvPr>
        </p:nvGraphicFramePr>
        <p:xfrm>
          <a:off x="1660642" y="1088572"/>
          <a:ext cx="7606729" cy="52401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9341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0F61066-2DD3-C4A9-BE6C-B90C2E36069E}"/>
              </a:ext>
            </a:extLst>
          </p:cNvPr>
          <p:cNvSpPr>
            <a:spLocks noGrp="1"/>
          </p:cNvSpPr>
          <p:nvPr>
            <p:ph type="subTitle" idx="1"/>
          </p:nvPr>
        </p:nvSpPr>
        <p:spPr>
          <a:xfrm>
            <a:off x="1402079" y="1223553"/>
            <a:ext cx="6635931" cy="2643053"/>
          </a:xfrm>
        </p:spPr>
        <p:txBody>
          <a:bodyPr/>
          <a:lstStyle/>
          <a:p>
            <a:pPr marL="342900" marR="0" lvl="0" indent="-342900" algn="just">
              <a:lnSpc>
                <a:spcPct val="107000"/>
              </a:lnSpc>
              <a:spcBef>
                <a:spcPts val="0"/>
              </a:spcBef>
              <a:spcAft>
                <a:spcPts val="0"/>
              </a:spcAft>
              <a:buFont typeface="Wingdings" panose="05000000000000000000" pitchFamily="2" charset="2"/>
              <a:buChar char=""/>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N</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onlinear stiffness and nonlinear damping</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Supercritical Hop bifurcation occurred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via self-excited oscillation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Hardening oscillator detected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Wingdings" panose="05000000000000000000" pitchFamily="2" charset="2"/>
              <a:buChar char=""/>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T</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rivial steady state amplitude is not stable</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07000"/>
              </a:lnSpc>
              <a:spcBef>
                <a:spcPts val="0"/>
              </a:spcBef>
              <a:spcAft>
                <a:spcPts val="800"/>
              </a:spcAft>
              <a:buFont typeface="Wingdings" panose="05000000000000000000" pitchFamily="2" charset="2"/>
              <a:buChar char=""/>
            </a:pPr>
            <a:r>
              <a:rPr lang="en-US" sz="1800" b="1" dirty="0">
                <a:effectLst/>
                <a:latin typeface="Times New Roman" panose="02020603050405020304" pitchFamily="18" charset="0"/>
                <a:ea typeface="Calibri" panose="020F0502020204030204" pitchFamily="34" charset="0"/>
              </a:rPr>
              <a:t>Characteristic single well potential energy behavior</a:t>
            </a:r>
            <a:endParaRPr lang="en-US" sz="1800" dirty="0">
              <a:effectLst/>
              <a:latin typeface="Times New Roman" panose="02020603050405020304" pitchFamily="18" charset="0"/>
              <a:ea typeface="Calibri" panose="020F0502020204030204" pitchFamily="34" charset="0"/>
            </a:endParaRPr>
          </a:p>
          <a:p>
            <a:pPr marL="342900" indent="-342900" algn="just">
              <a:lnSpc>
                <a:spcPct val="107000"/>
              </a:lnSpc>
              <a:spcBef>
                <a:spcPts val="0"/>
              </a:spcBef>
              <a:spcAft>
                <a:spcPts val="800"/>
              </a:spcAft>
              <a:buFont typeface="Wingdings" panose="05000000000000000000" pitchFamily="2" charset="2"/>
              <a:buChar char=""/>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The effect of higher harmonics dominate,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and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such an operating condition is not desired</a:t>
            </a:r>
            <a:endParaRPr lang="en-US" sz="1800" dirty="0"/>
          </a:p>
          <a:p>
            <a:pPr marR="0" lvl="0" algn="just">
              <a:lnSpc>
                <a:spcPct val="107000"/>
              </a:lnSpc>
              <a:spcBef>
                <a:spcPts val="0"/>
              </a:spcBef>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06736A4-055F-6B98-ABA7-6D511AE4D5A3}"/>
              </a:ext>
            </a:extLst>
          </p:cNvPr>
          <p:cNvSpPr>
            <a:spLocks noGrp="1"/>
          </p:cNvSpPr>
          <p:nvPr>
            <p:ph type="sldNum" sz="quarter" idx="11"/>
          </p:nvPr>
        </p:nvSpPr>
        <p:spPr/>
        <p:txBody>
          <a:bodyPr/>
          <a:lstStyle/>
          <a:p>
            <a:pPr>
              <a:defRPr/>
            </a:pPr>
            <a:fld id="{5F403BB7-FB0E-42F4-853B-C30323DD7E47}" type="slidenum">
              <a:rPr lang="en-US" smtClean="0"/>
              <a:pPr>
                <a:defRPr/>
              </a:pPr>
              <a:t>31</a:t>
            </a:fld>
            <a:endParaRPr lang="en-US"/>
          </a:p>
        </p:txBody>
      </p:sp>
      <p:sp>
        <p:nvSpPr>
          <p:cNvPr id="5" name="TextBox 4">
            <a:extLst>
              <a:ext uri="{FF2B5EF4-FFF2-40B4-BE49-F238E27FC236}">
                <a16:creationId xmlns:a16="http://schemas.microsoft.com/office/drawing/2014/main" id="{60D4CE9A-D9DF-3BDB-8F23-7A66863A5BBA}"/>
              </a:ext>
            </a:extLst>
          </p:cNvPr>
          <p:cNvSpPr txBox="1"/>
          <p:nvPr/>
        </p:nvSpPr>
        <p:spPr>
          <a:xfrm>
            <a:off x="191589" y="209005"/>
            <a:ext cx="8064137" cy="523220"/>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Summary of the model Gains: Voltage readout</a:t>
            </a:r>
            <a:endParaRPr lang="en-US" sz="2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9538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0F61066-2DD3-C4A9-BE6C-B90C2E36069E}"/>
              </a:ext>
            </a:extLst>
          </p:cNvPr>
          <p:cNvSpPr>
            <a:spLocks noGrp="1"/>
          </p:cNvSpPr>
          <p:nvPr>
            <p:ph type="subTitle" idx="1"/>
          </p:nvPr>
        </p:nvSpPr>
        <p:spPr>
          <a:xfrm>
            <a:off x="740229" y="1223554"/>
            <a:ext cx="5473337" cy="2205446"/>
          </a:xfrm>
        </p:spPr>
        <p:txBody>
          <a:bodyPr/>
          <a:lstStyle/>
          <a:p>
            <a:pPr marL="342900" marR="0" lvl="0" indent="-342900" algn="just">
              <a:lnSpc>
                <a:spcPct val="107000"/>
              </a:lnSpc>
              <a:spcBef>
                <a:spcPts val="0"/>
              </a:spcBef>
              <a:spcAft>
                <a:spcPts val="0"/>
              </a:spcAft>
              <a:buFont typeface="Wingdings" panose="05000000000000000000" pitchFamily="2" charset="2"/>
              <a:buChar char=""/>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L</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inear stiffness and Linear viscous damping</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Linear damped oscillator detected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trivial steady state amplitude is stable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potential energy behavior is almost linear</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07000"/>
              </a:lnSpc>
              <a:spcBef>
                <a:spcPts val="0"/>
              </a:spcBef>
              <a:spcAft>
                <a:spcPts val="800"/>
              </a:spcAft>
              <a:buFont typeface="Wingdings" panose="05000000000000000000" pitchFamily="2" charset="2"/>
              <a:buChar char=""/>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The effect of higher harmonics is negligible and Such an operating condition is desired.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endParaRPr lang="en-US" sz="1800" dirty="0"/>
          </a:p>
          <a:p>
            <a:pPr marR="0" lvl="0" algn="just">
              <a:lnSpc>
                <a:spcPct val="107000"/>
              </a:lnSpc>
              <a:spcBef>
                <a:spcPts val="0"/>
              </a:spcBef>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06736A4-055F-6B98-ABA7-6D511AE4D5A3}"/>
              </a:ext>
            </a:extLst>
          </p:cNvPr>
          <p:cNvSpPr>
            <a:spLocks noGrp="1"/>
          </p:cNvSpPr>
          <p:nvPr>
            <p:ph type="sldNum" sz="quarter" idx="11"/>
          </p:nvPr>
        </p:nvSpPr>
        <p:spPr/>
        <p:txBody>
          <a:bodyPr/>
          <a:lstStyle/>
          <a:p>
            <a:pPr>
              <a:defRPr/>
            </a:pPr>
            <a:fld id="{5F403BB7-FB0E-42F4-853B-C30323DD7E47}" type="slidenum">
              <a:rPr lang="en-US" smtClean="0"/>
              <a:pPr>
                <a:defRPr/>
              </a:pPr>
              <a:t>32</a:t>
            </a:fld>
            <a:endParaRPr lang="en-US"/>
          </a:p>
        </p:txBody>
      </p:sp>
      <p:sp>
        <p:nvSpPr>
          <p:cNvPr id="5" name="TextBox 4">
            <a:extLst>
              <a:ext uri="{FF2B5EF4-FFF2-40B4-BE49-F238E27FC236}">
                <a16:creationId xmlns:a16="http://schemas.microsoft.com/office/drawing/2014/main" id="{60D4CE9A-D9DF-3BDB-8F23-7A66863A5BBA}"/>
              </a:ext>
            </a:extLst>
          </p:cNvPr>
          <p:cNvSpPr txBox="1"/>
          <p:nvPr/>
        </p:nvSpPr>
        <p:spPr>
          <a:xfrm>
            <a:off x="222069" y="69668"/>
            <a:ext cx="8064137" cy="954107"/>
          </a:xfrm>
          <a:prstGeom prst="rect">
            <a:avLst/>
          </a:prstGeom>
          <a:noFill/>
        </p:spPr>
        <p:txBody>
          <a:bodyPr wrap="square" rtlCol="0">
            <a:spAutoFit/>
          </a:bodyPr>
          <a:lstStyle/>
          <a:p>
            <a:r>
              <a:rPr lang="de-DE" sz="2800" dirty="0">
                <a:solidFill>
                  <a:schemeClr val="bg1"/>
                </a:solidFill>
                <a:latin typeface="Arial" panose="020B0604020202020204" pitchFamily="34" charset="0"/>
                <a:cs typeface="Arial" panose="020B0604020202020204" pitchFamily="34" charset="0"/>
              </a:rPr>
              <a:t>Summary of the model Gains: Displacement readout</a:t>
            </a:r>
            <a:endParaRPr lang="en-US" sz="2800"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C60935A-7347-8D8A-37F0-F31FF36723DA}"/>
              </a:ext>
            </a:extLst>
          </p:cNvPr>
          <p:cNvSpPr txBox="1"/>
          <p:nvPr/>
        </p:nvSpPr>
        <p:spPr>
          <a:xfrm>
            <a:off x="1772194" y="3932074"/>
            <a:ext cx="8647612" cy="830997"/>
          </a:xfrm>
          <a:prstGeom prst="rect">
            <a:avLst/>
          </a:prstGeom>
          <a:noFill/>
        </p:spPr>
        <p:txBody>
          <a:bodyPr wrap="square" rtlCol="0">
            <a:spAutoFit/>
          </a:bodyPr>
          <a:lstStyle/>
          <a:p>
            <a:pPr algn="ctr"/>
            <a:r>
              <a:rPr lang="de-DE" sz="2400" b="1" dirty="0">
                <a:solidFill>
                  <a:srgbClr val="00B050"/>
                </a:solidFill>
                <a:latin typeface="Arial" panose="020B0604020202020204" pitchFamily="34" charset="0"/>
                <a:cs typeface="Arial" panose="020B0604020202020204" pitchFamily="34" charset="0"/>
              </a:rPr>
              <a:t>SINDy is a potentially good candidate to study the nonlinear dynamics of ME heterostructure!</a:t>
            </a:r>
            <a:endParaRPr lang="en-US" sz="24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8022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question mark wallpaper - Liberation Escape Rooms">
            <a:extLst>
              <a:ext uri="{FF2B5EF4-FFF2-40B4-BE49-F238E27FC236}">
                <a16:creationId xmlns:a16="http://schemas.microsoft.com/office/drawing/2014/main" id="{9FC02F28-F19C-4B8C-B203-FEA1AE79E875}"/>
              </a:ext>
            </a:extLst>
          </p:cNvPr>
          <p:cNvPicPr>
            <a:picLocks noChangeAspect="1" noChangeArrowheads="1"/>
          </p:cNvPicPr>
          <p:nvPr/>
        </p:nvPicPr>
        <p:blipFill rotWithShape="1">
          <a:blip r:embed="rId3">
            <a:duotone>
              <a:schemeClr val="accent2">
                <a:shade val="45000"/>
                <a:satMod val="135000"/>
              </a:schemeClr>
              <a:prstClr val="white"/>
            </a:duotone>
            <a:extLst>
              <a:ext uri="{28A0092B-C50C-407E-A947-70E740481C1C}">
                <a14:useLocalDpi xmlns:a14="http://schemas.microsoft.com/office/drawing/2010/main" val="0"/>
              </a:ext>
            </a:extLst>
          </a:blip>
          <a:srcRect b="17176"/>
          <a:stretch/>
        </p:blipFill>
        <p:spPr bwMode="auto">
          <a:xfrm>
            <a:off x="0" y="-101600"/>
            <a:ext cx="12192000" cy="6959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E4AC505-1C62-48B9-B6C8-E1D522257213}"/>
              </a:ext>
            </a:extLst>
          </p:cNvPr>
          <p:cNvSpPr/>
          <p:nvPr/>
        </p:nvSpPr>
        <p:spPr>
          <a:xfrm>
            <a:off x="6253212" y="5826789"/>
            <a:ext cx="6096000" cy="742511"/>
          </a:xfrm>
          <a:prstGeom prst="rect">
            <a:avLst/>
          </a:prstGeom>
        </p:spPr>
        <p:txBody>
          <a:bodyPr>
            <a:spAutoFit/>
          </a:bodyPr>
          <a:lstStyle/>
          <a:p>
            <a:pPr algn="ctr">
              <a:lnSpc>
                <a:spcPct val="150000"/>
              </a:lnSpc>
            </a:pPr>
            <a:r>
              <a:rPr lang="en-US" sz="3200" dirty="0">
                <a:solidFill>
                  <a:schemeClr val="accent4"/>
                </a:solidFill>
                <a:highlight>
                  <a:srgbClr val="00FFFF"/>
                </a:highlight>
                <a:latin typeface="Times New Roman" panose="02020603050405020304" pitchFamily="18" charset="0"/>
                <a:cs typeface="Times New Roman" panose="02020603050405020304" pitchFamily="18" charset="0"/>
              </a:rPr>
              <a:t>Thanks for your attentions</a:t>
            </a:r>
            <a:endParaRPr lang="de-DE" sz="3200" dirty="0">
              <a:solidFill>
                <a:schemeClr val="accent4"/>
              </a:solidFill>
              <a:highlight>
                <a:srgbClr val="00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0854999"/>
      </p:ext>
    </p:extLst>
  </p:cSld>
  <p:clrMapOvr>
    <a:masterClrMapping/>
  </p:clrMapOvr>
</p:sld>
</file>

<file path=ppt/theme/theme1.xml><?xml version="1.0" encoding="utf-8"?>
<a:theme xmlns:a="http://schemas.openxmlformats.org/drawingml/2006/main" name="SFB 855 Folienmaster">
  <a:themeElements>
    <a:clrScheme name="SFB 855 Folien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FB 855 Folienmaster">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a:ln>
              <a:noFill/>
            </a:ln>
            <a:solidFill>
              <a:schemeClr val="tx1"/>
            </a:solidFill>
            <a:effectLst/>
            <a:latin typeface="Tahoma" pitchFamily="35"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a:ln>
              <a:noFill/>
            </a:ln>
            <a:solidFill>
              <a:schemeClr val="tx1"/>
            </a:solidFill>
            <a:effectLst/>
            <a:latin typeface="Tahoma" pitchFamily="35" charset="0"/>
          </a:defRPr>
        </a:defPPr>
      </a:lstStyle>
    </a:lnDef>
    <a:txDef>
      <a:spPr>
        <a:noFill/>
      </a:spPr>
      <a:bodyPr wrap="square" rtlCol="0">
        <a:spAutoFit/>
      </a:bodyPr>
      <a:lstStyle>
        <a:defPPr>
          <a:defRPr sz="1800" dirty="0" smtClean="0">
            <a:latin typeface="Arial" panose="020B0604020202020204" pitchFamily="34" charset="0"/>
            <a:cs typeface="Arial" panose="020B0604020202020204" pitchFamily="34" charset="0"/>
          </a:defRPr>
        </a:defPPr>
      </a:lstStyle>
    </a:txDef>
  </a:objectDefaults>
  <a:extraClrSchemeLst>
    <a:extraClrScheme>
      <a:clrScheme name="SFB 855 Folien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FB 855 Folienmaste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FB 855 Folienmaste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FB 855 Folienmaste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FB 855 Folienmaste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FB 855 Folienmaste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FB 855 Folienmaste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FB 855 Folienmaste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FB 855 Folienmaste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FB 855 Folienmaste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FB 855 Folienmaste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FB 855 Folienmaste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1484</Words>
  <Application>Microsoft Office PowerPoint</Application>
  <PresentationFormat>Widescreen</PresentationFormat>
  <Paragraphs>199</Paragraphs>
  <Slides>33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Cambria Math</vt:lpstr>
      <vt:lpstr>Courier New</vt:lpstr>
      <vt:lpstr>Tahoma</vt:lpstr>
      <vt:lpstr>Times New Roman</vt:lpstr>
      <vt:lpstr>Wingdings</vt:lpstr>
      <vt:lpstr>SFB 855 Folienmaster</vt:lpstr>
      <vt:lpstr>PowerPoint Presentation</vt:lpstr>
      <vt:lpstr>PowerPoint Presentation</vt:lpstr>
      <vt:lpstr>PowerPoint Presentation</vt:lpstr>
      <vt:lpstr>PowerPoint Presentation</vt:lpstr>
      <vt:lpstr>PowerPoint Presentation</vt:lpstr>
      <vt:lpstr>PowerPoint Presentation</vt:lpstr>
      <vt:lpstr>U ̈+2ξU ̇+αU+γU^3+μU ̇^3=F cos ⁡(Ωτ)</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Kein Folientitel</dc:title>
  <dc:creator>PS</dc:creator>
  <cp:lastModifiedBy>MdSaidul Islam</cp:lastModifiedBy>
  <cp:revision>2000</cp:revision>
  <cp:lastPrinted>2016-03-13T13:38:00Z</cp:lastPrinted>
  <dcterms:created xsi:type="dcterms:W3CDTF">2015-04-27T14:37:25Z</dcterms:created>
  <dcterms:modified xsi:type="dcterms:W3CDTF">2025-08-29T13:30:33Z</dcterms:modified>
</cp:coreProperties>
</file>